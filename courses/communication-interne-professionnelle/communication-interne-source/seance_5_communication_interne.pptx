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séance comme une suite logique : après avoir appris à rédiger un message et un rapport, les participants apprennent à gérer concrètement leur boîte mail professionnelle, leur signature et le suivi.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un rappel très court. Insister sur le fait que la séance 5 ne crée pas beaucoup de nouvelles méthodes. Elle applique les méthodes existantes dans Gmail ou Outlook.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les objectifs et expliquer que la séance sera très pratique : on va simuler une boîte mail professionnelle et organiser des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déroulé complet : préparer, rédiger, signer, envoyer, classer et suivre. Cette logique remplace l’idée de multiplier les acronymes.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Gmail et Outlook ont des noms différents, mais servent les mêmes besoins : classer, prioriser, suivre et retrouver rapidement les informations.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l’email professionnel commence avant la rédaction. Les participants doivent réfléchir à l’action attendue et au suivi.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le lien avec la séance 3. L’ordre des champs est aussi une procédure professionnelle.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les participants rédiger. Ne pas corriger trop vite : le but est de les faire réfléchir à la procédure complète.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que la signature automatique ne remplace pas la formule de clôture. Elle s’ajoute en bas selon le paramétrage Gmail ou Outlook.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les emails sortants sont aussi importants que les emails entrants, car ils prouvent ce qui a été demandé, transmis ou suivi.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demander aux participants de créer trop de catégories. Trop de catégories finit par ralentir le travail.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 demandé, éviter d’ajouter un nouvel acronyme. Présenter simplement les trois décisions : traiter, suivre ou archiver.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Travailler en groupes de deux. Les participants doivent justifier leur choix, pas seulement cocher.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corrections comme possibles, car l’organisation réelle peut imposer un autre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mot automatique : la signature doit être paramétrée une fois, puis insérée par défaut dans chaque nouveau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chaque composant. Préciser qu’une signature trop chargée peut nuire à la lisibilité.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S’il est possible de faire une démonstration en direct, ouvrir un compte de test. Ne jamais afficher des données personnelles ou professionnelles sensibles.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Préciser que l’interface Outlook peut varier selon Outlook Web, Outlook classique ou nouveau Outlook, mais la logique reste la même.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 atelier permet d’éviter les signatures trop personnelles ou non conformes.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l’heure exacte de reprise.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Recommander de ne pas dépasser un nombre raisonnable de dossiers. Les catégories doivent correspondre aux vrais besoins du poste.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comprendre que la relance est un acte professionnel. Elle doit être claire, courte et respectueuse.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 atelier consolide l’essentiel de la séance. Demander aux groupes de présenter leur logique de classement.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le lien avec l’influence éthique : l’email doit renforcer la confiance, pas créer des tensions.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simplement : PDCA n’est pas une méthode de rédaction, c’est une boucle d’amélioration. Elle permet de corriger ses habitudes après observation.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Utiliser cette slide comme résumé opérationnel. Demander aux participants de choisir une habitude à appliquer dès demain.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Donner 3 minutes aux participants. Faire partager deux ou trois engagements volontaires.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Clôturer avec une question pratique. Remercier le groupe et annoncer que la prochaine séance sera surtout une mise en situation.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12700">
            <a:solidFill>
              <a:srgbClr val="D7E6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interne professionnelle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0" y="64008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C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Formation interne – centre de contact et services digitaux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85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Séance 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37381"/>
                </a:solidFill>
              </a:rPr>
              <a:t>Communication interne professionnelle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324D"/>
                </a:solidFill>
              </a:rPr>
              <a:t>Organiser, suivre et coopérer dans la communication interne numérique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09067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E4C59"/>
                </a:solidFill>
              </a:rPr>
              <a:t>Rédiger, classer, prioriser, signer automatiquement et suivre les emails professionnels avec Gmail ou Outlook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388620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041648"/>
            <a:ext cx="2103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30 % explication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46120" y="388620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4041648"/>
            <a:ext cx="2103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70 % pratique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5257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381"/>
                </a:solidFill>
              </a:rPr>
              <a:t>Youssef Joul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37381"/>
                </a:solidFill>
              </a:rPr>
              <a:t>Formateur en Entreprise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 de départ : ce qui est déjà acquis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On ne répète pas les séances précédentes : on les utilise.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Rappel actif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920240"/>
            <a:ext cx="5065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Ce que nous savons déjà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" y="2331720"/>
            <a:ext cx="5065776" cy="2770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IDEA pour clarifier l’intention du message.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RACI pour choisir les bons rôles.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FIAB pour structurer les faits, l’impact, l’action faite et le besoin.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PLACE pour rendre le message lisible.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VISA pour vérifier avant l’envoi.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PDCA pour améliorer les pratiques.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074920" cy="3429000"/>
          </a:xfrm>
          <a:prstGeom prst="roundRect">
            <a:avLst>
              <a:gd name="adj" fmla="val 2133"/>
            </a:avLst>
          </a:prstGeom>
          <a:solidFill>
            <a:srgbClr val="F2F6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920240"/>
            <a:ext cx="47457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Ce que nous travaillons aujourd’hui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19672" y="2331720"/>
            <a:ext cx="4745736" cy="2770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Utiliser Gmail ou Outlook de manière professionnelle : rédiger, signer automatiquement, classer, prioriser, suivre, archiver et coopérer efficacement.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pratiques de la séance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À la fin, chaque participant doit savoir organiser sa communication numérique.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Objectifs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10241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3E4C59"/>
                </a:solidFill>
              </a:rPr>
              <a:t>Rédiger un email professionnel dans Gmail ou Outlook selon une procédure claire.</a:t>
            </a:r>
            <a:endParaRPr lang="en-US" sz="2100" dirty="0"/>
          </a:p>
          <a:p>
            <a:r>
              <a:rPr lang="en-US" sz="2100" dirty="0">
                <a:solidFill>
                  <a:srgbClr val="3E4C59"/>
                </a:solidFill>
              </a:rPr>
              <a:t>Configurer une signature électronique automatique adaptée à l’entreprise.</a:t>
            </a:r>
            <a:endParaRPr lang="en-US" sz="2100" dirty="0"/>
          </a:p>
          <a:p>
            <a:r>
              <a:rPr lang="en-US" sz="2100" dirty="0">
                <a:solidFill>
                  <a:srgbClr val="3E4C59"/>
                </a:solidFill>
              </a:rPr>
              <a:t>Catégoriser les emails entrants et sortants pour garder une trace utile.</a:t>
            </a:r>
            <a:endParaRPr lang="en-US" sz="2100" dirty="0"/>
          </a:p>
          <a:p>
            <a:r>
              <a:rPr lang="en-US" sz="2100" dirty="0">
                <a:solidFill>
                  <a:srgbClr val="3E4C59"/>
                </a:solidFill>
              </a:rPr>
              <a:t>Prioriser les emails : traiter, suivre, archiver ou relancer.</a:t>
            </a:r>
            <a:endParaRPr lang="en-US" sz="2100" dirty="0"/>
          </a:p>
          <a:p>
            <a:r>
              <a:rPr lang="en-US" sz="2100" dirty="0">
                <a:solidFill>
                  <a:srgbClr val="3E4C59"/>
                </a:solidFill>
              </a:rPr>
              <a:t>Organiser les dossiers, libellés, catégories et messages en attente.</a:t>
            </a:r>
            <a:endParaRPr lang="en-US" sz="2100" dirty="0"/>
          </a:p>
          <a:p>
            <a:r>
              <a:rPr lang="en-US" sz="2100" dirty="0">
                <a:solidFill>
                  <a:srgbClr val="3E4C59"/>
                </a:solidFill>
              </a:rPr>
              <a:t>Coopérer avec les collègues sans multiplier les copies inutiles.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 conducteur de la séance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Un email professionnel ne se termine pas au bouton “Envoyer”.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Logique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Préparer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50392" y="3127248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E4C59"/>
                </a:solidFill>
              </a:rPr>
              <a:t>Pourquoi j’écris ? À qui ? Quelle action attendue 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53512" y="187452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90672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Rédiger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118104" y="3127248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E4C59"/>
                </a:solidFill>
              </a:rPr>
              <a:t>Objet clair, message court, ton professionnel, pièces jointes.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221224" y="187452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07024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58384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Signer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85816" y="3127248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E4C59"/>
                </a:solidFill>
              </a:rPr>
              <a:t>Signature automatique : identité, poste, entreprise, logo.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488936" y="187452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4736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26096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Envoyer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653528" y="3127248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E4C59"/>
                </a:solidFill>
              </a:rPr>
              <a:t>Vérifier destinataires, CC, PJ, confidentialité et urgence.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756648" y="187452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42448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893808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Classer et suivre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921240" y="3127248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E4C59"/>
                </a:solidFill>
              </a:rPr>
              <a:t>Catégorie, dossier, libellé, suivi ou archive.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05840" y="4983480"/>
            <a:ext cx="10058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</a:rPr>
              <a:t>Message clé : la qualité d’un email dépend autant de son contenu que de son classement et de son suivi.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Gmail et Outlook : même objectif professionnel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Les outils changent, mais les règles de communication restent les mêmes.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Outils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1018520" cy="4343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2331720"/>
                <a:gridCol w="4663440"/>
              </a:tblGrid>
              <a:tr h="723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Élément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Gmail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Outlook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Règle professionnelle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Classement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Libellés / labels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Dossiers + catégories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Classer selon le dossier, le service ou l’action attendue.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Priorité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Étoile, suivi, important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Drapeau, priorité, rappel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 pas tout marquer urgent.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Signature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Signature automatique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Signature automatique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Identité claire et conforme à l’entreprise.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Recherche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Recherche par mots, libellés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Recherche, filtres, dossiers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Nommer les objets et fichiers correctement.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Suivi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Messages en attente, relances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Indicateurs, tâches, rappels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 pas laisser une demande sans trace.</a:t>
                      </a:r>
                      <a:endParaRPr lang="en-US" sz="13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Avant de rédiger : 5 contrôles simples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On prépare l’email avant d’ouvrir le champ de rédaction.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Préparation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83080"/>
            <a:ext cx="31912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1. Intention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" y="2194560"/>
            <a:ext cx="319125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Est-ce une information, une demande, une alerte ou une escalade ?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783080"/>
            <a:ext cx="31912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2. Destinataire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99432" y="2194560"/>
            <a:ext cx="319125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Qui doit agir ? Qui doit seulement être informé 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183880" y="164592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1783080"/>
            <a:ext cx="30083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3. Contenu utile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48472" y="2194560"/>
            <a:ext cx="300837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Quels faits, quel impact, quelle action déjà faite, quel besoin ?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874520" y="3246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9112" y="3383280"/>
            <a:ext cx="35570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4. Confidentialité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39112" y="3794760"/>
            <a:ext cx="355701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Ai-je le droit de joindre cette information ou cette capture ?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492240" y="3246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3383280"/>
            <a:ext cx="35570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5. Suivi après envoi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56832" y="3794760"/>
            <a:ext cx="355701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Dois-je classer, marquer en attente ou prévoir une relance ?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51560" y="4983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</a:rPr>
              <a:t>Ces contrôles évitent les emails vagues, les copies inutiles et les pertes d’information.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Procédure professionnelle pour rédiger un email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Applicable dans Gmail et Outlook.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Rédaction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627632"/>
            <a:ext cx="1051560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3E4C59"/>
                </a:solidFill>
              </a:rPr>
              <a:t>Cliquer sur Nouveau message / Composer.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Renseigner À avec le destinataire principal qui doit agir ou répondre.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Ajouter CC seulement si la personne doit suivre l’information.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Rédiger un objet précis : sujet + action attendue + référence si possible.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Écrire le corps du message en paragraphes courts.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Annoncer et vérifier les pièces jointes.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Laisser la signature automatique en bas du message.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Relire avec VISA avant l’envoi.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1 : rédiger un email dans Gmail ou Outlook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Transformer une situation en email prêt à envoyer.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Atelier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10698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28800"/>
            <a:ext cx="103692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Situation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2240280"/>
            <a:ext cx="1036929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Un client rappelle pour la 3e fois concernant une demande déjà transmise. Dans l’outil, le statut n’est pas clair. Il faut demander une confirmation interne avant de répondre au client.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77240" y="306324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3200400"/>
            <a:ext cx="49743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Travail demandé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1832" y="3611880"/>
            <a:ext cx="4974336" cy="1490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1. Choisir À et CC.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2. Rédiger l’objet.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3. Rédiger le corps du message en 5 à 7 lignes.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4. Annoncer la pièce jointe si nécessaire.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5. Vérifier que la signature automatique sera ajoutée.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355080" y="306324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320040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Durée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19672" y="3611880"/>
            <a:ext cx="4791456" cy="1490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8 minutes en individuel.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Puis correction collective.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Objectif : message clair, court, utile et orienté action.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Correction possible : email prêt à envoyer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Exemple de formulation professionnelle.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Correction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107442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737360"/>
            <a:ext cx="10241280" cy="3977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90" dirty="0">
                <a:solidFill>
                  <a:srgbClr val="3E4C59"/>
                </a:solidFill>
              </a:rPr>
              <a:t>À : Superviseur direct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3E4C59"/>
                </a:solidFill>
              </a:rPr>
              <a:t>CC : Back-office ou qualité selon procédure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3E4C59"/>
                </a:solidFill>
              </a:rPr>
              <a:t>Objet : [Action requise] Confirmation statut demande client – dossier [référence]</a:t>
            </a:r>
            <a:endParaRPr lang="en-US" sz="1490" dirty="0"/>
          </a:p>
          <a:p>
            <a:pPr indent="0" marL="0">
              <a:buNone/>
            </a:pP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3E4C59"/>
                </a:solidFill>
              </a:rPr>
              <a:t>Bonjour,</a:t>
            </a:r>
            <a:endParaRPr lang="en-US" sz="1490" dirty="0"/>
          </a:p>
          <a:p>
            <a:pPr indent="0" marL="0">
              <a:buNone/>
            </a:pP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3E4C59"/>
                </a:solidFill>
              </a:rPr>
              <a:t>Le client [référence] a rappelé aujourd’hui pour la 3e fois concernant la demande [objet]. Dans l’outil, je vois une trace de transmission, mais aucun statut clair de traitement.</a:t>
            </a:r>
            <a:endParaRPr lang="en-US" sz="1490" dirty="0"/>
          </a:p>
          <a:p>
            <a:pPr indent="0" marL="0">
              <a:buNone/>
            </a:pP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3E4C59"/>
                </a:solidFill>
              </a:rPr>
              <a:t>Impact : le client reste sans réponse confirmée et le dossier risque de générer une réclamation.</a:t>
            </a:r>
            <a:endParaRPr lang="en-US" sz="1490" dirty="0"/>
          </a:p>
          <a:p>
            <a:pPr indent="0" marL="0">
              <a:buNone/>
            </a:pP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3E4C59"/>
                </a:solidFill>
              </a:rPr>
              <a:t>Action déjà faite : vérification de l’historique et des notes disponibles.</a:t>
            </a:r>
            <a:endParaRPr lang="en-US" sz="1490" dirty="0"/>
          </a:p>
          <a:p>
            <a:pPr indent="0" marL="0">
              <a:buNone/>
            </a:pP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3E4C59"/>
                </a:solidFill>
              </a:rPr>
              <a:t>Besoin : merci de confirmer le statut réel du dossier et la réponse à communiquer au client.</a:t>
            </a:r>
            <a:endParaRPr lang="en-US" sz="1490" dirty="0"/>
          </a:p>
          <a:p>
            <a:pPr indent="0" marL="0">
              <a:buNone/>
            </a:pP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3E4C59"/>
                </a:solidFill>
              </a:rPr>
              <a:t>Bien cordialement,</a:t>
            </a:r>
            <a:endParaRPr lang="en-US" sz="1490" dirty="0"/>
          </a:p>
        </p:txBody>
      </p:sp>
      <p:sp>
        <p:nvSpPr>
          <p:cNvPr id="8" name="Text 6"/>
          <p:cNvSpPr/>
          <p:nvPr/>
        </p:nvSpPr>
        <p:spPr>
          <a:xfrm>
            <a:off x="8001000" y="5806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La signature automatique s’ajoute ici.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Correspondances entrantes et sortantes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Un email reçu ou envoyé doit pouvoir être retrouvé et suivi.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Organisation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7632"/>
          <a:ext cx="10835640" cy="4206240"/>
        </p:xfrm>
        <a:graphic>
          <a:graphicData uri="http://schemas.openxmlformats.org/drawingml/2006/table">
            <a:tbl>
              <a:tblPr/>
              <a:tblGrid>
                <a:gridCol w="2286000"/>
                <a:gridCol w="3749040"/>
                <a:gridCol w="4800600"/>
              </a:tblGrid>
              <a:tr h="701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Exemples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 faire ?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Entrant à traiter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Demande du superviseur, consigne, retour qualité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Lire, répondre ou agir, puis classer.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Entrant à suivre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Demande en attente de validation ou retour support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Marquer en suivi / en attente avec date de relance.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Sortant à suivre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Email envoyé avec action attendue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Conserver dans “Envoyés” + catégorie ou dossier de suivi.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Sortant informatif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Transmission simple sans action attendue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Archiver ou classer dans le dossier concerné.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Information sensible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Donnée client, capture, rapport interne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Limiter les destinataires et appliquer les règles de confidentialité.</a:t>
                      </a:r>
                      <a:endParaRPr lang="en-US" sz="14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Catégoriser les emails : Gmail ou Outlook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Le classement doit aider le travail, pas créer une charge administrative.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Catégoriser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200400" cy="3749040"/>
          </a:xfrm>
          <a:prstGeom prst="roundRect">
            <a:avLst>
              <a:gd name="adj" fmla="val 2286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828800"/>
            <a:ext cx="28712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Exemples de catégories utiles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240280"/>
            <a:ext cx="2871216" cy="3090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À traiter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En attente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Suivi dossier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Qualité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IT / outil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RH / planning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Escalade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Archive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6552" y="1828800"/>
            <a:ext cx="29626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Dans Gmail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16552" y="2240280"/>
            <a:ext cx="2962656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Utiliser les libellés pour classer un même email dans un ou plusieurs thèmes.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Exemple : “Suivi dossier” + “Qualité”.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863840" y="169164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8432" y="1828800"/>
            <a:ext cx="29626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Dans Outlook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28432" y="2240280"/>
            <a:ext cx="2962656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Utiliser les dossiers, catégories de couleur, indicateurs de suivi et règles de classement.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251960" y="3886200"/>
            <a:ext cx="6903720" cy="1554480"/>
          </a:xfrm>
          <a:prstGeom prst="roundRect">
            <a:avLst>
              <a:gd name="adj" fmla="val 4706"/>
            </a:avLst>
          </a:prstGeom>
          <a:solidFill>
            <a:srgbClr val="F2F6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4023360"/>
            <a:ext cx="65745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Règle simple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16552" y="4434840"/>
            <a:ext cx="6574536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Le bon classement doit permettre de retrouver l’information en moins d’une minute.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Prioriser sans dramatiser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Tout n’est pas urgent. Tout ne doit pas rester dans la boîte de réception.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Prioriser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7E6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74520"/>
            <a:ext cx="30998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À traiter maintenant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2286000"/>
            <a:ext cx="3099816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Action nécessaire rapidement : répondre, corriger, transmettre, appeler ou demander validation.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874520"/>
            <a:ext cx="30998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À suivre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53712" y="2286000"/>
            <a:ext cx="3099816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Réponse attendue d’une autre personne. Marquer, dater et prévoir une relance.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01000" y="17373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AF7E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5592" y="1874520"/>
            <a:ext cx="30998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À archiver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65592" y="2286000"/>
            <a:ext cx="3099816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Information utile mais sans action immédiate. Classer dans le dossier ou libellé concerné.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51560" y="4251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Question réflexe : “Après lecture, quelle action doit se passer ?”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4800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E4C59"/>
                </a:solidFill>
              </a:rPr>
              <a:t>S’il n’y a aucune action, l’email ne doit pas encombrer la boîte de réception.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2 : catégoriser et prioriser une mini-boîte mail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Décider quoi faire avec chaque email.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Atelier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0200"/>
          <a:ext cx="10835640" cy="4251960"/>
        </p:xfrm>
        <a:graphic>
          <a:graphicData uri="http://schemas.openxmlformats.org/drawingml/2006/table">
            <a:tbl>
              <a:tblPr/>
              <a:tblGrid>
                <a:gridCol w="7040880"/>
                <a:gridCol w="3794760"/>
              </a:tblGrid>
              <a:tr h="6074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Email reçu / envoyé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Décision attendue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 message IT confirme que l’outil est rétabli.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 superviseur demande une confirmation avant 16h.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Vous avez envoyé une demande au back-office, sans retour.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 rapport qualité hebdomadaire est transmis pour lecture.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 client a signalé un problème répétitif à remonter.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3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Une note RH annonce un changement de planning.</a:t>
                      </a: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5925312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4E79"/>
                </a:solidFill>
              </a:rPr>
              <a:t>Consigne : pour chaque ligne, choisir : traiter, suivre, archiver, classer ou escalader.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Correction possible : mini-boîte mail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Il peut exister plusieurs réponses selon la procédure interne.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Correction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434840"/>
        </p:xfrm>
        <a:graphic>
          <a:graphicData uri="http://schemas.openxmlformats.org/drawingml/2006/table">
            <a:tbl>
              <a:tblPr/>
              <a:tblGrid>
                <a:gridCol w="3840480"/>
                <a:gridCol w="3749040"/>
                <a:gridCol w="3474720"/>
              </a:tblGrid>
              <a:tr h="6335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Email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Décision possible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Classement possible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Outil rétabli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Informer l’équipe impactée si nécessaire, puis archiver.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 / Outil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Confirmation avant 16h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Traiter en priorité et répondre dans le délai.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À traiter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Demande envoyée sans retour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Marquer en suivi et relancer si le délai est dépassé.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 attente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Rapport qualité hebdomadaire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Lire les points utiles, conserver pour référence.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Qualité / Archive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Problème répétitif client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Alerter ou demander analyse selon l’impact.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Suivi dossier / Qualité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Changement de planning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Lire, confirmer si demandé, classer.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RH / Planning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signature électronique automatique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Elle doit s’ajouter automatiquement à chaque email professionnel.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Signature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3703320" cy="3611880"/>
          </a:xfrm>
          <a:prstGeom prst="roundRect">
            <a:avLst>
              <a:gd name="adj" fmla="val 2025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28800"/>
            <a:ext cx="33741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Pourquoi automatique 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2240280"/>
            <a:ext cx="3374136" cy="2953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Éviter l’oubli.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Assurer une image homogène.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Identifier rapidement l’expéditeur.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Gagner du temps.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Respecter la charte de l’entreprise.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36576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828800"/>
            <a:ext cx="33284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Contenu recommandé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19472" y="2240280"/>
            <a:ext cx="3328416" cy="2953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Nom complet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Intitulé du poste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Service / équipe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Nom de l’entreprise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Téléphone professionnel si autorisé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Logo de l’entreprise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Photo professionnelle si autorisée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Mention de confidentialité si prévue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686800" y="1691640"/>
            <a:ext cx="2560320" cy="3611880"/>
          </a:xfrm>
          <a:prstGeom prst="roundRect">
            <a:avLst>
              <a:gd name="adj" fmla="val 2857"/>
            </a:avLst>
          </a:prstGeom>
          <a:solidFill>
            <a:srgbClr val="FFF7E6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1392" y="1828800"/>
            <a:ext cx="22311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Attention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51392" y="2240280"/>
            <a:ext cx="2231136" cy="2953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La photo, le logo, les coordonnées et la mention de confidentialité doivent respecter les règles de l’entreprise. On ne crée pas une signature personnelle hors charte.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Modèle de signature professionnelle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Exemple simple à adapter selon la charte de l’entreprise.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Signature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43000" y="1508760"/>
            <a:ext cx="9921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965960"/>
            <a:ext cx="1097280" cy="1097280"/>
          </a:xfrm>
          <a:prstGeom prst="ellipse">
            <a:avLst/>
          </a:prstGeom>
          <a:solidFill>
            <a:srgbClr val="D7E6F5"/>
          </a:solidFill>
          <a:ln w="12700">
            <a:solidFill>
              <a:srgbClr val="D7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2768" y="2304288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381"/>
                </a:solidFill>
              </a:rPr>
              <a:t>Photo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7381"/>
                </a:solidFill>
              </a:rPr>
              <a:t>si autorisée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8036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4D"/>
                </a:solidFill>
              </a:rPr>
              <a:t>Prénom NOM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880360" y="2267712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Téléconseiller / Conseiller clientèle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Service client – [Nom de l’entreprise]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Tél. : [numéro professionnel]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Email : [adresse professionnelle]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366760" y="1965960"/>
            <a:ext cx="1554480" cy="685800"/>
          </a:xfrm>
          <a:prstGeom prst="roundRect">
            <a:avLst>
              <a:gd name="adj" fmla="val 5333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21488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LOGO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Entreprise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80360" y="3675888"/>
            <a:ext cx="70408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637381"/>
                </a:solidFill>
              </a:rPr>
              <a:t>Ce message et ses pièces jointes peuvent contenir des informations confidentielles. Merci de ne pas les diffuser sans autorisation.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3000" y="6108192"/>
            <a:ext cx="9921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La signature doit être sobre, lisible et conforme à la charte de l’organisation.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Créer une signature automatique dans Gmail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Procédure pédagogique simplifiée.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Gmail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3E4C59"/>
                </a:solidFill>
              </a:rPr>
              <a:t>Ouvrir Gmail depuis un navigateur.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Cliquer sur Paramètres puis Voir tous les paramètres.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Dans Général, chercher la zone Signature.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Créer une nouvelle signature : nom complet, poste, service, entreprise.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Ajouter le logo ou la photo seulement si la charte l’autorise.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Choisir la signature par défaut pour les nouveaux emails et les réponses.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Enregistrer les modifications en bas de page.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Tester avec un nouveau message avant utilisation réelle.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Créer une signature automatique dans Outlook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Procédure pédagogique simplifiée.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Outlook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000" dirty="0">
                <a:solidFill>
                  <a:srgbClr val="3E4C59"/>
                </a:solidFill>
              </a:rPr>
              <a:t>Ouvrir Outlook.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Aller dans Paramètres ou Fichier / Options selon la version.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Chercher Courrier puis Signatures.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Créer une nouvelle signature professionnelle.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Ajouter nom complet, poste, service, entreprise et logo si autorisé.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Définir la signature par défaut pour les nouveaux messages.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Définir aussi la signature pour les réponses et transferts si l’entreprise le demande.</a:t>
            </a:r>
            <a:endParaRPr lang="en-US" sz="2000" dirty="0"/>
          </a:p>
          <a:p>
            <a:r>
              <a:rPr lang="en-US" sz="2000" dirty="0">
                <a:solidFill>
                  <a:srgbClr val="3E4C59"/>
                </a:solidFill>
              </a:rPr>
              <a:t>Tester l’affichage avant usage réel.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3 : préparer une signature conforme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Construire une signature professionnelle sans excès.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Atelier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3736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Consigne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2148840"/>
            <a:ext cx="4791456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Chaque participant prépare une signature type sur papier ou dans un brouillon.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Il doit préciser les éléments autorisés et ceux à vérifier avec l’entreprise.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737360"/>
            <a:ext cx="48371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À intégrer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36792" y="2148840"/>
            <a:ext cx="4837176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Nom complet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Poste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Service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Entreprise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Téléphone si autorisé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Logo / photo si autorisé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Mention de confidentialité si prévue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77240" y="3749040"/>
            <a:ext cx="1056132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886200"/>
            <a:ext cx="102321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Correction collective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1832" y="4297680"/>
            <a:ext cx="1023213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Vérifier : lisibilité, sobriété, cohérence avec l’image de l’entreprise, absence d’informations personnelles inutiles.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Pause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15 minutes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Pause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À la reprise : organiser les dossiers, suivre les messages en attente et coopérer efficacement.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370332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E4C59"/>
                </a:solidFill>
              </a:rPr>
              <a:t>Revenez avec un exemple d’email que vous auriez besoin de classer ou suivre.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Organiser les dossiers et libellés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Un bon classement doit rester simple.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Classement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18520" cy="461772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069080"/>
              </a:tblGrid>
              <a:tr h="5772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Dossier / libellé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Utilisation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Exemple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À traiter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Messages nécessitant une action rapide.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Validation avant 16h.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 attente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Réponse ou retour attendu.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Demande envoyée au back-office.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Suivi dossiers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Historique lié à un dossier.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Dossier client [référence].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Qualité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Retours, erreurs, analyses, améliorations.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Erreur répétitive sur procédure.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 / outils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Incidents techniques et confirmations de résolution.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Outil X indisponible.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RH / Planning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Horaires, absences, présence, organisation.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Changement de shift.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Archive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Informations conservées sans action immédiate.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Note générale lue.</a:t>
                      </a:r>
                      <a:endParaRPr lang="en-US" sz="12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Suivre les messages en attente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Le suivi évite les oublis et les relances agressives.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Suivi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64592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83080"/>
            <a:ext cx="47457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Quand marquer en attente 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2194560"/>
            <a:ext cx="474573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Quand une réponse, validation, correction ou décision est attendue d’une autre personne.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783080"/>
            <a:ext cx="47457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Que noter 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36792" y="2194560"/>
            <a:ext cx="474573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Date d’envoi, destinataire, objet, action attendue, délai souhaité, prochaine relance.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77240" y="315468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291840"/>
            <a:ext cx="47457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Relance professionnelle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1832" y="3703320"/>
            <a:ext cx="4745736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Rappeler le contexte.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Rester factuel.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Éviter le reproche.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Redire l’action attendue.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Indiquer le délai si nécessaire.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172200" y="315468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2F6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3291840"/>
            <a:ext cx="47457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Exemple de relance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36792" y="3703320"/>
            <a:ext cx="4745736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Bonjour,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Je reviens vers vous concernant la demande envoyée le [date] au sujet du dossier [référence].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Merci de me confirmer le statut afin de finaliser le suivi.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4 : organiser un flux d’emails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Passer d’une boîte désordonnée à une boîte exploitable.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Atelier final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45920"/>
            <a:ext cx="102778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Situation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2057400"/>
            <a:ext cx="1027785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Vous avez 10 emails : 3 demandes à traiter, 2 réponses attendues, 2 informations qualité, 1 incident IT, 1 note RH, 1 ancien email informatif.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5257800" cy="2560320"/>
          </a:xfrm>
          <a:prstGeom prst="roundRect">
            <a:avLst>
              <a:gd name="adj" fmla="val 2857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880360"/>
            <a:ext cx="49286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Travail demandé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1832" y="3291840"/>
            <a:ext cx="4928616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1. Décider quels emails restent dans la boîte de réception.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2. Créer les dossiers ou catégories nécessaires.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3. Marquer les emails à suivre.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4. Archiver ce qui n’a pas d’action.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5. Préparer une relance professionnelle pour un email en attente.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263640" y="2743200"/>
            <a:ext cx="5120640" cy="256032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88036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Correction attendue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28232" y="3291840"/>
            <a:ext cx="4791456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La boîte de réception ne doit garder que les actions en cours.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Les informations utiles sont classées.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Les réponses attendues sont suivies.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Les emails anciens sont archivés ou supprimés selon la politique interne.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Coopération interne par email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Bien utiliser l’email pour faciliter le travail d’équipe.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Coopération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645920"/>
            <a:ext cx="10287000" cy="4343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3E4C59"/>
                </a:solidFill>
              </a:rPr>
              <a:t>Ne pas utiliser CC pour mettre la pression ou se protéger inutilement.</a:t>
            </a:r>
            <a:endParaRPr lang="en-US" sz="2100" dirty="0"/>
          </a:p>
          <a:p>
            <a:r>
              <a:rPr lang="en-US" sz="2100" dirty="0">
                <a:solidFill>
                  <a:srgbClr val="3E4C59"/>
                </a:solidFill>
              </a:rPr>
              <a:t>Ne pas répondre à tous si l’information ne concerne pas tout le monde.</a:t>
            </a:r>
            <a:endParaRPr lang="en-US" sz="2100" dirty="0"/>
          </a:p>
          <a:p>
            <a:r>
              <a:rPr lang="en-US" sz="2100" dirty="0">
                <a:solidFill>
                  <a:srgbClr val="3E4C59"/>
                </a:solidFill>
              </a:rPr>
              <a:t>Ajouter du contexte avant de transférer un email.</a:t>
            </a:r>
            <a:endParaRPr lang="en-US" sz="2100" dirty="0"/>
          </a:p>
          <a:p>
            <a:r>
              <a:rPr lang="en-US" sz="2100" dirty="0">
                <a:solidFill>
                  <a:srgbClr val="3E4C59"/>
                </a:solidFill>
              </a:rPr>
              <a:t>Remercier pour une action réalisée ou une clarification utile.</a:t>
            </a:r>
            <a:endParaRPr lang="en-US" sz="2100" dirty="0"/>
          </a:p>
          <a:p>
            <a:r>
              <a:rPr lang="en-US" sz="2100" dirty="0">
                <a:solidFill>
                  <a:srgbClr val="3E4C59"/>
                </a:solidFill>
              </a:rPr>
              <a:t>Relancer avec respect : rappeler les faits, pas les reproches.</a:t>
            </a:r>
            <a:endParaRPr lang="en-US" sz="2100" dirty="0"/>
          </a:p>
          <a:p>
            <a:r>
              <a:rPr lang="en-US" sz="2100" dirty="0">
                <a:solidFill>
                  <a:srgbClr val="3E4C59"/>
                </a:solidFill>
              </a:rPr>
              <a:t>Demander une validation claire quand la décision ne relève pas de soi.</a:t>
            </a:r>
            <a:endParaRPr lang="en-US" sz="2100" dirty="0"/>
          </a:p>
          <a:p>
            <a:r>
              <a:rPr lang="en-US" sz="2100" dirty="0">
                <a:solidFill>
                  <a:srgbClr val="3E4C59"/>
                </a:solidFill>
              </a:rPr>
              <a:t>Limiter les informations sensibles aux personnes autorisées.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PDCA appliqué à la gestion des emails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Améliorer progressivement sa communication numérique.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PDCA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69164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828800"/>
            <a:ext cx="46542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Planifier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33272" y="2240280"/>
            <a:ext cx="4654296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Définir une règle simple : catégories, signature automatique, suivi des messages en attente.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828800"/>
            <a:ext cx="46542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Déployer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19672" y="2240280"/>
            <a:ext cx="4654296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Appliquer la règle dans Gmail ou Outlook pendant la semaine.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68680" y="370332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840480"/>
            <a:ext cx="46542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Contrôler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33272" y="4251960"/>
            <a:ext cx="4654296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Vérifier : ai-je retrouvé les informations ? ai-je oublié des suivis ?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355080" y="370332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3840480"/>
            <a:ext cx="46542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Améliorer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19672" y="4251960"/>
            <a:ext cx="4654296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Ajuster les dossiers, réduire les copies inutiles, améliorer les objets et les relances.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68680" y="55321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F4E79"/>
                </a:solidFill>
              </a:rPr>
              <a:t>Relation avec les méthodes précédentes : IDEA/RACI/FIAB aident le contenu ; PLACE/VISA sécurisent la forme ; PDCA améliore la pratique dans le temps.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Grille finale avant et après l’envoi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Un email professionnel doit être préparé, envoyé, classé et suivi.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Synthèse</a:t>
            </a:r>
            <a:endParaRPr lang="en-US" sz="10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1691640"/>
          <a:ext cx="10241280" cy="3429000"/>
        </p:xfrm>
        <a:graphic>
          <a:graphicData uri="http://schemas.openxmlformats.org/drawingml/2006/table">
            <a:tbl>
              <a:tblPr/>
              <a:tblGrid>
                <a:gridCol w="2743200"/>
                <a:gridCol w="749808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Moment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 de contrôle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 rédaction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Pourquoi j’écris ? Qui doit agir ? Quelle information est utile ?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 envoi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Objet clair ? Destinataires justes ? PJ vérifiée ? Signature automatique ?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Après envoi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Dois-je classer, marquer en attente, relancer ou archiver ?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 de journée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 boîte contient-elle seulement les actions en cours ?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 de semaine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3E4C59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Qu’est-ce que je dois améliorer dans mes emails ou mon classement ?</a:t>
                      </a:r>
                      <a:endParaRPr lang="en-US" sz="15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05840" y="55321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</a:rPr>
              <a:t>À retenir : un email bien géré devient une preuve, un outil de coordination et un moyen de gagner du temps.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Mini-plan d’action personnel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Chaque participant choisit une amélioration immédiate.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Action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83080"/>
            <a:ext cx="49743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Je vais améliorer…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2194560"/>
            <a:ext cx="4974336" cy="2816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☐ mes objets d’emails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☐ mes destinataires À / CC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☐ ma signature automatique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☐ mon classement des emails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☐ le suivi des messages en attente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☐ mes relances professionnelles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49377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783080"/>
            <a:ext cx="46085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Mon engagement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65392" y="2194560"/>
            <a:ext cx="4608576" cy="2816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À partir de cette semaine, je vais :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__________________________________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__________________________________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Un exemple concret d’application :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__________________________________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Transition vers la séance 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7381"/>
                </a:solidFill>
              </a:rPr>
              <a:t>Passer de l’organisation des emails à l’évaluation pratique finale.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7884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Clôture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EAF3FC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82880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Ce que nous avons pratiqué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2240280"/>
            <a:ext cx="4791456" cy="1627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Rédaction dans Gmail/Outlook, signature automatique, classement, priorisation, suivi, relance, coopération et PDCA.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E5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828800"/>
            <a:ext cx="479145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Prochaine étape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28232" y="2240280"/>
            <a:ext cx="4791456" cy="1627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E4C59"/>
                </a:solidFill>
              </a:rPr>
              <a:t>Ateliers pratiques, mises en situation, contrôle final technique et plan d’action individuel.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60120" y="47548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Question de clôture : quelle règle vais-je appliquer dès mon prochain email professionnel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F7C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Formation interne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5 - Organiser, suivre et coopérer dans la communication interne numérique</dc:title>
  <dc:subject>Séance 5 - Communication interne professionnelle</dc:subject>
  <dc:creator>Youssef Joul</dc:creator>
  <cp:lastModifiedBy>Youssef Joul</cp:lastModifiedBy>
  <cp:revision>1</cp:revision>
  <dcterms:created xsi:type="dcterms:W3CDTF">2026-06-06T19:24:21Z</dcterms:created>
  <dcterms:modified xsi:type="dcterms:W3CDTF">2026-06-06T19:24:21Z</dcterms:modified>
</cp:coreProperties>
</file>