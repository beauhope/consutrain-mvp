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270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 des participants. Expliquer que cette séance ne répète pas la séance 1 : elle transforme les bases en réflexes pratiques pour les messages internes, les demandes, les alertes et les escalades.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fait que les bases ont déjà été posées. Aujourd’hui, on cherche des automatismes professionnels : savoir écrire, décider, alerter et clarifier les responsabilités.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les objectifs rapidement. Demander aux participants de penser à une situation récente où un message interne n’a pas été assez clair.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l’ordre sert surtout à mémoriser. Dans la pratique, on choisit selon la situation. IDEA complète C.L.A.I.R. : IDEA clarifie l’intention, C.L.A.I.R. structure le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Utiliser cette slide comme échauffement. Faire répondre oralement rapidement : information, demande, alerte ou escalade.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travailler en binômes. Ne pas chercher une réponse parfaite : l’important est de justifier le choix. Un message peut parfois combiner deux intentions, mais il faut choisir l’intention principale.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Corriger avec le groupe. Si les participants hésitent entre alerte et escalade, expliquer que l’alerte signale un risque ; l’escalade demande un niveau supérieur d’arbitrage.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la communication externe protège la relation client, tandis que la communication interne aide l’organisation à traiter la cause ou à décider.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les participants rédiger. Demander deux volontaires. Valoriser les messages avec des faits précis et une action claire.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le message n’est pas long, mais il contient les éléments nécessaires. Souligner les éléments : objet, faits, impact, action faite, besoin attendu.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l’heure exacte de reprise. Demander aux participants de revenir avec un exemple où un message a été envoyé à trop de personnes ou à la mauvaise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lien avec les erreurs fréquentes de la séance 1, sans les répéter. Ici, on introduit RACI comme outil concret de clarification.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qu’il peut y avoir plusieurs C et I, mais il faut éviter d’avoir plusieurs A pour la même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Préciser que la réponse exacte dépend de l’organisation réelle, mais le raisonnement reste le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imposer une seule réponse. Demander aux participants de justifier selon l’organigramme et les procédures internes.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comme correction possible, pas comme vérité universelle. L’objectif est de former le raisonnement.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6 minutes. Les participants doivent réécrire l’email avec IDEA + RACI en tête.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comment le même message devient professionnel, traçable et orienté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Utiliser cette simulation comme activité rapide. Le but est d’automatiser IDEA + RACI.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répéter la logique : IDEA, destinataire, RACI, faits/impact, action attendue.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donne une conclusion pratique. Les participants choisissent un comportement améliorable dès cette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Clôturer en demandant une réponse rapide à 2 ou 3 participants. Remercier le groupe et annoncer que la séance suivante sera centrée sur les urgences et escalades.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118872" cy="6858000"/>
          </a:xfrm>
          <a:prstGeom prst="rect">
            <a:avLst/>
          </a:prstGeom>
          <a:solidFill>
            <a:srgbClr val="6A3D7C"/>
          </a:solidFill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2800" noProof="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" y="196596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2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3200" noProof="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Informer, demander, alerter et clarifier les rôles</a:t>
            </a:r>
            <a:endParaRPr lang="fr-FR" sz="2400" noProof="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3337560"/>
            <a:ext cx="9601200" cy="0"/>
          </a:xfrm>
          <a:prstGeom prst="line">
            <a:avLst/>
          </a:prstGeom>
          <a:noFill/>
          <a:ln w="254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4251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3 h avec pause</a:t>
            </a:r>
            <a:endParaRPr lang="fr-FR" sz="2000" noProof="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interne – environnement de centre de contact et services digitaux</a:t>
            </a:r>
            <a:endParaRPr lang="fr-FR" sz="1200" noProof="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001000" y="5349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Joul</a:t>
            </a:r>
            <a:endParaRPr lang="fr-FR" sz="1600" noProof="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fr-FR" sz="16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 en Entreprise</a:t>
            </a:r>
            <a:endParaRPr lang="fr-FR" sz="1600" noProof="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chemeClr val="bg1"/>
                </a:solidFill>
              </a:rPr>
              <a:t>1</a:t>
            </a:r>
            <a:endParaRPr lang="fr-FR" sz="12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 :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EAF3F8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896112" y="1627632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déjà acquis</a:t>
            </a:r>
            <a:endParaRPr lang="fr-FR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896112" y="2039112"/>
            <a:ext cx="4791456" cy="85039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Organisation, organigramme, circuits, culture, perception, boucle de communication et méthode C.L.A.I.R.</a:t>
            </a:r>
            <a:r>
              <a:rPr lang="ar-AE" sz="20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F.I.A.B</a:t>
            </a:r>
            <a:endParaRPr lang="fr-FR" sz="2000" noProof="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4892040" cy="1508760"/>
          </a:xfrm>
          <a:prstGeom prst="roundRect">
            <a:avLst>
              <a:gd name="adj" fmla="val 6061"/>
            </a:avLst>
          </a:prstGeom>
          <a:solidFill>
            <a:srgbClr val="F3EAF7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6519672" y="1627632"/>
            <a:ext cx="456285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l’on travaille aujourd’hui</a:t>
            </a:r>
            <a:endParaRPr lang="fr-FR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6519672" y="2039112"/>
            <a:ext cx="4562856" cy="85039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une situation professionnelle en message clair, orienté action, avec le bon destinataire et le bon rôle.</a:t>
            </a:r>
            <a:endParaRPr lang="fr-FR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005840" y="3749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1F4E79"/>
                </a:solidFill>
              </a:rPr>
              <a:t>Principe de la séance : 30 % explication, 70 % pratique.</a:t>
            </a:r>
            <a:endParaRPr lang="fr-FR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100584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noProof="0" dirty="0">
                <a:solidFill>
                  <a:srgbClr val="222222"/>
                </a:solidFill>
              </a:rPr>
              <a:t>Chaque notion sera immédiatement testée par un exemple ou un mini-atelier.</a:t>
            </a:r>
            <a:endParaRPr lang="fr-FR" sz="2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pratiques de la séance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1014984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information, demande, alerte et escalade.</a:t>
            </a:r>
            <a:endParaRPr lang="fr-FR" sz="2800" noProof="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une situation client ou interne en message utile.</a:t>
            </a:r>
            <a:endParaRPr lang="fr-FR" sz="2800" noProof="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bon destinataire sans multiplier les copies.</a:t>
            </a:r>
            <a:endParaRPr lang="fr-FR" sz="2800" noProof="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Clarifier les rôles avec RACI : qui fait, qui valide, qui consulte, qui est informé.</a:t>
            </a:r>
            <a:endParaRPr lang="fr-FR" sz="2800" noProof="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un message interne vague pour le rendre clair, traçable et orienté action.</a:t>
            </a:r>
            <a:endParaRPr lang="fr-FR" sz="2800" noProof="0" dirty="0"/>
          </a:p>
        </p:txBody>
      </p:sp>
      <p:sp>
        <p:nvSpPr>
          <p:cNvPr id="8" name="Shape 6"/>
          <p:cNvSpPr/>
          <p:nvPr/>
        </p:nvSpPr>
        <p:spPr>
          <a:xfrm>
            <a:off x="1051560" y="5074920"/>
            <a:ext cx="10149840" cy="73152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E2C06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1234440" y="5257800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222222"/>
                </a:solidFill>
              </a:rPr>
              <a:t>Résultat attendu : chaque participant repart avec un réflexe simple avant d’envoyer un message interne.</a:t>
            </a:r>
            <a:endParaRPr lang="fr-FR" sz="22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I.D.E.A. : clarifier l’intention du message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5074920" cy="1339596"/>
          </a:xfrm>
          <a:prstGeom prst="roundRect">
            <a:avLst>
              <a:gd name="adj" fmla="val 9091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161848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400" b="1" noProof="0" dirty="0">
                <a:solidFill>
                  <a:srgbClr val="FFFFFF"/>
                </a:solidFill>
              </a:rPr>
              <a:t>I</a:t>
            </a:r>
            <a:endParaRPr lang="fr-FR" sz="3400" noProof="0" dirty="0"/>
          </a:p>
        </p:txBody>
      </p:sp>
      <p:sp>
        <p:nvSpPr>
          <p:cNvPr id="9" name="Text 7"/>
          <p:cNvSpPr/>
          <p:nvPr/>
        </p:nvSpPr>
        <p:spPr>
          <a:xfrm>
            <a:off x="1600200" y="1645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FFFFFF"/>
                </a:solidFill>
              </a:rPr>
              <a:t>Informer</a:t>
            </a:r>
            <a:endParaRPr lang="fr-FR" sz="2300" noProof="0" dirty="0"/>
          </a:p>
        </p:txBody>
      </p:sp>
      <p:sp>
        <p:nvSpPr>
          <p:cNvPr id="10" name="Text 8"/>
          <p:cNvSpPr/>
          <p:nvPr/>
        </p:nvSpPr>
        <p:spPr>
          <a:xfrm>
            <a:off x="1600200" y="2039111"/>
            <a:ext cx="4160520" cy="68101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1800" noProof="0" dirty="0">
                <a:solidFill>
                  <a:srgbClr val="FFFFFF"/>
                </a:solidFill>
              </a:rPr>
              <a:t>Je transmets une information utile, sans demander une action immédiate.</a:t>
            </a:r>
            <a:endParaRPr lang="fr-FR" sz="1800" noProof="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5074920" cy="1339596"/>
          </a:xfrm>
          <a:prstGeom prst="roundRect">
            <a:avLst>
              <a:gd name="adj" fmla="val 9091"/>
            </a:avLst>
          </a:prstGeom>
          <a:solidFill>
            <a:srgbClr val="6A3D7C"/>
          </a:solidFill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0" y="161848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400" b="1" noProof="0" dirty="0">
                <a:solidFill>
                  <a:srgbClr val="FFFFFF"/>
                </a:solidFill>
              </a:rPr>
              <a:t>D</a:t>
            </a:r>
            <a:endParaRPr lang="fr-FR" sz="3400" noProof="0" dirty="0"/>
          </a:p>
        </p:txBody>
      </p:sp>
      <p:sp>
        <p:nvSpPr>
          <p:cNvPr id="13" name="Text 11"/>
          <p:cNvSpPr/>
          <p:nvPr/>
        </p:nvSpPr>
        <p:spPr>
          <a:xfrm>
            <a:off x="7086600" y="1645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FFFFFF"/>
                </a:solidFill>
              </a:rPr>
              <a:t>Demander</a:t>
            </a:r>
            <a:endParaRPr lang="fr-FR" sz="2300" noProof="0" dirty="0"/>
          </a:p>
        </p:txBody>
      </p:sp>
      <p:sp>
        <p:nvSpPr>
          <p:cNvPr id="14" name="Text 12"/>
          <p:cNvSpPr/>
          <p:nvPr/>
        </p:nvSpPr>
        <p:spPr>
          <a:xfrm>
            <a:off x="7086600" y="2039111"/>
            <a:ext cx="4160520" cy="68101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1800" noProof="0" dirty="0">
                <a:solidFill>
                  <a:srgbClr val="FFFFFF"/>
                </a:solidFill>
              </a:rPr>
              <a:t>J’attends une réponse, une validation ou une action précise.</a:t>
            </a:r>
            <a:endParaRPr lang="fr-FR" sz="1800" noProof="0" dirty="0"/>
          </a:p>
        </p:txBody>
      </p:sp>
      <p:sp>
        <p:nvSpPr>
          <p:cNvPr id="15" name="Shape 13"/>
          <p:cNvSpPr/>
          <p:nvPr/>
        </p:nvSpPr>
        <p:spPr>
          <a:xfrm>
            <a:off x="822960" y="2971800"/>
            <a:ext cx="5074920" cy="1339596"/>
          </a:xfrm>
          <a:prstGeom prst="roundRect">
            <a:avLst>
              <a:gd name="adj" fmla="val 9091"/>
            </a:avLst>
          </a:prstGeom>
          <a:solidFill>
            <a:srgbClr val="9B1B60"/>
          </a:solidFill>
          <a:ln w="12700">
            <a:solidFill>
              <a:srgbClr val="9B1B6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914400" y="308152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400" b="1" noProof="0" dirty="0">
                <a:solidFill>
                  <a:srgbClr val="FFFFFF"/>
                </a:solidFill>
              </a:rPr>
              <a:t>E</a:t>
            </a:r>
            <a:endParaRPr lang="fr-FR" sz="3400" noProof="0" dirty="0"/>
          </a:p>
        </p:txBody>
      </p:sp>
      <p:sp>
        <p:nvSpPr>
          <p:cNvPr id="17" name="Text 15"/>
          <p:cNvSpPr/>
          <p:nvPr/>
        </p:nvSpPr>
        <p:spPr>
          <a:xfrm>
            <a:off x="1600200" y="31089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FFFFFF"/>
                </a:solidFill>
              </a:rPr>
              <a:t>Escalader</a:t>
            </a:r>
            <a:endParaRPr lang="fr-FR" sz="2300" noProof="0" dirty="0"/>
          </a:p>
        </p:txBody>
      </p:sp>
      <p:sp>
        <p:nvSpPr>
          <p:cNvPr id="18" name="Text 16"/>
          <p:cNvSpPr/>
          <p:nvPr/>
        </p:nvSpPr>
        <p:spPr>
          <a:xfrm>
            <a:off x="1600200" y="3502151"/>
            <a:ext cx="4160520" cy="68101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1800" noProof="0" dirty="0">
                <a:solidFill>
                  <a:srgbClr val="FFFFFF"/>
                </a:solidFill>
              </a:rPr>
              <a:t>La situation dépasse mon niveau ou nécessite un arbitrage supérieur.</a:t>
            </a:r>
            <a:endParaRPr lang="fr-FR" sz="1800" noProof="0" dirty="0"/>
          </a:p>
        </p:txBody>
      </p:sp>
      <p:sp>
        <p:nvSpPr>
          <p:cNvPr id="19" name="Shape 17"/>
          <p:cNvSpPr/>
          <p:nvPr/>
        </p:nvSpPr>
        <p:spPr>
          <a:xfrm>
            <a:off x="6309360" y="2971800"/>
            <a:ext cx="5074920" cy="1339596"/>
          </a:xfrm>
          <a:prstGeom prst="roundRect">
            <a:avLst>
              <a:gd name="adj" fmla="val 9091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0" y="308152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400" b="1" noProof="0" dirty="0">
                <a:solidFill>
                  <a:srgbClr val="FFFFFF"/>
                </a:solidFill>
              </a:rPr>
              <a:t>A</a:t>
            </a:r>
            <a:endParaRPr lang="fr-FR" sz="3400" noProof="0" dirty="0"/>
          </a:p>
        </p:txBody>
      </p:sp>
      <p:sp>
        <p:nvSpPr>
          <p:cNvPr id="21" name="Text 19"/>
          <p:cNvSpPr/>
          <p:nvPr/>
        </p:nvSpPr>
        <p:spPr>
          <a:xfrm>
            <a:off x="7086600" y="31089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FFFFFF"/>
                </a:solidFill>
              </a:rPr>
              <a:t>Alerter</a:t>
            </a:r>
            <a:endParaRPr lang="fr-FR" sz="2300" noProof="0" dirty="0"/>
          </a:p>
        </p:txBody>
      </p:sp>
      <p:sp>
        <p:nvSpPr>
          <p:cNvPr id="22" name="Text 20"/>
          <p:cNvSpPr/>
          <p:nvPr/>
        </p:nvSpPr>
        <p:spPr>
          <a:xfrm>
            <a:off x="7086600" y="3502151"/>
            <a:ext cx="4160520" cy="68101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1800" noProof="0" dirty="0">
                <a:solidFill>
                  <a:srgbClr val="FFFFFF"/>
                </a:solidFill>
              </a:rPr>
              <a:t>Je signale un risque, un blocage ou une urgence à traiter rapidement.</a:t>
            </a:r>
            <a:endParaRPr lang="fr-FR" sz="1800" noProof="0" dirty="0"/>
          </a:p>
        </p:txBody>
      </p:sp>
      <p:sp>
        <p:nvSpPr>
          <p:cNvPr id="23" name="Text 21"/>
          <p:cNvSpPr/>
          <p:nvPr/>
        </p:nvSpPr>
        <p:spPr>
          <a:xfrm>
            <a:off x="868680" y="460400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1F4E79"/>
                </a:solidFill>
              </a:rPr>
              <a:t>Une bonne communication interne commence par une IDEA : savoir pourquoi je communique.</a:t>
            </a:r>
            <a:endParaRPr lang="fr-FR" sz="2400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9499D6-11A0-7FBD-FF6F-58E364EABD17}"/>
              </a:ext>
            </a:extLst>
          </p:cNvPr>
          <p:cNvSpPr txBox="1"/>
          <p:nvPr/>
        </p:nvSpPr>
        <p:spPr>
          <a:xfrm>
            <a:off x="662940" y="5436323"/>
            <a:ext cx="10652760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noProof="0" dirty="0"/>
              <a:t>Parfois, un message peut aussi servir à </a:t>
            </a:r>
            <a:r>
              <a:rPr lang="fr-FR" b="1" noProof="0" dirty="0"/>
              <a:t>consulter</a:t>
            </a:r>
            <a:r>
              <a:rPr lang="fr-FR" noProof="0" dirty="0"/>
              <a:t>, </a:t>
            </a:r>
            <a:r>
              <a:rPr lang="fr-FR" b="1" noProof="0" dirty="0"/>
              <a:t>coordonner</a:t>
            </a:r>
            <a:r>
              <a:rPr lang="fr-FR" noProof="0" dirty="0"/>
              <a:t>, </a:t>
            </a:r>
            <a:r>
              <a:rPr lang="fr-FR" b="1" noProof="0" dirty="0"/>
              <a:t>confirmer</a:t>
            </a:r>
            <a:r>
              <a:rPr lang="fr-FR" noProof="0" dirty="0"/>
              <a:t>, </a:t>
            </a:r>
            <a:r>
              <a:rPr lang="fr-FR" b="1" noProof="0" dirty="0"/>
              <a:t>relancer</a:t>
            </a:r>
            <a:r>
              <a:rPr lang="fr-FR" noProof="0" dirty="0"/>
              <a:t>, </a:t>
            </a:r>
            <a:r>
              <a:rPr lang="fr-FR" b="1" noProof="0" dirty="0"/>
              <a:t>expliquer</a:t>
            </a:r>
            <a:r>
              <a:rPr lang="fr-FR" noProof="0" dirty="0"/>
              <a:t> ou </a:t>
            </a:r>
            <a:r>
              <a:rPr lang="fr-FR" b="1" noProof="0" dirty="0"/>
              <a:t>suivre</a:t>
            </a:r>
            <a:r>
              <a:rPr lang="fr-FR" noProof="0" dirty="0"/>
              <a:t> une action. Mais dans un centre de contact, la majorité des messages internes peuvent entrer dans l’une des quatre familles </a:t>
            </a:r>
            <a:r>
              <a:rPr lang="fr-FR" b="1" noProof="0" dirty="0"/>
              <a:t>I.D.E.A.</a:t>
            </a:r>
            <a:endParaRPr lang="fr-FR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: exemples rapides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740664" y="1426464"/>
            <a:ext cx="5102352" cy="749808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fr-FR" sz="1900" noProof="0" dirty="0"/>
          </a:p>
        </p:txBody>
      </p:sp>
      <p:sp>
        <p:nvSpPr>
          <p:cNvPr id="8" name="Text 6"/>
          <p:cNvSpPr/>
          <p:nvPr/>
        </p:nvSpPr>
        <p:spPr>
          <a:xfrm>
            <a:off x="5861304" y="1426464"/>
            <a:ext cx="1810512" cy="749808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fr-FR" sz="1900" noProof="0" dirty="0"/>
          </a:p>
        </p:txBody>
      </p:sp>
      <p:sp>
        <p:nvSpPr>
          <p:cNvPr id="9" name="Text 7"/>
          <p:cNvSpPr/>
          <p:nvPr/>
        </p:nvSpPr>
        <p:spPr>
          <a:xfrm>
            <a:off x="7690104" y="1426464"/>
            <a:ext cx="3822192" cy="749808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fr-FR" sz="1900" noProof="0" dirty="0"/>
          </a:p>
        </p:txBody>
      </p:sp>
      <p:sp>
        <p:nvSpPr>
          <p:cNvPr id="10" name="Text 8"/>
          <p:cNvSpPr/>
          <p:nvPr/>
        </p:nvSpPr>
        <p:spPr>
          <a:xfrm>
            <a:off x="740664" y="2194560"/>
            <a:ext cx="510235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planning de demain est publié dans le groupe interne.</a:t>
            </a:r>
            <a:endParaRPr lang="fr-FR" sz="1900" noProof="0" dirty="0"/>
          </a:p>
        </p:txBody>
      </p:sp>
      <p:sp>
        <p:nvSpPr>
          <p:cNvPr id="11" name="Text 9"/>
          <p:cNvSpPr/>
          <p:nvPr/>
        </p:nvSpPr>
        <p:spPr>
          <a:xfrm>
            <a:off x="5861304" y="2194560"/>
            <a:ext cx="181051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</a:t>
            </a:r>
            <a:endParaRPr lang="fr-FR" sz="1900" noProof="0" dirty="0"/>
          </a:p>
        </p:txBody>
      </p:sp>
      <p:sp>
        <p:nvSpPr>
          <p:cNvPr id="12" name="Text 10"/>
          <p:cNvSpPr/>
          <p:nvPr/>
        </p:nvSpPr>
        <p:spPr>
          <a:xfrm>
            <a:off x="7690104" y="2194560"/>
            <a:ext cx="38221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L’objectif est de transmettre une information.</a:t>
            </a:r>
            <a:endParaRPr lang="fr-FR" sz="1900" noProof="0" dirty="0"/>
          </a:p>
        </p:txBody>
      </p:sp>
      <p:sp>
        <p:nvSpPr>
          <p:cNvPr id="13" name="Text 11"/>
          <p:cNvSpPr/>
          <p:nvPr/>
        </p:nvSpPr>
        <p:spPr>
          <a:xfrm>
            <a:off x="740664" y="2962656"/>
            <a:ext cx="510235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confirmer si je dois clôturer le dossier.</a:t>
            </a:r>
            <a:endParaRPr lang="fr-FR" sz="1900" noProof="0" dirty="0"/>
          </a:p>
        </p:txBody>
      </p:sp>
      <p:sp>
        <p:nvSpPr>
          <p:cNvPr id="14" name="Text 12"/>
          <p:cNvSpPr/>
          <p:nvPr/>
        </p:nvSpPr>
        <p:spPr>
          <a:xfrm>
            <a:off x="5861304" y="2962656"/>
            <a:ext cx="181051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</a:t>
            </a:r>
            <a:endParaRPr lang="fr-FR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7690104" y="2962656"/>
            <a:ext cx="38221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ou validation est attendue.</a:t>
            </a:r>
            <a:endParaRPr lang="fr-FR" sz="1900" noProof="0" dirty="0"/>
          </a:p>
        </p:txBody>
      </p:sp>
      <p:sp>
        <p:nvSpPr>
          <p:cNvPr id="16" name="Text 14"/>
          <p:cNvSpPr/>
          <p:nvPr/>
        </p:nvSpPr>
        <p:spPr>
          <a:xfrm>
            <a:off x="740664" y="3730752"/>
            <a:ext cx="510235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menace de déposer une plainte officielle.</a:t>
            </a:r>
            <a:endParaRPr lang="fr-FR" sz="1900" noProof="0" dirty="0"/>
          </a:p>
        </p:txBody>
      </p:sp>
      <p:sp>
        <p:nvSpPr>
          <p:cNvPr id="17" name="Text 15"/>
          <p:cNvSpPr/>
          <p:nvPr/>
        </p:nvSpPr>
        <p:spPr>
          <a:xfrm>
            <a:off x="5861304" y="3730752"/>
            <a:ext cx="181051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</a:t>
            </a:r>
            <a:endParaRPr lang="fr-FR" sz="1900" noProof="0" dirty="0"/>
          </a:p>
        </p:txBody>
      </p:sp>
      <p:sp>
        <p:nvSpPr>
          <p:cNvPr id="18" name="Text 16"/>
          <p:cNvSpPr/>
          <p:nvPr/>
        </p:nvSpPr>
        <p:spPr>
          <a:xfrm>
            <a:off x="7690104" y="3730752"/>
            <a:ext cx="38221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y a un risque sensible à signaler.</a:t>
            </a:r>
            <a:endParaRPr lang="fr-FR" sz="1900" noProof="0" dirty="0"/>
          </a:p>
        </p:txBody>
      </p:sp>
      <p:sp>
        <p:nvSpPr>
          <p:cNvPr id="19" name="Text 17"/>
          <p:cNvSpPr/>
          <p:nvPr/>
        </p:nvSpPr>
        <p:spPr>
          <a:xfrm>
            <a:off x="740664" y="4498848"/>
            <a:ext cx="510235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blocage dépasse la procédure habituelle et nécessite décision du manager.</a:t>
            </a:r>
            <a:endParaRPr lang="fr-FR" sz="1900" noProof="0" dirty="0"/>
          </a:p>
        </p:txBody>
      </p:sp>
      <p:sp>
        <p:nvSpPr>
          <p:cNvPr id="20" name="Text 18"/>
          <p:cNvSpPr/>
          <p:nvPr/>
        </p:nvSpPr>
        <p:spPr>
          <a:xfrm>
            <a:off x="5861304" y="4498848"/>
            <a:ext cx="181051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Escalader</a:t>
            </a:r>
            <a:endParaRPr lang="fr-FR" sz="1900" noProof="0" dirty="0"/>
          </a:p>
        </p:txBody>
      </p:sp>
      <p:sp>
        <p:nvSpPr>
          <p:cNvPr id="21" name="Text 19"/>
          <p:cNvSpPr/>
          <p:nvPr/>
        </p:nvSpPr>
        <p:spPr>
          <a:xfrm>
            <a:off x="7690104" y="4498848"/>
            <a:ext cx="38221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supérieur doit arbitrer.</a:t>
            </a:r>
            <a:endParaRPr lang="fr-FR" sz="1900" noProof="0" dirty="0"/>
          </a:p>
        </p:txBody>
      </p:sp>
      <p:sp>
        <p:nvSpPr>
          <p:cNvPr id="22" name="Text 20"/>
          <p:cNvSpPr/>
          <p:nvPr/>
        </p:nvSpPr>
        <p:spPr>
          <a:xfrm>
            <a:off x="1097280" y="5486399"/>
            <a:ext cx="9875520" cy="749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2200" b="1" noProof="0" dirty="0">
                <a:solidFill>
                  <a:srgbClr val="6A3D7C"/>
                </a:solidFill>
              </a:rPr>
              <a:t>Question au groupe : </a:t>
            </a:r>
            <a:r>
              <a:rPr lang="fr-MA" sz="2400" b="1" dirty="0"/>
              <a:t>Quel type de message utiliserez-vous le plus souvent dans votre futur travail </a:t>
            </a:r>
            <a:r>
              <a:rPr lang="fr-FR" sz="2200" b="1" noProof="0" dirty="0">
                <a:solidFill>
                  <a:srgbClr val="6A3D7C"/>
                </a:solidFill>
              </a:rPr>
              <a:t>?</a:t>
            </a:r>
            <a:endParaRPr lang="fr-FR" sz="22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1 : classer les messages avec IDEA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1F4E79"/>
                </a:solidFill>
              </a:rPr>
              <a:t>Consigne : pour chaque message, cochez I, D, E ou A.</a:t>
            </a:r>
            <a:endParaRPr lang="fr-FR" sz="2300" noProof="0" dirty="0"/>
          </a:p>
        </p:txBody>
      </p:sp>
      <p:sp>
        <p:nvSpPr>
          <p:cNvPr id="8" name="Text 6"/>
          <p:cNvSpPr/>
          <p:nvPr/>
        </p:nvSpPr>
        <p:spPr>
          <a:xfrm>
            <a:off x="786384" y="1792224"/>
            <a:ext cx="7114032" cy="576072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court</a:t>
            </a:r>
            <a:endParaRPr lang="fr-FR" sz="1900" noProof="0" dirty="0"/>
          </a:p>
        </p:txBody>
      </p:sp>
      <p:sp>
        <p:nvSpPr>
          <p:cNvPr id="9" name="Text 7"/>
          <p:cNvSpPr/>
          <p:nvPr/>
        </p:nvSpPr>
        <p:spPr>
          <a:xfrm>
            <a:off x="7918704" y="1792224"/>
            <a:ext cx="896112" cy="576072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fr-FR" sz="1900" noProof="0" dirty="0"/>
          </a:p>
        </p:txBody>
      </p:sp>
      <p:sp>
        <p:nvSpPr>
          <p:cNvPr id="10" name="Text 8"/>
          <p:cNvSpPr/>
          <p:nvPr/>
        </p:nvSpPr>
        <p:spPr>
          <a:xfrm>
            <a:off x="8833104" y="1792224"/>
            <a:ext cx="896112" cy="576072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fr-FR" sz="1900" noProof="0" dirty="0"/>
          </a:p>
        </p:txBody>
      </p:sp>
      <p:sp>
        <p:nvSpPr>
          <p:cNvPr id="11" name="Text 9"/>
          <p:cNvSpPr/>
          <p:nvPr/>
        </p:nvSpPr>
        <p:spPr>
          <a:xfrm>
            <a:off x="9747504" y="1792224"/>
            <a:ext cx="896112" cy="576072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fr-FR" sz="1900" noProof="0" dirty="0"/>
          </a:p>
        </p:txBody>
      </p:sp>
      <p:sp>
        <p:nvSpPr>
          <p:cNvPr id="12" name="Text 10"/>
          <p:cNvSpPr/>
          <p:nvPr/>
        </p:nvSpPr>
        <p:spPr>
          <a:xfrm>
            <a:off x="10661904" y="1792224"/>
            <a:ext cx="896112" cy="576072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fr-FR" sz="1900" noProof="0" dirty="0"/>
          </a:p>
        </p:txBody>
      </p:sp>
      <p:sp>
        <p:nvSpPr>
          <p:cNvPr id="13" name="Text 11"/>
          <p:cNvSpPr/>
          <p:nvPr/>
        </p:nvSpPr>
        <p:spPr>
          <a:xfrm>
            <a:off x="786384" y="2386584"/>
            <a:ext cx="711403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qualité de la semaine est disponible.</a:t>
            </a:r>
            <a:endParaRPr lang="fr-FR" sz="1900" noProof="0" dirty="0"/>
          </a:p>
        </p:txBody>
      </p:sp>
      <p:sp>
        <p:nvSpPr>
          <p:cNvPr id="14" name="Text 12"/>
          <p:cNvSpPr/>
          <p:nvPr/>
        </p:nvSpPr>
        <p:spPr>
          <a:xfrm>
            <a:off x="7918704" y="238658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8833104" y="238658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16" name="Text 14"/>
          <p:cNvSpPr/>
          <p:nvPr/>
        </p:nvSpPr>
        <p:spPr>
          <a:xfrm>
            <a:off x="9747504" y="238658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17" name="Text 15"/>
          <p:cNvSpPr/>
          <p:nvPr/>
        </p:nvSpPr>
        <p:spPr>
          <a:xfrm>
            <a:off x="10661904" y="238658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18" name="Text 16"/>
          <p:cNvSpPr/>
          <p:nvPr/>
        </p:nvSpPr>
        <p:spPr>
          <a:xfrm>
            <a:off x="786384" y="2980944"/>
            <a:ext cx="711403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Pouvez-vous valider cette réponse avant envoi ?</a:t>
            </a:r>
            <a:endParaRPr lang="fr-FR" sz="1900" noProof="0" dirty="0"/>
          </a:p>
        </p:txBody>
      </p:sp>
      <p:sp>
        <p:nvSpPr>
          <p:cNvPr id="19" name="Text 17"/>
          <p:cNvSpPr/>
          <p:nvPr/>
        </p:nvSpPr>
        <p:spPr>
          <a:xfrm>
            <a:off x="7918704" y="298094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20" name="Text 18"/>
          <p:cNvSpPr/>
          <p:nvPr/>
        </p:nvSpPr>
        <p:spPr>
          <a:xfrm>
            <a:off x="8833104" y="298094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21" name="Text 19"/>
          <p:cNvSpPr/>
          <p:nvPr/>
        </p:nvSpPr>
        <p:spPr>
          <a:xfrm>
            <a:off x="9747504" y="298094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22" name="Text 20"/>
          <p:cNvSpPr/>
          <p:nvPr/>
        </p:nvSpPr>
        <p:spPr>
          <a:xfrm>
            <a:off x="10661904" y="298094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23" name="Text 21"/>
          <p:cNvSpPr/>
          <p:nvPr/>
        </p:nvSpPr>
        <p:spPr>
          <a:xfrm>
            <a:off x="786384" y="3575304"/>
            <a:ext cx="711403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dossiers sont bloqués depuis 30 minutes.</a:t>
            </a:r>
            <a:endParaRPr lang="fr-FR" sz="1900" noProof="0" dirty="0"/>
          </a:p>
        </p:txBody>
      </p:sp>
      <p:sp>
        <p:nvSpPr>
          <p:cNvPr id="24" name="Text 22"/>
          <p:cNvSpPr/>
          <p:nvPr/>
        </p:nvSpPr>
        <p:spPr>
          <a:xfrm>
            <a:off x="7918704" y="357530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25" name="Text 23"/>
          <p:cNvSpPr/>
          <p:nvPr/>
        </p:nvSpPr>
        <p:spPr>
          <a:xfrm>
            <a:off x="8833104" y="357530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26" name="Text 24"/>
          <p:cNvSpPr/>
          <p:nvPr/>
        </p:nvSpPr>
        <p:spPr>
          <a:xfrm>
            <a:off x="9747504" y="357530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27" name="Text 25"/>
          <p:cNvSpPr/>
          <p:nvPr/>
        </p:nvSpPr>
        <p:spPr>
          <a:xfrm>
            <a:off x="10661904" y="357530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28" name="Text 26"/>
          <p:cNvSpPr/>
          <p:nvPr/>
        </p:nvSpPr>
        <p:spPr>
          <a:xfrm>
            <a:off x="786384" y="4169664"/>
            <a:ext cx="711403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procédure ne couvre pas ce cas ; besoin d’arbitrage.</a:t>
            </a:r>
            <a:endParaRPr lang="fr-FR" sz="1900" noProof="0" dirty="0"/>
          </a:p>
        </p:txBody>
      </p:sp>
      <p:sp>
        <p:nvSpPr>
          <p:cNvPr id="29" name="Text 27"/>
          <p:cNvSpPr/>
          <p:nvPr/>
        </p:nvSpPr>
        <p:spPr>
          <a:xfrm>
            <a:off x="7918704" y="416966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30" name="Text 28"/>
          <p:cNvSpPr/>
          <p:nvPr/>
        </p:nvSpPr>
        <p:spPr>
          <a:xfrm>
            <a:off x="8833104" y="416966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31" name="Text 29"/>
          <p:cNvSpPr/>
          <p:nvPr/>
        </p:nvSpPr>
        <p:spPr>
          <a:xfrm>
            <a:off x="9747504" y="416966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32" name="Text 30"/>
          <p:cNvSpPr/>
          <p:nvPr/>
        </p:nvSpPr>
        <p:spPr>
          <a:xfrm>
            <a:off x="10661904" y="416966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33" name="Text 31"/>
          <p:cNvSpPr/>
          <p:nvPr/>
        </p:nvSpPr>
        <p:spPr>
          <a:xfrm>
            <a:off x="786384" y="4764024"/>
            <a:ext cx="711403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m’indiquer la marche à suivre.</a:t>
            </a:r>
            <a:endParaRPr lang="fr-FR" sz="1900" noProof="0" dirty="0"/>
          </a:p>
        </p:txBody>
      </p:sp>
      <p:sp>
        <p:nvSpPr>
          <p:cNvPr id="34" name="Text 32"/>
          <p:cNvSpPr/>
          <p:nvPr/>
        </p:nvSpPr>
        <p:spPr>
          <a:xfrm>
            <a:off x="7918704" y="476402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35" name="Text 33"/>
          <p:cNvSpPr/>
          <p:nvPr/>
        </p:nvSpPr>
        <p:spPr>
          <a:xfrm>
            <a:off x="8833104" y="476402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36" name="Text 34"/>
          <p:cNvSpPr/>
          <p:nvPr/>
        </p:nvSpPr>
        <p:spPr>
          <a:xfrm>
            <a:off x="9747504" y="476402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37" name="Text 35"/>
          <p:cNvSpPr/>
          <p:nvPr/>
        </p:nvSpPr>
        <p:spPr>
          <a:xfrm>
            <a:off x="10661904" y="4764024"/>
            <a:ext cx="89611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fr-FR" sz="1900" noProof="0" dirty="0"/>
          </a:p>
        </p:txBody>
      </p:sp>
      <p:sp>
        <p:nvSpPr>
          <p:cNvPr id="38" name="Text 36"/>
          <p:cNvSpPr/>
          <p:nvPr/>
        </p:nvSpPr>
        <p:spPr>
          <a:xfrm>
            <a:off x="914400" y="55778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100" noProof="0" dirty="0">
                <a:solidFill>
                  <a:srgbClr val="222222"/>
                </a:solidFill>
              </a:rPr>
              <a:t>Temps : 4 minutes en binômes, puis correction collective.</a:t>
            </a:r>
            <a:endParaRPr lang="fr-FR" sz="2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possible de l’atelier 1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468112" cy="682752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court</a:t>
            </a:r>
            <a:endParaRPr lang="fr-FR" sz="1900" noProof="0" dirty="0"/>
          </a:p>
        </p:txBody>
      </p:sp>
      <p:sp>
        <p:nvSpPr>
          <p:cNvPr id="8" name="Text 6"/>
          <p:cNvSpPr/>
          <p:nvPr/>
        </p:nvSpPr>
        <p:spPr>
          <a:xfrm>
            <a:off x="6272784" y="1426464"/>
            <a:ext cx="1444752" cy="682752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fr-FR" sz="1900" noProof="0" dirty="0"/>
          </a:p>
        </p:txBody>
      </p:sp>
      <p:sp>
        <p:nvSpPr>
          <p:cNvPr id="9" name="Text 7"/>
          <p:cNvSpPr/>
          <p:nvPr/>
        </p:nvSpPr>
        <p:spPr>
          <a:xfrm>
            <a:off x="7735824" y="1426464"/>
            <a:ext cx="3822192" cy="682752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fr-FR" sz="1900" noProof="0" dirty="0"/>
          </a:p>
        </p:txBody>
      </p:sp>
      <p:sp>
        <p:nvSpPr>
          <p:cNvPr id="10" name="Text 8"/>
          <p:cNvSpPr/>
          <p:nvPr/>
        </p:nvSpPr>
        <p:spPr>
          <a:xfrm>
            <a:off x="786384" y="2127504"/>
            <a:ext cx="546811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qualité de la semaine est disponible.</a:t>
            </a:r>
            <a:endParaRPr lang="fr-FR" sz="1900" noProof="0" dirty="0"/>
          </a:p>
        </p:txBody>
      </p:sp>
      <p:sp>
        <p:nvSpPr>
          <p:cNvPr id="11" name="Text 9"/>
          <p:cNvSpPr/>
          <p:nvPr/>
        </p:nvSpPr>
        <p:spPr>
          <a:xfrm>
            <a:off x="6272784" y="2127504"/>
            <a:ext cx="144475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fr-FR" sz="1900" noProof="0" dirty="0"/>
          </a:p>
        </p:txBody>
      </p:sp>
      <p:sp>
        <p:nvSpPr>
          <p:cNvPr id="12" name="Text 10"/>
          <p:cNvSpPr/>
          <p:nvPr/>
        </p:nvSpPr>
        <p:spPr>
          <a:xfrm>
            <a:off x="7735824" y="2127504"/>
            <a:ext cx="382219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transmise.</a:t>
            </a:r>
            <a:endParaRPr lang="fr-FR" sz="1900" noProof="0" dirty="0"/>
          </a:p>
        </p:txBody>
      </p:sp>
      <p:sp>
        <p:nvSpPr>
          <p:cNvPr id="13" name="Text 11"/>
          <p:cNvSpPr/>
          <p:nvPr/>
        </p:nvSpPr>
        <p:spPr>
          <a:xfrm>
            <a:off x="786384" y="2828544"/>
            <a:ext cx="546811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Pouvez-vous valider cette réponse avant envoi ?</a:t>
            </a:r>
            <a:endParaRPr lang="fr-FR" sz="1900" noProof="0" dirty="0"/>
          </a:p>
        </p:txBody>
      </p:sp>
      <p:sp>
        <p:nvSpPr>
          <p:cNvPr id="14" name="Text 12"/>
          <p:cNvSpPr/>
          <p:nvPr/>
        </p:nvSpPr>
        <p:spPr>
          <a:xfrm>
            <a:off x="6272784" y="2828544"/>
            <a:ext cx="144475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fr-FR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7735824" y="2828544"/>
            <a:ext cx="382219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attendue : validation.</a:t>
            </a:r>
            <a:endParaRPr lang="fr-FR" sz="1900" noProof="0" dirty="0"/>
          </a:p>
        </p:txBody>
      </p:sp>
      <p:sp>
        <p:nvSpPr>
          <p:cNvPr id="16" name="Text 14"/>
          <p:cNvSpPr/>
          <p:nvPr/>
        </p:nvSpPr>
        <p:spPr>
          <a:xfrm>
            <a:off x="786384" y="3529584"/>
            <a:ext cx="546811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dossiers sont bloqués depuis 30 minutes.</a:t>
            </a:r>
            <a:endParaRPr lang="fr-FR" sz="1900" noProof="0" dirty="0"/>
          </a:p>
        </p:txBody>
      </p:sp>
      <p:sp>
        <p:nvSpPr>
          <p:cNvPr id="17" name="Text 15"/>
          <p:cNvSpPr/>
          <p:nvPr/>
        </p:nvSpPr>
        <p:spPr>
          <a:xfrm>
            <a:off x="6272784" y="3529584"/>
            <a:ext cx="144475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fr-FR" sz="1900" noProof="0" dirty="0"/>
          </a:p>
        </p:txBody>
      </p:sp>
      <p:sp>
        <p:nvSpPr>
          <p:cNvPr id="18" name="Text 16"/>
          <p:cNvSpPr/>
          <p:nvPr/>
        </p:nvSpPr>
        <p:spPr>
          <a:xfrm>
            <a:off x="7735824" y="3529584"/>
            <a:ext cx="382219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avec impact opérationnel.</a:t>
            </a:r>
            <a:endParaRPr lang="fr-FR" sz="1900" noProof="0" dirty="0"/>
          </a:p>
        </p:txBody>
      </p:sp>
      <p:sp>
        <p:nvSpPr>
          <p:cNvPr id="19" name="Text 17"/>
          <p:cNvSpPr/>
          <p:nvPr/>
        </p:nvSpPr>
        <p:spPr>
          <a:xfrm>
            <a:off x="786384" y="4230624"/>
            <a:ext cx="546811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procédure ne couvre pas ce cas ; besoin d’arbitrage.</a:t>
            </a:r>
            <a:endParaRPr lang="fr-FR" sz="1900" noProof="0" dirty="0"/>
          </a:p>
        </p:txBody>
      </p:sp>
      <p:sp>
        <p:nvSpPr>
          <p:cNvPr id="20" name="Text 18"/>
          <p:cNvSpPr/>
          <p:nvPr/>
        </p:nvSpPr>
        <p:spPr>
          <a:xfrm>
            <a:off x="6272784" y="4230624"/>
            <a:ext cx="144475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fr-FR" sz="1900" noProof="0" dirty="0"/>
          </a:p>
        </p:txBody>
      </p:sp>
      <p:sp>
        <p:nvSpPr>
          <p:cNvPr id="21" name="Text 19"/>
          <p:cNvSpPr/>
          <p:nvPr/>
        </p:nvSpPr>
        <p:spPr>
          <a:xfrm>
            <a:off x="7735824" y="4230624"/>
            <a:ext cx="382219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Remontée vers un niveau supérieur.</a:t>
            </a:r>
            <a:endParaRPr lang="fr-FR" sz="1900" noProof="0" dirty="0"/>
          </a:p>
        </p:txBody>
      </p:sp>
      <p:sp>
        <p:nvSpPr>
          <p:cNvPr id="22" name="Text 20"/>
          <p:cNvSpPr/>
          <p:nvPr/>
        </p:nvSpPr>
        <p:spPr>
          <a:xfrm>
            <a:off x="786384" y="4931664"/>
            <a:ext cx="546811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m’indiquer la marche à suivre.</a:t>
            </a:r>
            <a:endParaRPr lang="fr-FR" sz="1900" noProof="0" dirty="0"/>
          </a:p>
        </p:txBody>
      </p:sp>
      <p:sp>
        <p:nvSpPr>
          <p:cNvPr id="23" name="Text 21"/>
          <p:cNvSpPr/>
          <p:nvPr/>
        </p:nvSpPr>
        <p:spPr>
          <a:xfrm>
            <a:off x="6272784" y="4931664"/>
            <a:ext cx="144475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fr-FR" sz="1900" noProof="0" dirty="0"/>
          </a:p>
        </p:txBody>
      </p:sp>
      <p:sp>
        <p:nvSpPr>
          <p:cNvPr id="24" name="Text 22"/>
          <p:cNvSpPr/>
          <p:nvPr/>
        </p:nvSpPr>
        <p:spPr>
          <a:xfrm>
            <a:off x="7735824" y="4931664"/>
            <a:ext cx="3822192" cy="6827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ou consigne attendue.</a:t>
            </a:r>
            <a:endParaRPr lang="fr-FR" sz="1900" noProof="0" dirty="0"/>
          </a:p>
        </p:txBody>
      </p:sp>
      <p:sp>
        <p:nvSpPr>
          <p:cNvPr id="25" name="Text 23"/>
          <p:cNvSpPr/>
          <p:nvPr/>
        </p:nvSpPr>
        <p:spPr>
          <a:xfrm>
            <a:off x="914400" y="5806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300" b="1" noProof="0" dirty="0">
                <a:solidFill>
                  <a:srgbClr val="1F4E79"/>
                </a:solidFill>
              </a:rPr>
              <a:t>À retenir : un bon message annonce clairement l’action attendue.</a:t>
            </a:r>
            <a:endParaRPr lang="fr-FR" sz="23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situation : communication externe et interne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fr-F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941832" y="1581912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au client</a:t>
            </a:r>
            <a:endParaRPr lang="fr-FR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941832" y="1845721"/>
            <a:ext cx="4882896" cy="898845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Rassurer, rester professionnel, expliquer selon la procédure et éviter les engagements non validés.</a:t>
            </a:r>
            <a:endParaRPr lang="fr-FR" sz="2000" noProof="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166360" cy="1371600"/>
          </a:xfrm>
          <a:prstGeom prst="roundRect">
            <a:avLst>
              <a:gd name="adj" fmla="val 6667"/>
            </a:avLst>
          </a:prstGeom>
          <a:solidFill>
            <a:srgbClr val="F3EAF7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6428232" y="158191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interne</a:t>
            </a:r>
            <a:endParaRPr lang="fr-FR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6428232" y="1845721"/>
            <a:ext cx="4837176" cy="898845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fr-FR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 les faits, l’impact, le besoin attendu, le niveau d’urgence et les éléments de preuve autorisés.</a:t>
            </a:r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1F4E79"/>
                </a:solidFill>
              </a:rPr>
              <a:t>Exemple : le client signale le même problème pour la 3e fois.</a:t>
            </a:r>
            <a:endParaRPr lang="fr-FR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77824" y="3986784"/>
            <a:ext cx="5102352" cy="667512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externe</a:t>
            </a:r>
            <a:endParaRPr lang="fr-FR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5998464" y="3986784"/>
            <a:ext cx="5285232" cy="667512"/>
          </a:xfrm>
          <a:prstGeom prst="rect">
            <a:avLst/>
          </a:prstGeom>
          <a:solidFill>
            <a:srgbClr val="EADCF0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interne</a:t>
            </a:r>
            <a:endParaRPr lang="fr-FR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877824" y="4672583"/>
            <a:ext cx="5102352" cy="1339331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comprends votre situation. Je vais vérifier les éléments disponibles et vous tenir informé selon la procédure. »</a:t>
            </a:r>
            <a:endParaRPr lang="fr-FR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5998464" y="4672583"/>
            <a:ext cx="5285232" cy="1339331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Client X signale le même blocage pour la 3e fois depuis lundi. Impact : traitement non finalisé. Besoin : analyse qualité/process et consigne de réponse. »</a:t>
            </a:r>
            <a:endParaRPr lang="fr-FR" sz="18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2 : transformer une situation client en message interne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fr-F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10607040" cy="96012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E2C06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289303"/>
            <a:ext cx="10149840" cy="905257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222222"/>
                </a:solidFill>
              </a:rPr>
              <a:t>Situation : un client rappelle pour la 3e fois. Il dit que sa demande a été « déjà envoyée » mais aucun suivi clair n’apparaît dans l’outil.</a:t>
            </a:r>
            <a:endParaRPr lang="fr-FR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Rédigez un message interne de 4 à 6 lignes.</a:t>
            </a:r>
            <a:endParaRPr lang="fr-FR" sz="2800" noProof="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Précisez : faits, impact, action déjà faite, besoin attendu.</a:t>
            </a:r>
            <a:endParaRPr lang="fr-FR" sz="2800" noProof="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Indiquez le destinataire principal et les personnes éventuellement en CC.</a:t>
            </a:r>
            <a:endParaRPr lang="fr-FR" sz="2800" noProof="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 type IDEA : information, demande, alerte ou escalade.</a:t>
            </a:r>
            <a:endParaRPr lang="fr-FR" sz="2800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5394959"/>
            <a:ext cx="10424160" cy="5854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6A3D7C"/>
                </a:solidFill>
              </a:rPr>
              <a:t>Temps : 8 minutes. Travail individuel puis partage en groupe.</a:t>
            </a:r>
            <a:endParaRPr lang="fr-FR" sz="22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possible : message interne structuré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fr-FR" sz="2000" noProof="0" dirty="0">
                <a:solidFill>
                  <a:srgbClr val="666666"/>
                </a:solidFill>
              </a:rPr>
              <a:t>À / To : Superviseur direct</a:t>
            </a:r>
            <a:endParaRPr lang="fr-FR" sz="2000" noProof="0" dirty="0"/>
          </a:p>
          <a:p>
            <a:pPr marL="0" indent="0">
              <a:buNone/>
            </a:pPr>
            <a:r>
              <a:rPr lang="fr-FR" sz="2000" noProof="0" dirty="0">
                <a:solidFill>
                  <a:srgbClr val="666666"/>
                </a:solidFill>
              </a:rPr>
              <a:t>CC : Qualité ou back-office selon la procédure interne</a:t>
            </a:r>
            <a:endParaRPr lang="fr-FR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10378440" cy="3246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7B7B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1143000" y="21488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100" b="1" noProof="0" dirty="0">
                <a:solidFill>
                  <a:srgbClr val="1F4E79"/>
                </a:solidFill>
              </a:rPr>
              <a:t>Objet : Suivi nécessaire – client </a:t>
            </a:r>
            <a:r>
              <a:rPr lang="fr-FR" sz="2000" dirty="0">
                <a:solidFill>
                  <a:srgbClr val="222222"/>
                </a:solidFill>
              </a:rPr>
              <a:t>[référence]</a:t>
            </a:r>
            <a:r>
              <a:rPr lang="fr-FR" sz="2100" b="1" noProof="0" dirty="0">
                <a:solidFill>
                  <a:srgbClr val="1F4E79"/>
                </a:solidFill>
              </a:rPr>
              <a:t> ayant rappelé 3 fois pour la même demande</a:t>
            </a:r>
            <a:endParaRPr lang="fr-FR" sz="2100" noProof="0" dirty="0"/>
          </a:p>
        </p:txBody>
      </p:sp>
      <p:sp>
        <p:nvSpPr>
          <p:cNvPr id="10" name="Text 8"/>
          <p:cNvSpPr/>
          <p:nvPr/>
        </p:nvSpPr>
        <p:spPr>
          <a:xfrm>
            <a:off x="1143000" y="2606040"/>
            <a:ext cx="9875520" cy="260604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fr-FR" sz="2400" noProof="0" dirty="0">
                <a:solidFill>
                  <a:srgbClr val="222222"/>
                </a:solidFill>
              </a:rPr>
              <a:t>Bonjour,</a:t>
            </a:r>
            <a:endParaRPr lang="fr-FR" sz="2400" noProof="0" dirty="0"/>
          </a:p>
          <a:p>
            <a:pPr marL="0" indent="0">
              <a:buNone/>
            </a:pPr>
            <a:r>
              <a:rPr lang="fr-FR" sz="2400" noProof="0" dirty="0">
                <a:solidFill>
                  <a:srgbClr val="222222"/>
                </a:solidFill>
              </a:rPr>
              <a:t>Le client a rappelé aujourd’hui pour la 3e fois concernant la demande [objet]. Dans l’outil, je vois une trace d’envoi mais aucun retour clair sur le statut.</a:t>
            </a:r>
            <a:endParaRPr lang="fr-FR" sz="2400" noProof="0" dirty="0"/>
          </a:p>
          <a:p>
            <a:pPr marL="0" indent="0">
              <a:buNone/>
            </a:pPr>
            <a:r>
              <a:rPr lang="fr-FR" sz="2400" noProof="0" dirty="0">
                <a:solidFill>
                  <a:srgbClr val="222222"/>
                </a:solidFill>
              </a:rPr>
              <a:t>Impact : le client est insatisfait et le traitement reste bloqué.</a:t>
            </a:r>
            <a:endParaRPr lang="fr-FR" sz="2400" noProof="0" dirty="0"/>
          </a:p>
          <a:p>
            <a:pPr marL="0" indent="0">
              <a:buNone/>
            </a:pPr>
            <a:r>
              <a:rPr lang="fr-FR" sz="2400" noProof="0" dirty="0">
                <a:solidFill>
                  <a:srgbClr val="222222"/>
                </a:solidFill>
              </a:rPr>
              <a:t>Action déjà faite : vérification de l’historique et des notes disponibles.</a:t>
            </a:r>
            <a:endParaRPr lang="fr-FR" sz="2400" noProof="0" dirty="0"/>
          </a:p>
          <a:p>
            <a:pPr marL="0" indent="0">
              <a:buNone/>
            </a:pPr>
            <a:r>
              <a:rPr lang="fr-FR" sz="2400" noProof="0" dirty="0">
                <a:solidFill>
                  <a:srgbClr val="222222"/>
                </a:solidFill>
              </a:rPr>
              <a:t>Besoin : merci de confirmer le statut réel et la réponse à communiquer au client.</a:t>
            </a:r>
            <a:endParaRPr lang="fr-FR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300" b="1" noProof="0" dirty="0">
                <a:solidFill>
                  <a:srgbClr val="9B1B60"/>
                </a:solidFill>
              </a:rPr>
              <a:t>Type IDEA : Demander + Alerter</a:t>
            </a:r>
            <a:endParaRPr lang="fr-FR" sz="23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2743200" y="22402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rgbClr val="6A3D7C"/>
                </a:solidFill>
              </a:rPr>
              <a:t>15 minutes</a:t>
            </a:r>
            <a:endParaRPr lang="fr-FR" sz="4400" noProof="0" dirty="0"/>
          </a:p>
        </p:txBody>
      </p:sp>
      <p:sp>
        <p:nvSpPr>
          <p:cNvPr id="8" name="Text 6"/>
          <p:cNvSpPr/>
          <p:nvPr/>
        </p:nvSpPr>
        <p:spPr>
          <a:xfrm>
            <a:off x="1828800" y="3246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noProof="0" dirty="0">
                <a:solidFill>
                  <a:srgbClr val="222222"/>
                </a:solidFill>
              </a:rPr>
              <a:t>À la reprise : clarifier les rôles avec RACI.</a:t>
            </a:r>
            <a:endParaRPr lang="fr-FR" sz="24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rôles se mélangent ?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fr-F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731520" y="1463039"/>
            <a:ext cx="5212080" cy="1801363"/>
          </a:xfrm>
          <a:prstGeom prst="roundRect">
            <a:avLst>
              <a:gd name="adj" fmla="val 7407"/>
            </a:avLst>
          </a:prstGeom>
          <a:solidFill>
            <a:srgbClr val="EAF3F8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896112" y="1581912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envoyé à tout le monde</a:t>
            </a:r>
            <a:endParaRPr lang="fr-FR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896112" y="1993391"/>
            <a:ext cx="4882896" cy="116128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fr-FR" sz="24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destinataires, mais personne ne sait qui doit agir.</a:t>
            </a:r>
            <a:endParaRPr lang="fr-FR" sz="2400" noProof="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39"/>
            <a:ext cx="5166360" cy="1801363"/>
          </a:xfrm>
          <a:prstGeom prst="roundRect">
            <a:avLst>
              <a:gd name="adj" fmla="val 7407"/>
            </a:avLst>
          </a:prstGeom>
          <a:solidFill>
            <a:srgbClr val="F3EAF7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6428232" y="158191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mal orientée</a:t>
            </a:r>
            <a:endParaRPr lang="fr-FR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6428232" y="1993391"/>
            <a:ext cx="4837176" cy="1161287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fr-FR" sz="24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part vers une personne qui peut donner un avis, mais pas décider.</a:t>
            </a:r>
            <a:endParaRPr lang="fr-FR" sz="2400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0" y="3501415"/>
            <a:ext cx="5212080" cy="1801363"/>
          </a:xfrm>
          <a:prstGeom prst="roundRect">
            <a:avLst>
              <a:gd name="adj" fmla="val 7407"/>
            </a:avLst>
          </a:prstGeom>
          <a:solidFill>
            <a:srgbClr val="FFF2CC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896112" y="3620288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contacté sans contexte</a:t>
            </a:r>
            <a:endParaRPr lang="fr-FR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896112" y="4031767"/>
            <a:ext cx="4882896" cy="1161287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fr-FR" sz="24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est signalé, mais sans faits, impact, urgence ou captures autorisées.</a:t>
            </a:r>
            <a:endParaRPr lang="fr-FR" sz="2400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3501415"/>
            <a:ext cx="5166360" cy="1801363"/>
          </a:xfrm>
          <a:prstGeom prst="roundRect">
            <a:avLst>
              <a:gd name="adj" fmla="val 7407"/>
            </a:avLst>
          </a:prstGeom>
          <a:solidFill>
            <a:srgbClr val="FCE4D6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6428232" y="3620288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 oublié</a:t>
            </a:r>
            <a:endParaRPr lang="fr-FR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6428232" y="4031767"/>
            <a:ext cx="4837176" cy="116128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fr-FR" sz="24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situation évolue, mais le responsable direct n’a pas la trace.</a:t>
            </a:r>
            <a:endParaRPr lang="fr-FR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1005840" y="5723777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1F4E79"/>
                </a:solidFill>
              </a:rPr>
              <a:t>Solution : clarifier les rôles avant d’envoyer le message.</a:t>
            </a:r>
            <a:endParaRPr lang="fr-FR" sz="24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en langage simple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832104" y="1335024"/>
            <a:ext cx="2450592" cy="749808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fr-FR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fr-FR" sz="1900" noProof="0" dirty="0"/>
          </a:p>
        </p:txBody>
      </p:sp>
      <p:sp>
        <p:nvSpPr>
          <p:cNvPr id="8" name="Text 6"/>
          <p:cNvSpPr/>
          <p:nvPr/>
        </p:nvSpPr>
        <p:spPr>
          <a:xfrm>
            <a:off x="3300984" y="1335024"/>
            <a:ext cx="3822192" cy="749808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simple</a:t>
            </a:r>
            <a:endParaRPr lang="fr-FR" sz="1900" noProof="0" dirty="0"/>
          </a:p>
        </p:txBody>
      </p:sp>
      <p:sp>
        <p:nvSpPr>
          <p:cNvPr id="9" name="Text 7"/>
          <p:cNvSpPr/>
          <p:nvPr/>
        </p:nvSpPr>
        <p:spPr>
          <a:xfrm>
            <a:off x="7141464" y="1335024"/>
            <a:ext cx="4279392" cy="749808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centre de contact</a:t>
            </a:r>
            <a:endParaRPr lang="fr-FR" sz="1900" noProof="0" dirty="0"/>
          </a:p>
        </p:txBody>
      </p:sp>
      <p:sp>
        <p:nvSpPr>
          <p:cNvPr id="10" name="Text 8"/>
          <p:cNvSpPr/>
          <p:nvPr/>
        </p:nvSpPr>
        <p:spPr>
          <a:xfrm>
            <a:off x="832104" y="2103120"/>
            <a:ext cx="24505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</a:t>
            </a:r>
            <a:r>
              <a:rPr lang="fr-FR" sz="1900" noProof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fr-FR" sz="1900" noProof="0" dirty="0"/>
          </a:p>
        </p:txBody>
      </p:sp>
      <p:sp>
        <p:nvSpPr>
          <p:cNvPr id="11" name="Text 9"/>
          <p:cNvSpPr/>
          <p:nvPr/>
        </p:nvSpPr>
        <p:spPr>
          <a:xfrm>
            <a:off x="3300984" y="2103120"/>
            <a:ext cx="38221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réalise l’action ?</a:t>
            </a:r>
            <a:endParaRPr lang="fr-FR" sz="1900" noProof="0" dirty="0"/>
          </a:p>
        </p:txBody>
      </p:sp>
      <p:sp>
        <p:nvSpPr>
          <p:cNvPr id="12" name="Text 10"/>
          <p:cNvSpPr/>
          <p:nvPr/>
        </p:nvSpPr>
        <p:spPr>
          <a:xfrm>
            <a:off x="7141464" y="2103120"/>
            <a:ext cx="42793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back-office, support IT, qualité…</a:t>
            </a:r>
            <a:endParaRPr lang="fr-FR" sz="1900" noProof="0" dirty="0"/>
          </a:p>
        </p:txBody>
      </p:sp>
      <p:sp>
        <p:nvSpPr>
          <p:cNvPr id="13" name="Text 11"/>
          <p:cNvSpPr/>
          <p:nvPr/>
        </p:nvSpPr>
        <p:spPr>
          <a:xfrm>
            <a:off x="832104" y="2871216"/>
            <a:ext cx="24505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</a:t>
            </a:r>
            <a:r>
              <a:rPr lang="fr-FR" sz="1900" noProof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fr-FR" sz="1900" noProof="0" dirty="0"/>
          </a:p>
        </p:txBody>
      </p:sp>
      <p:sp>
        <p:nvSpPr>
          <p:cNvPr id="14" name="Text 12"/>
          <p:cNvSpPr/>
          <p:nvPr/>
        </p:nvSpPr>
        <p:spPr>
          <a:xfrm>
            <a:off x="3300984" y="2871216"/>
            <a:ext cx="38221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valide ou assume la décision ?</a:t>
            </a:r>
            <a:endParaRPr lang="fr-FR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7141464" y="2871216"/>
            <a:ext cx="42793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Superviseur, manager, responsable process…</a:t>
            </a:r>
            <a:endParaRPr lang="fr-FR" sz="1900" noProof="0" dirty="0"/>
          </a:p>
        </p:txBody>
      </p:sp>
      <p:sp>
        <p:nvSpPr>
          <p:cNvPr id="16" name="Text 14"/>
          <p:cNvSpPr/>
          <p:nvPr/>
        </p:nvSpPr>
        <p:spPr>
          <a:xfrm>
            <a:off x="832104" y="3639312"/>
            <a:ext cx="24505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</a:t>
            </a:r>
            <a:r>
              <a:rPr lang="fr-FR" sz="1900" noProof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fr-FR" sz="1900" noProof="0" dirty="0"/>
          </a:p>
        </p:txBody>
      </p:sp>
      <p:sp>
        <p:nvSpPr>
          <p:cNvPr id="17" name="Text 15"/>
          <p:cNvSpPr/>
          <p:nvPr/>
        </p:nvSpPr>
        <p:spPr>
          <a:xfrm>
            <a:off x="3300984" y="3639312"/>
            <a:ext cx="38221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doit être consulté avant l’action ?</a:t>
            </a:r>
            <a:endParaRPr lang="fr-FR" sz="1900" noProof="0" dirty="0"/>
          </a:p>
        </p:txBody>
      </p:sp>
      <p:sp>
        <p:nvSpPr>
          <p:cNvPr id="18" name="Text 16"/>
          <p:cNvSpPr/>
          <p:nvPr/>
        </p:nvSpPr>
        <p:spPr>
          <a:xfrm>
            <a:off x="7141464" y="3639312"/>
            <a:ext cx="42793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Expert, qualité, formateur, support…</a:t>
            </a:r>
            <a:endParaRPr lang="fr-FR" sz="1900" noProof="0" dirty="0"/>
          </a:p>
        </p:txBody>
      </p:sp>
      <p:sp>
        <p:nvSpPr>
          <p:cNvPr id="19" name="Text 17"/>
          <p:cNvSpPr/>
          <p:nvPr/>
        </p:nvSpPr>
        <p:spPr>
          <a:xfrm>
            <a:off x="832104" y="4407408"/>
            <a:ext cx="24505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</a:t>
            </a:r>
            <a:r>
              <a:rPr lang="fr-FR" sz="1900" noProof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fr-FR" sz="1900" noProof="0" dirty="0"/>
          </a:p>
        </p:txBody>
      </p:sp>
      <p:sp>
        <p:nvSpPr>
          <p:cNvPr id="20" name="Text 18"/>
          <p:cNvSpPr/>
          <p:nvPr/>
        </p:nvSpPr>
        <p:spPr>
          <a:xfrm>
            <a:off x="3300984" y="4407408"/>
            <a:ext cx="38221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doit seulement être informé ?</a:t>
            </a:r>
            <a:endParaRPr lang="fr-FR" sz="1900" noProof="0" dirty="0"/>
          </a:p>
        </p:txBody>
      </p:sp>
      <p:sp>
        <p:nvSpPr>
          <p:cNvPr id="21" name="Text 19"/>
          <p:cNvSpPr/>
          <p:nvPr/>
        </p:nvSpPr>
        <p:spPr>
          <a:xfrm>
            <a:off x="7141464" y="4407408"/>
            <a:ext cx="427939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concernées par le suivi.</a:t>
            </a:r>
            <a:endParaRPr lang="fr-FR" sz="1900" noProof="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6A3D7C"/>
                </a:solidFill>
              </a:rPr>
              <a:t>RACI évite la phrase : « Je pensais que quelqu’un allait s’en occuper. »</a:t>
            </a:r>
            <a:endParaRPr lang="fr-FR" sz="22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RACI : outil interne bloqué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222222"/>
                </a:solidFill>
              </a:rPr>
              <a:t>Situation : un outil interne est indisponible depuis 20 minutes et plusieurs dossiers sont bloqués.</a:t>
            </a:r>
            <a:endParaRPr lang="fr-FR" sz="2200" noProof="0" dirty="0"/>
          </a:p>
        </p:txBody>
      </p:sp>
      <p:sp>
        <p:nvSpPr>
          <p:cNvPr id="8" name="Text 6"/>
          <p:cNvSpPr/>
          <p:nvPr/>
        </p:nvSpPr>
        <p:spPr>
          <a:xfrm>
            <a:off x="832104" y="1929384"/>
            <a:ext cx="1261872" cy="640080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</a:t>
            </a:r>
            <a:endParaRPr lang="fr-FR" sz="1900" noProof="0" dirty="0"/>
          </a:p>
        </p:txBody>
      </p:sp>
      <p:sp>
        <p:nvSpPr>
          <p:cNvPr id="9" name="Text 7"/>
          <p:cNvSpPr/>
          <p:nvPr/>
        </p:nvSpPr>
        <p:spPr>
          <a:xfrm>
            <a:off x="2112264" y="1929384"/>
            <a:ext cx="3822192" cy="640080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possible</a:t>
            </a:r>
            <a:endParaRPr lang="fr-FR" sz="1900" noProof="0" dirty="0"/>
          </a:p>
        </p:txBody>
      </p:sp>
      <p:sp>
        <p:nvSpPr>
          <p:cNvPr id="10" name="Text 8"/>
          <p:cNvSpPr/>
          <p:nvPr/>
        </p:nvSpPr>
        <p:spPr>
          <a:xfrm>
            <a:off x="5952744" y="1929384"/>
            <a:ext cx="5468112" cy="640080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fr-FR" sz="1900" noProof="0" dirty="0"/>
          </a:p>
        </p:txBody>
      </p:sp>
      <p:sp>
        <p:nvSpPr>
          <p:cNvPr id="11" name="Text 9"/>
          <p:cNvSpPr/>
          <p:nvPr/>
        </p:nvSpPr>
        <p:spPr>
          <a:xfrm>
            <a:off x="832104" y="2587752"/>
            <a:ext cx="126187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fr-FR" sz="1900" noProof="0" dirty="0"/>
          </a:p>
        </p:txBody>
      </p:sp>
      <p:sp>
        <p:nvSpPr>
          <p:cNvPr id="12" name="Text 10"/>
          <p:cNvSpPr/>
          <p:nvPr/>
        </p:nvSpPr>
        <p:spPr>
          <a:xfrm>
            <a:off x="2112264" y="2587752"/>
            <a:ext cx="382219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IT</a:t>
            </a:r>
            <a:endParaRPr lang="fr-FR" sz="1900" noProof="0" dirty="0"/>
          </a:p>
        </p:txBody>
      </p:sp>
      <p:sp>
        <p:nvSpPr>
          <p:cNvPr id="13" name="Text 11"/>
          <p:cNvSpPr/>
          <p:nvPr/>
        </p:nvSpPr>
        <p:spPr>
          <a:xfrm>
            <a:off x="5952744" y="2587752"/>
            <a:ext cx="546811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techniquement l’incident.</a:t>
            </a:r>
            <a:endParaRPr lang="fr-FR" sz="1900" noProof="0" dirty="0"/>
          </a:p>
        </p:txBody>
      </p:sp>
      <p:sp>
        <p:nvSpPr>
          <p:cNvPr id="14" name="Text 12"/>
          <p:cNvSpPr/>
          <p:nvPr/>
        </p:nvSpPr>
        <p:spPr>
          <a:xfrm>
            <a:off x="832104" y="3246120"/>
            <a:ext cx="126187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fr-FR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2112264" y="3246120"/>
            <a:ext cx="382219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 / Team Leader</a:t>
            </a:r>
            <a:endParaRPr lang="fr-FR" sz="1900" noProof="0" dirty="0"/>
          </a:p>
        </p:txBody>
      </p:sp>
      <p:sp>
        <p:nvSpPr>
          <p:cNvPr id="16" name="Text 14"/>
          <p:cNvSpPr/>
          <p:nvPr/>
        </p:nvSpPr>
        <p:spPr>
          <a:xfrm>
            <a:off x="5952744" y="3246120"/>
            <a:ext cx="546811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la priorité et suit l’impact opérationnel.</a:t>
            </a:r>
            <a:endParaRPr lang="fr-FR" sz="1900" noProof="0" dirty="0"/>
          </a:p>
        </p:txBody>
      </p:sp>
      <p:sp>
        <p:nvSpPr>
          <p:cNvPr id="17" name="Text 15"/>
          <p:cNvSpPr/>
          <p:nvPr/>
        </p:nvSpPr>
        <p:spPr>
          <a:xfrm>
            <a:off x="832104" y="3904488"/>
            <a:ext cx="126187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fr-FR" sz="1900" noProof="0" dirty="0"/>
          </a:p>
        </p:txBody>
      </p:sp>
      <p:sp>
        <p:nvSpPr>
          <p:cNvPr id="18" name="Text 16"/>
          <p:cNvSpPr/>
          <p:nvPr/>
        </p:nvSpPr>
        <p:spPr>
          <a:xfrm>
            <a:off x="2112264" y="3904488"/>
            <a:ext cx="382219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concerné / référent outil</a:t>
            </a:r>
            <a:endParaRPr lang="fr-FR" sz="1900" noProof="0" dirty="0"/>
          </a:p>
        </p:txBody>
      </p:sp>
      <p:sp>
        <p:nvSpPr>
          <p:cNvPr id="19" name="Text 17"/>
          <p:cNvSpPr/>
          <p:nvPr/>
        </p:nvSpPr>
        <p:spPr>
          <a:xfrm>
            <a:off x="5952744" y="3904488"/>
            <a:ext cx="546811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 les faits, captures autorisées et tests réalisés.</a:t>
            </a:r>
            <a:endParaRPr lang="fr-FR" sz="1900" noProof="0" dirty="0"/>
          </a:p>
        </p:txBody>
      </p:sp>
      <p:sp>
        <p:nvSpPr>
          <p:cNvPr id="20" name="Text 18"/>
          <p:cNvSpPr/>
          <p:nvPr/>
        </p:nvSpPr>
        <p:spPr>
          <a:xfrm>
            <a:off x="832104" y="4562856"/>
            <a:ext cx="126187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fr-FR" sz="1900" noProof="0" dirty="0"/>
          </a:p>
        </p:txBody>
      </p:sp>
      <p:sp>
        <p:nvSpPr>
          <p:cNvPr id="21" name="Text 19"/>
          <p:cNvSpPr/>
          <p:nvPr/>
        </p:nvSpPr>
        <p:spPr>
          <a:xfrm>
            <a:off x="2112264" y="4562856"/>
            <a:ext cx="382219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impactée / qualité si nécessaire</a:t>
            </a:r>
            <a:endParaRPr lang="fr-FR" sz="1900" noProof="0" dirty="0"/>
          </a:p>
        </p:txBody>
      </p:sp>
      <p:sp>
        <p:nvSpPr>
          <p:cNvPr id="22" name="Text 20"/>
          <p:cNvSpPr/>
          <p:nvPr/>
        </p:nvSpPr>
        <p:spPr>
          <a:xfrm>
            <a:off x="5952744" y="4562856"/>
            <a:ext cx="546811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9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l’évolution et adapte le traitement.</a:t>
            </a:r>
            <a:endParaRPr lang="fr-FR" sz="19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3 : compléter un mini-RACI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1F4E79"/>
                </a:solidFill>
              </a:rPr>
              <a:t>Consigne : pour chaque situation, proposez R, A, C et I.</a:t>
            </a:r>
            <a:endParaRPr lang="fr-FR" sz="2300" noProof="0" dirty="0"/>
          </a:p>
        </p:txBody>
      </p:sp>
      <p:sp>
        <p:nvSpPr>
          <p:cNvPr id="8" name="Text 6"/>
          <p:cNvSpPr/>
          <p:nvPr/>
        </p:nvSpPr>
        <p:spPr>
          <a:xfrm>
            <a:off x="694944" y="1792224"/>
            <a:ext cx="5285232" cy="694944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fr-FR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5998464" y="1792224"/>
            <a:ext cx="1353312" cy="694944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fr-FR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7370064" y="1792224"/>
            <a:ext cx="1353312" cy="694944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fr-FR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8741664" y="1792224"/>
            <a:ext cx="1353312" cy="694944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fr-FR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10113264" y="1792224"/>
            <a:ext cx="1353312" cy="694944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fr-FR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694944" y="2505456"/>
            <a:ext cx="528523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consigne opérationnelle est comprise différemment par deux agents.</a:t>
            </a:r>
            <a:endParaRPr lang="fr-FR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5998464" y="2505456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7370064" y="2505456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8741664" y="2505456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10113264" y="2505456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694944" y="3218688"/>
            <a:ext cx="528523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signale un problème répétitif qui semble venir d’une procédure interne.</a:t>
            </a:r>
            <a:endParaRPr lang="fr-FR" sz="1800" noProof="0" dirty="0"/>
          </a:p>
        </p:txBody>
      </p:sp>
      <p:sp>
        <p:nvSpPr>
          <p:cNvPr id="19" name="Text 17"/>
          <p:cNvSpPr/>
          <p:nvPr/>
        </p:nvSpPr>
        <p:spPr>
          <a:xfrm>
            <a:off x="5998464" y="3218688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20" name="Text 18"/>
          <p:cNvSpPr/>
          <p:nvPr/>
        </p:nvSpPr>
        <p:spPr>
          <a:xfrm>
            <a:off x="7370064" y="3218688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21" name="Text 19"/>
          <p:cNvSpPr/>
          <p:nvPr/>
        </p:nvSpPr>
        <p:spPr>
          <a:xfrm>
            <a:off x="8741664" y="3218688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10113264" y="3218688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23" name="Text 21"/>
          <p:cNvSpPr/>
          <p:nvPr/>
        </p:nvSpPr>
        <p:spPr>
          <a:xfrm>
            <a:off x="694944" y="3931920"/>
            <a:ext cx="528523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absence imprévue impacte la couverture du planning.</a:t>
            </a:r>
            <a:endParaRPr lang="fr-FR" sz="1800" noProof="0" dirty="0"/>
          </a:p>
        </p:txBody>
      </p:sp>
      <p:sp>
        <p:nvSpPr>
          <p:cNvPr id="24" name="Text 22"/>
          <p:cNvSpPr/>
          <p:nvPr/>
        </p:nvSpPr>
        <p:spPr>
          <a:xfrm>
            <a:off x="5998464" y="3931920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25" name="Text 23"/>
          <p:cNvSpPr/>
          <p:nvPr/>
        </p:nvSpPr>
        <p:spPr>
          <a:xfrm>
            <a:off x="7370064" y="3931920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26" name="Text 24"/>
          <p:cNvSpPr/>
          <p:nvPr/>
        </p:nvSpPr>
        <p:spPr>
          <a:xfrm>
            <a:off x="8741664" y="3931920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27" name="Text 25"/>
          <p:cNvSpPr/>
          <p:nvPr/>
        </p:nvSpPr>
        <p:spPr>
          <a:xfrm>
            <a:off x="10113264" y="3931920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28" name="Text 26"/>
          <p:cNvSpPr/>
          <p:nvPr/>
        </p:nvSpPr>
        <p:spPr>
          <a:xfrm>
            <a:off x="694944" y="4645152"/>
            <a:ext cx="528523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de traitement est détectée dans plusieurs dossiers.</a:t>
            </a:r>
            <a:endParaRPr lang="fr-FR" sz="1800" noProof="0" dirty="0"/>
          </a:p>
        </p:txBody>
      </p:sp>
      <p:sp>
        <p:nvSpPr>
          <p:cNvPr id="29" name="Text 27"/>
          <p:cNvSpPr/>
          <p:nvPr/>
        </p:nvSpPr>
        <p:spPr>
          <a:xfrm>
            <a:off x="5998464" y="4645152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30" name="Text 28"/>
          <p:cNvSpPr/>
          <p:nvPr/>
        </p:nvSpPr>
        <p:spPr>
          <a:xfrm>
            <a:off x="7370064" y="4645152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31" name="Text 29"/>
          <p:cNvSpPr/>
          <p:nvPr/>
        </p:nvSpPr>
        <p:spPr>
          <a:xfrm>
            <a:off x="8741664" y="4645152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32" name="Text 30"/>
          <p:cNvSpPr/>
          <p:nvPr/>
        </p:nvSpPr>
        <p:spPr>
          <a:xfrm>
            <a:off x="10113264" y="4645152"/>
            <a:ext cx="135331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33" name="Text 31"/>
          <p:cNvSpPr/>
          <p:nvPr/>
        </p:nvSpPr>
        <p:spPr>
          <a:xfrm>
            <a:off x="914400" y="55778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6A3D7C"/>
                </a:solidFill>
              </a:rPr>
              <a:t>Temps : 5 minutes en groupes de 3 ou 4.</a:t>
            </a:r>
            <a:endParaRPr lang="fr-FR" sz="22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possible : mini-RACI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512064" y="1335024"/>
            <a:ext cx="3273552" cy="877824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fr-FR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3803904" y="1335024"/>
            <a:ext cx="1993392" cy="877824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fr-FR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815584" y="1335024"/>
            <a:ext cx="2176272" cy="877824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fr-FR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8010144" y="1335024"/>
            <a:ext cx="2084832" cy="877824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fr-FR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0113264" y="1335024"/>
            <a:ext cx="1627632" cy="877824"/>
          </a:xfrm>
          <a:prstGeom prst="rect">
            <a:avLst/>
          </a:prstGeom>
          <a:solidFill>
            <a:srgbClr val="2F75B5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fr-FR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512064" y="2231136"/>
            <a:ext cx="327355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 comprise différemment</a:t>
            </a:r>
            <a:endParaRPr lang="fr-FR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3803904" y="2231136"/>
            <a:ext cx="199339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 clarifie</a:t>
            </a:r>
            <a:endParaRPr lang="fr-FR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5815584" y="2231136"/>
            <a:ext cx="217627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fr-FR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010144" y="2231136"/>
            <a:ext cx="208483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 process / qualité</a:t>
            </a:r>
            <a:endParaRPr lang="fr-FR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10113264" y="2231136"/>
            <a:ext cx="162763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concernés</a:t>
            </a:r>
            <a:endParaRPr lang="fr-FR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512064" y="3127248"/>
            <a:ext cx="327355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répétitif client</a:t>
            </a:r>
            <a:endParaRPr lang="fr-FR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3803904" y="3127248"/>
            <a:ext cx="199339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/ process analyse</a:t>
            </a:r>
            <a:endParaRPr lang="fr-FR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5815584" y="3127248"/>
            <a:ext cx="217627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opérationnel</a:t>
            </a:r>
            <a:endParaRPr lang="fr-FR" sz="1600" noProof="0" dirty="0"/>
          </a:p>
        </p:txBody>
      </p:sp>
      <p:sp>
        <p:nvSpPr>
          <p:cNvPr id="20" name="Text 18"/>
          <p:cNvSpPr/>
          <p:nvPr/>
        </p:nvSpPr>
        <p:spPr>
          <a:xfrm>
            <a:off x="8010144" y="3127248"/>
            <a:ext cx="208483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+ back-office</a:t>
            </a:r>
            <a:endParaRPr lang="fr-FR" sz="1600" noProof="0" dirty="0"/>
          </a:p>
        </p:txBody>
      </p:sp>
      <p:sp>
        <p:nvSpPr>
          <p:cNvPr id="21" name="Text 19"/>
          <p:cNvSpPr/>
          <p:nvPr/>
        </p:nvSpPr>
        <p:spPr>
          <a:xfrm>
            <a:off x="10113264" y="3127248"/>
            <a:ext cx="162763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concernée</a:t>
            </a:r>
            <a:endParaRPr lang="fr-FR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512064" y="4023360"/>
            <a:ext cx="327355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imprévue</a:t>
            </a:r>
            <a:endParaRPr lang="fr-FR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3803904" y="4023360"/>
            <a:ext cx="199339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/ superviseur ajuste</a:t>
            </a:r>
            <a:endParaRPr lang="fr-FR" sz="1600" noProof="0" dirty="0"/>
          </a:p>
        </p:txBody>
      </p:sp>
      <p:sp>
        <p:nvSpPr>
          <p:cNvPr id="24" name="Text 22"/>
          <p:cNvSpPr/>
          <p:nvPr/>
        </p:nvSpPr>
        <p:spPr>
          <a:xfrm>
            <a:off x="5815584" y="4023360"/>
            <a:ext cx="217627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opérationnel</a:t>
            </a:r>
            <a:endParaRPr lang="fr-FR" sz="1600" noProof="0" dirty="0"/>
          </a:p>
        </p:txBody>
      </p:sp>
      <p:sp>
        <p:nvSpPr>
          <p:cNvPr id="25" name="Text 23"/>
          <p:cNvSpPr/>
          <p:nvPr/>
        </p:nvSpPr>
        <p:spPr>
          <a:xfrm>
            <a:off x="8010144" y="4023360"/>
            <a:ext cx="208483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si nécessaire</a:t>
            </a:r>
            <a:endParaRPr lang="fr-FR" sz="1600" noProof="0" dirty="0"/>
          </a:p>
        </p:txBody>
      </p:sp>
      <p:sp>
        <p:nvSpPr>
          <p:cNvPr id="26" name="Text 24"/>
          <p:cNvSpPr/>
          <p:nvPr/>
        </p:nvSpPr>
        <p:spPr>
          <a:xfrm>
            <a:off x="10113264" y="4023360"/>
            <a:ext cx="162763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impactée</a:t>
            </a:r>
            <a:endParaRPr lang="fr-FR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512064" y="4919472"/>
            <a:ext cx="327355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sur plusieurs dossiers</a:t>
            </a:r>
            <a:endParaRPr lang="fr-FR" sz="1600" noProof="0" dirty="0"/>
          </a:p>
        </p:txBody>
      </p:sp>
      <p:sp>
        <p:nvSpPr>
          <p:cNvPr id="28" name="Text 26"/>
          <p:cNvSpPr/>
          <p:nvPr/>
        </p:nvSpPr>
        <p:spPr>
          <a:xfrm>
            <a:off x="3803904" y="4919472"/>
            <a:ext cx="199339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qualité identifient</a:t>
            </a:r>
            <a:endParaRPr lang="fr-FR" sz="1600" noProof="0" dirty="0"/>
          </a:p>
        </p:txBody>
      </p:sp>
      <p:sp>
        <p:nvSpPr>
          <p:cNvPr id="29" name="Text 27"/>
          <p:cNvSpPr/>
          <p:nvPr/>
        </p:nvSpPr>
        <p:spPr>
          <a:xfrm>
            <a:off x="5815584" y="4919472"/>
            <a:ext cx="217627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 / qualité</a:t>
            </a:r>
            <a:endParaRPr lang="fr-FR" sz="1600" noProof="0" dirty="0"/>
          </a:p>
        </p:txBody>
      </p:sp>
      <p:sp>
        <p:nvSpPr>
          <p:cNvPr id="30" name="Text 28"/>
          <p:cNvSpPr/>
          <p:nvPr/>
        </p:nvSpPr>
        <p:spPr>
          <a:xfrm>
            <a:off x="8010144" y="4919472"/>
            <a:ext cx="208483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/ formateur</a:t>
            </a:r>
            <a:endParaRPr lang="fr-FR" sz="1600" noProof="0" dirty="0"/>
          </a:p>
        </p:txBody>
      </p:sp>
      <p:sp>
        <p:nvSpPr>
          <p:cNvPr id="31" name="Text 29"/>
          <p:cNvSpPr/>
          <p:nvPr/>
        </p:nvSpPr>
        <p:spPr>
          <a:xfrm>
            <a:off x="10113264" y="4919472"/>
            <a:ext cx="1627632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concernée</a:t>
            </a:r>
            <a:endParaRPr lang="fr-FR" sz="1600" noProof="0" dirty="0"/>
          </a:p>
        </p:txBody>
      </p:sp>
      <p:sp>
        <p:nvSpPr>
          <p:cNvPr id="32" name="Text 30"/>
          <p:cNvSpPr/>
          <p:nvPr/>
        </p:nvSpPr>
        <p:spPr>
          <a:xfrm>
            <a:off x="914400" y="596188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100" b="1" noProof="0" dirty="0">
                <a:solidFill>
                  <a:srgbClr val="1F4E79"/>
                </a:solidFill>
              </a:rPr>
              <a:t>Important : les rôles exacts dépendent des procédures internes réelles.</a:t>
            </a:r>
            <a:endParaRPr lang="fr-FR" sz="21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4 : corriger un mauvais email interne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</a:rPr>
              <a:t>Message initial</a:t>
            </a:r>
            <a:endParaRPr lang="fr-FR" sz="2200" noProof="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10607040" cy="128016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1097280" y="1839311"/>
            <a:ext cx="10058400" cy="1132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222222"/>
                </a:solidFill>
              </a:rPr>
              <a:t>« Bonjour, le client a encore un problème. Merci de voir avec l’équipe concernée. »</a:t>
            </a:r>
            <a:endParaRPr lang="fr-FR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</a:rPr>
              <a:t>À améliorer</a:t>
            </a:r>
            <a:endParaRPr lang="fr-FR" sz="2200" noProof="0" dirty="0"/>
          </a:p>
        </p:txBody>
      </p:sp>
      <p:sp>
        <p:nvSpPr>
          <p:cNvPr id="11" name="Text 9"/>
          <p:cNvSpPr/>
          <p:nvPr/>
        </p:nvSpPr>
        <p:spPr>
          <a:xfrm>
            <a:off x="1097280" y="3749039"/>
            <a:ext cx="9966960" cy="2587749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fr-FR" sz="22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client ou quelle référence ?</a:t>
            </a:r>
            <a:endParaRPr lang="fr-FR" sz="2200" noProof="0" dirty="0"/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fr-FR" sz="22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problème exactement ?</a:t>
            </a:r>
            <a:endParaRPr lang="fr-FR" sz="2200" noProof="0" dirty="0"/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fr-FR" sz="22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quand ? Combien de fois ?</a:t>
            </a:r>
            <a:endParaRPr lang="fr-FR" sz="2200" noProof="0" dirty="0"/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fr-FR" sz="22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impact sur le traitement ou le client ?</a:t>
            </a:r>
            <a:endParaRPr lang="fr-FR" sz="2200" noProof="0" dirty="0"/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fr-FR" sz="22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action attendue et auprès de qui ?</a:t>
            </a:r>
            <a:endParaRPr lang="fr-FR" sz="22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possible : email corrigé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fr-F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10789920" cy="4160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7B7B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fr-FR" sz="2100" b="1" noProof="0" dirty="0">
                <a:solidFill>
                  <a:srgbClr val="1F4E79"/>
                </a:solidFill>
              </a:rPr>
              <a:t>Objet : Demande de traitement – problème répétitif sur dossier client [référence]</a:t>
            </a:r>
            <a:endParaRPr lang="fr-FR" sz="2100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</a:rPr>
              <a:t>Bonjour,</a:t>
            </a:r>
            <a:endParaRPr lang="fr-FR" sz="2000" noProof="0" dirty="0"/>
          </a:p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</a:rPr>
              <a:t>Le client [référence] a signalé aujourd’hui un problème répétitif concernant [description courte]. C’est le 3e contact sur le même sujet depuis [date].</a:t>
            </a:r>
          </a:p>
          <a:p>
            <a:pPr marL="0" indent="0">
              <a:buNone/>
            </a:pPr>
            <a:endParaRPr lang="fr-FR" sz="2000" noProof="0" dirty="0"/>
          </a:p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</a:rPr>
              <a:t>Impact : le dossier reste non clôturé et le client exprime une insatisfaction croissante.</a:t>
            </a:r>
          </a:p>
          <a:p>
            <a:pPr marL="0" indent="0">
              <a:buNone/>
            </a:pPr>
            <a:endParaRPr lang="fr-FR" sz="2000" noProof="0" dirty="0"/>
          </a:p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</a:rPr>
              <a:t>Action déjà faite : vérification de l’historique et consultation des notes disponibles.</a:t>
            </a:r>
          </a:p>
          <a:p>
            <a:pPr marL="0" indent="0">
              <a:buNone/>
            </a:pPr>
            <a:endParaRPr lang="fr-FR" sz="2000" noProof="0" dirty="0"/>
          </a:p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</a:rPr>
              <a:t>Besoin attendu : merci de confirmer l’équipe responsable du traitement et la réponse à communiquer au client.</a:t>
            </a:r>
            <a:endParaRPr lang="fr-FR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1051560" y="4617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6A3D7C"/>
                </a:solidFill>
              </a:rPr>
              <a:t>IDEA : Demander + Alerter   |   RACI : R = équipe de traitement / A = superviseur / C = qualité / I = agent concerné</a:t>
            </a:r>
            <a:endParaRPr lang="fr-FR" sz="20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Mini-simulation : choisir le bon message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fr-F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474720" cy="1463040"/>
          </a:xfrm>
          <a:prstGeom prst="roundRect">
            <a:avLst>
              <a:gd name="adj" fmla="val 9091"/>
            </a:avLst>
          </a:prstGeom>
          <a:solidFill>
            <a:srgbClr val="EAF3F8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941832" y="1536192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fr-FR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941832" y="1947671"/>
            <a:ext cx="3145536" cy="84124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formateur donne une situation courte.</a:t>
            </a:r>
            <a:endParaRPr lang="fr-FR" sz="2000" noProof="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474720" cy="1463040"/>
          </a:xfrm>
          <a:prstGeom prst="roundRect">
            <a:avLst>
              <a:gd name="adj" fmla="val 9091"/>
            </a:avLst>
          </a:prstGeom>
          <a:solidFill>
            <a:srgbClr val="F3EAF7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4599432" y="1536192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fr-FR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4599432" y="1947671"/>
            <a:ext cx="3145536" cy="841249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choisit IDEA : informer, demander, escalader ou alerter.</a:t>
            </a:r>
            <a:endParaRPr lang="fr-FR" sz="2000" noProof="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474720" cy="1463040"/>
          </a:xfrm>
          <a:prstGeom prst="roundRect">
            <a:avLst>
              <a:gd name="adj" fmla="val 9091"/>
            </a:avLst>
          </a:prstGeom>
          <a:solidFill>
            <a:srgbClr val="FFF2CC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8257032" y="1536192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fr-FR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8257032" y="1947671"/>
            <a:ext cx="3145536" cy="841249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précise RACI : qui fait, qui valide, qui consulte, qui est informé.</a:t>
            </a:r>
            <a:endParaRPr lang="fr-FR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68680" y="2880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1F4E79"/>
                </a:solidFill>
              </a:rPr>
              <a:t>Situations proposées</a:t>
            </a:r>
            <a:endParaRPr lang="fr-FR" sz="2400" noProof="0" dirty="0"/>
          </a:p>
        </p:txBody>
      </p:sp>
      <p:sp>
        <p:nvSpPr>
          <p:cNvPr id="17" name="Text 15"/>
          <p:cNvSpPr/>
          <p:nvPr/>
        </p:nvSpPr>
        <p:spPr>
          <a:xfrm>
            <a:off x="1097280" y="3428999"/>
            <a:ext cx="9875520" cy="22768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signale une contradiction entre deux réponses reçues.</a:t>
            </a:r>
            <a:endParaRPr lang="fr-FR" sz="2400" noProof="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n’arrive pas à accéder à un outil avant le début du shift.</a:t>
            </a:r>
            <a:endParaRPr lang="fr-FR" sz="2400" noProof="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information RH circule de manière informelle dans l’équipe.</a:t>
            </a:r>
            <a:endParaRPr lang="fr-FR" sz="2400" noProof="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indicateur qualité baisse pendant deux jours consécutifs.</a:t>
            </a:r>
            <a:endParaRPr lang="fr-FR" sz="22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: le réflexe avant d’envoyer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fr-F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1005840" y="1234440"/>
            <a:ext cx="475488" cy="47548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</a:rPr>
              <a:t>1</a:t>
            </a:r>
            <a:endParaRPr lang="fr-FR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1645920" y="12161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1F4E79"/>
                </a:solidFill>
              </a:rPr>
              <a:t>IDEA</a:t>
            </a:r>
            <a:endParaRPr lang="fr-FR" sz="2300" noProof="0" dirty="0"/>
          </a:p>
        </p:txBody>
      </p:sp>
      <p:sp>
        <p:nvSpPr>
          <p:cNvPr id="10" name="Text 8"/>
          <p:cNvSpPr/>
          <p:nvPr/>
        </p:nvSpPr>
        <p:spPr>
          <a:xfrm>
            <a:off x="3931920" y="121615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noProof="0" dirty="0">
                <a:solidFill>
                  <a:srgbClr val="222222"/>
                </a:solidFill>
              </a:rPr>
              <a:t>Je clarifie mon intention.</a:t>
            </a:r>
            <a:endParaRPr lang="fr-FR" sz="2200" noProof="0" dirty="0"/>
          </a:p>
        </p:txBody>
      </p:sp>
      <p:sp>
        <p:nvSpPr>
          <p:cNvPr id="11" name="Shape 9"/>
          <p:cNvSpPr/>
          <p:nvPr/>
        </p:nvSpPr>
        <p:spPr>
          <a:xfrm>
            <a:off x="1005840" y="2057400"/>
            <a:ext cx="475488" cy="47548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1005840" y="2130552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</a:rPr>
              <a:t>2</a:t>
            </a:r>
            <a:endParaRPr lang="fr-FR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1645920" y="20391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1F4E79"/>
                </a:solidFill>
              </a:rPr>
              <a:t>Destinataire</a:t>
            </a:r>
            <a:endParaRPr lang="fr-FR" sz="2300" noProof="0" dirty="0"/>
          </a:p>
        </p:txBody>
      </p:sp>
      <p:sp>
        <p:nvSpPr>
          <p:cNvPr id="14" name="Text 12"/>
          <p:cNvSpPr/>
          <p:nvPr/>
        </p:nvSpPr>
        <p:spPr>
          <a:xfrm>
            <a:off x="3931920" y="203911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noProof="0" dirty="0">
                <a:solidFill>
                  <a:srgbClr val="222222"/>
                </a:solidFill>
              </a:rPr>
              <a:t>Je choisis la bonne personne.</a:t>
            </a:r>
            <a:endParaRPr lang="fr-FR" sz="2200" noProof="0" dirty="0"/>
          </a:p>
        </p:txBody>
      </p:sp>
      <p:sp>
        <p:nvSpPr>
          <p:cNvPr id="15" name="Shape 13"/>
          <p:cNvSpPr/>
          <p:nvPr/>
        </p:nvSpPr>
        <p:spPr>
          <a:xfrm>
            <a:off x="1005840" y="2880360"/>
            <a:ext cx="475488" cy="47548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1005840" y="2953512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</a:rPr>
              <a:t>3</a:t>
            </a:r>
            <a:endParaRPr lang="fr-FR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1645920" y="28620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1F4E79"/>
                </a:solidFill>
              </a:rPr>
              <a:t>RACI</a:t>
            </a:r>
            <a:endParaRPr lang="fr-FR" sz="2300" noProof="0" dirty="0"/>
          </a:p>
        </p:txBody>
      </p:sp>
      <p:sp>
        <p:nvSpPr>
          <p:cNvPr id="18" name="Text 16"/>
          <p:cNvSpPr/>
          <p:nvPr/>
        </p:nvSpPr>
        <p:spPr>
          <a:xfrm>
            <a:off x="3931920" y="286207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noProof="0" dirty="0">
                <a:solidFill>
                  <a:srgbClr val="222222"/>
                </a:solidFill>
              </a:rPr>
              <a:t>Je clarifie qui fait quoi.</a:t>
            </a:r>
            <a:endParaRPr lang="fr-FR" sz="2200" noProof="0" dirty="0"/>
          </a:p>
        </p:txBody>
      </p:sp>
      <p:sp>
        <p:nvSpPr>
          <p:cNvPr id="19" name="Shape 17"/>
          <p:cNvSpPr/>
          <p:nvPr/>
        </p:nvSpPr>
        <p:spPr>
          <a:xfrm>
            <a:off x="1005840" y="3703320"/>
            <a:ext cx="475488" cy="47548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1005840" y="3776472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</a:rPr>
              <a:t>4</a:t>
            </a:r>
            <a:endParaRPr lang="fr-FR" sz="1800" noProof="0" dirty="0"/>
          </a:p>
        </p:txBody>
      </p:sp>
      <p:sp>
        <p:nvSpPr>
          <p:cNvPr id="21" name="Text 19"/>
          <p:cNvSpPr/>
          <p:nvPr/>
        </p:nvSpPr>
        <p:spPr>
          <a:xfrm>
            <a:off x="1645920" y="3685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1F4E79"/>
                </a:solidFill>
              </a:rPr>
              <a:t>Faits + Impact</a:t>
            </a:r>
            <a:endParaRPr lang="fr-FR" sz="2300" noProof="0" dirty="0"/>
          </a:p>
        </p:txBody>
      </p:sp>
      <p:sp>
        <p:nvSpPr>
          <p:cNvPr id="22" name="Text 20"/>
          <p:cNvSpPr/>
          <p:nvPr/>
        </p:nvSpPr>
        <p:spPr>
          <a:xfrm>
            <a:off x="3931920" y="368503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noProof="0" dirty="0">
                <a:solidFill>
                  <a:srgbClr val="222222"/>
                </a:solidFill>
              </a:rPr>
              <a:t>Je donne les informations utiles.</a:t>
            </a:r>
            <a:endParaRPr lang="fr-FR" sz="2200" noProof="0" dirty="0"/>
          </a:p>
        </p:txBody>
      </p:sp>
      <p:sp>
        <p:nvSpPr>
          <p:cNvPr id="23" name="Shape 21"/>
          <p:cNvSpPr/>
          <p:nvPr/>
        </p:nvSpPr>
        <p:spPr>
          <a:xfrm>
            <a:off x="1005840" y="4526280"/>
            <a:ext cx="475488" cy="47548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1005840" y="4599432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</a:rPr>
              <a:t>5</a:t>
            </a:r>
            <a:endParaRPr lang="fr-FR" sz="1800" noProof="0" dirty="0"/>
          </a:p>
        </p:txBody>
      </p:sp>
      <p:sp>
        <p:nvSpPr>
          <p:cNvPr id="25" name="Text 23"/>
          <p:cNvSpPr/>
          <p:nvPr/>
        </p:nvSpPr>
        <p:spPr>
          <a:xfrm>
            <a:off x="1645920" y="45079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300" b="1" noProof="0" dirty="0">
                <a:solidFill>
                  <a:srgbClr val="1F4E79"/>
                </a:solidFill>
              </a:rPr>
              <a:t>Action attendue</a:t>
            </a:r>
            <a:endParaRPr lang="fr-FR" sz="2300" noProof="0" dirty="0"/>
          </a:p>
        </p:txBody>
      </p:sp>
      <p:sp>
        <p:nvSpPr>
          <p:cNvPr id="26" name="Text 24"/>
          <p:cNvSpPr/>
          <p:nvPr/>
        </p:nvSpPr>
        <p:spPr>
          <a:xfrm>
            <a:off x="3931920" y="450799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noProof="0" dirty="0">
                <a:solidFill>
                  <a:srgbClr val="222222"/>
                </a:solidFill>
              </a:rPr>
              <a:t>Je demande une réponse, une validation ou un suivi.</a:t>
            </a:r>
            <a:endParaRPr lang="fr-FR" sz="2200" noProof="0" dirty="0"/>
          </a:p>
        </p:txBody>
      </p:sp>
      <p:sp>
        <p:nvSpPr>
          <p:cNvPr id="27" name="Shape 25"/>
          <p:cNvSpPr/>
          <p:nvPr/>
        </p:nvSpPr>
        <p:spPr>
          <a:xfrm>
            <a:off x="914400" y="5385816"/>
            <a:ext cx="10424160" cy="694944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1143000" y="5696712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1F4E79"/>
                </a:solidFill>
              </a:rPr>
              <a:t>Moins de messages vagues = plus de réactivité, moins de tensions et meilleure qualité de service.</a:t>
            </a:r>
            <a:endParaRPr lang="fr-FR" sz="20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Mini-plan d’action personnel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fr-F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1F4E79"/>
                </a:solidFill>
              </a:rPr>
              <a:t>Chaque participant complète une phrase :</a:t>
            </a:r>
            <a:endParaRPr lang="fr-FR" sz="2400" noProof="0" dirty="0"/>
          </a:p>
        </p:txBody>
      </p:sp>
      <p:sp>
        <p:nvSpPr>
          <p:cNvPr id="8" name="Text 6"/>
          <p:cNvSpPr/>
          <p:nvPr/>
        </p:nvSpPr>
        <p:spPr>
          <a:xfrm>
            <a:off x="969264" y="1883664"/>
            <a:ext cx="4828032" cy="568452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cette semaine, je vais…</a:t>
            </a:r>
            <a:endParaRPr lang="fr-FR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5815584" y="1883664"/>
            <a:ext cx="5285232" cy="568452"/>
          </a:xfrm>
          <a:prstGeom prst="rect">
            <a:avLst/>
          </a:prstGeom>
          <a:solidFill>
            <a:srgbClr val="D9EAF7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exemple concret</a:t>
            </a:r>
            <a:endParaRPr lang="fr-FR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969264" y="2470404"/>
            <a:ext cx="4828032" cy="5684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mieux préciser l’objet de mes messages internes</a:t>
            </a:r>
            <a:endParaRPr lang="fr-FR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5815584" y="2470404"/>
            <a:ext cx="5285232" cy="5684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969264" y="3057144"/>
            <a:ext cx="4828032" cy="5684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indiquer clairement l’action attendue</a:t>
            </a:r>
            <a:endParaRPr lang="fr-FR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5815584" y="3057144"/>
            <a:ext cx="5285232" cy="5684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969264" y="3643884"/>
            <a:ext cx="4828032" cy="5684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les CC inutiles</a:t>
            </a:r>
            <a:endParaRPr lang="fr-FR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5815584" y="3643884"/>
            <a:ext cx="5285232" cy="5684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969264" y="4230624"/>
            <a:ext cx="4828032" cy="5684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IDEA avant d’envoyer</a:t>
            </a:r>
            <a:endParaRPr lang="fr-FR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5815584" y="4230624"/>
            <a:ext cx="5285232" cy="5684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969264" y="4817364"/>
            <a:ext cx="4828032" cy="5684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clarifier RACI quand la responsabilité n’est pas évidente</a:t>
            </a:r>
            <a:endParaRPr lang="fr-FR" sz="1800" noProof="0" dirty="0"/>
          </a:p>
        </p:txBody>
      </p:sp>
      <p:sp>
        <p:nvSpPr>
          <p:cNvPr id="19" name="Text 17"/>
          <p:cNvSpPr/>
          <p:nvPr/>
        </p:nvSpPr>
        <p:spPr>
          <a:xfrm>
            <a:off x="5815584" y="4817364"/>
            <a:ext cx="5285232" cy="568452"/>
          </a:xfrm>
          <a:prstGeom prst="rect">
            <a:avLst/>
          </a:prstGeom>
          <a:solidFill>
            <a:srgbClr val="FFFFFF"/>
          </a:solidFill>
          <a:ln w="8890">
            <a:solidFill>
              <a:srgbClr val="B7B7B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6A3D7C"/>
                </a:solidFill>
              </a:rPr>
              <a:t>Temps : 5 minutes, puis partage volontaire.</a:t>
            </a:r>
            <a:endParaRPr lang="fr-FR" sz="22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vers la séance 3</a:t>
            </a:r>
            <a:endParaRPr lang="fr-F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professionnelle</a:t>
            </a: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27080" cy="0"/>
          </a:xfrm>
          <a:prstGeom prst="line">
            <a:avLst/>
          </a:prstGeom>
          <a:noFill/>
          <a:ln w="12700">
            <a:solidFill>
              <a:srgbClr val="6A3D7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201400" y="6428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fr-F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EAF3F8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987552" y="1536192"/>
            <a:ext cx="1018641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fr-FR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987552" y="1947672"/>
            <a:ext cx="10186416" cy="530352"/>
          </a:xfrm>
          <a:prstGeom prst="rect">
            <a:avLst/>
          </a:prstGeom>
          <a:noFill/>
          <a:ln/>
        </p:spPr>
        <p:txBody>
          <a:bodyPr wrap="square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avons pratiqué IDEA, la transformation des situations en messages internes et la clarification des rôles avec RACI.</a:t>
            </a:r>
            <a:endParaRPr lang="fr-FR" sz="2000" noProof="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F3EAF7"/>
          </a:solidFill>
          <a:ln w="12700">
            <a:solidFill>
              <a:srgbClr val="C9D7E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987552" y="3090672"/>
            <a:ext cx="1018641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fr-FR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987552" y="3502152"/>
            <a:ext cx="10186416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fr-FR" sz="2000" noProof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urgences, les alertes et les escalades internes avec plus de méthode et de précision.</a:t>
            </a:r>
            <a:endParaRPr lang="fr-FR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1F4E79"/>
                </a:solidFill>
              </a:rPr>
              <a:t>Question de clôture : quel réflexe vais-je appliquer dès mon prochain message interne ?</a:t>
            </a:r>
            <a:endParaRPr lang="fr-FR" sz="24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2555</Words>
  <Application>Microsoft Office PowerPoint</Application>
  <PresentationFormat>Widescreen</PresentationFormat>
  <Paragraphs>392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Formation interne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2 - Communication interne professionnelle</dc:title>
  <dc:subject>Communication interne professionnelle</dc:subject>
  <dc:creator>Youssef Joul</dc:creator>
  <cp:lastModifiedBy>Youssef Joul</cp:lastModifiedBy>
  <cp:revision>3</cp:revision>
  <dcterms:created xsi:type="dcterms:W3CDTF">2026-06-01T20:29:01Z</dcterms:created>
  <dcterms:modified xsi:type="dcterms:W3CDTF">2026-06-02T00:07:00Z</dcterms:modified>
</cp:coreProperties>
</file>