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la séance comme un passage de la formulation à la production opérationnelle : email, rapport, suivi et incident. Insister sur le fait que PDCA va aider à relier toutes les méthodes déjà étudiées.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 rapide uniquement. Ne pas réexpliquer chaque méthode. Montrer que PDCA est une méthode chapeau qui aide à utiliser les autres dans le bon ordre.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Lire les objectifs rapidement. Prévenir les participants que la séance sera très pratique : beaucoup d’écriture et de correction collective.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le rythme. L’objectif est d’appliquer les méthodes sur trois livrables : email, rapport, suivi.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Expliquer PDCA avec une situation simple : un incident est mal remonté. On planifie mieux, on rédige, on vérifie, puis on améliore la prochaine remontée.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slide est centrale. Faire comprendre que l’on n’ajoute pas une méthode de plus pour compliquer, mais une logique qui relie toutes les méthodes déjà apprises.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Laisser les participants travailler. Le but est de leur faire préparer avant d’écrire. Corriger en montrant la différence entre agir vite et agir sans structurer.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répéter toute la séance 3. Présenter l’email comme premier livrable opérationnel complet.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lire le modèle. Demander aux participants où apparaît FIAB : faits, impact, action faite, besoin.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rédiger réellement. Demander à deux participants de lire leur proposition. Valoriser la précision des faits et la clarté du besoin attendu.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les points forts : objet, destinataire, faits, impact, action faite, besoin. Faire repérer PDCA : préparation, rédaction, vérification, amélioration possible du suivi.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les types de rapports. Expliquer que la séance va se concentrer sur les plus utiles : quotidien, incident/escalade et suivi.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le rapport quotidien comme un outil de continuité entre shifts ou équipes. Le rapport doit rester court et utile.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Demander aux binômes de rédiger sous forme de rapport, pas d’email. Corriger avec la logique PDCA : planifier le rapport, produire, vérifier, améliorer.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Expliquer que le suivi n’est pas une relance agressive. C’est une trace de coordination.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Annoncer l’heure exacte de reprise.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 sur le ton factuel. Un rapport d’incident n’accuse pas, il documente et aide à corriger.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la différence entre alerte et escalade. L’escalade demande un arbitrage ou une décision supérieure.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travailler en groupes. La situation A est plutôt incident avec possibilité d’alerte. La situation B est plutôt escalade car décision hors niveau.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la confidentialité avec des exemples simples. Elle ne bloque pas la communication, elle la rend professionnelle et maîtrisée.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répondre oralement. L’objectif est de développer le réflexe de prudence sans bloquer le travail.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Proposer ces phrases comme banque utile. Demander aux participants d’en reformuler deux avec leurs propres mots.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grille prépare l’atelier final. Faire comprendre que le contrôle n’est pas une perte de temps : il évite les retours inutiles.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l’exercice principal de la séance. Les participants doivent mobiliser toutes les méthodes.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Utiliser cette grille pour corriger sans humilier. Demander au groupe de proposer des améliorations concrètes.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que le mini-rapport n’est pas long, mais il contient les informations essentielles et une proposition d’amélioration.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répéter la logique PDCA. Demander à un participant de donner un exemple pour chaque étape.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Donner 3 minutes de réflexion puis demander quelques partages volontaires.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Clôturer avec la question. Remercier les participants et annoncer que la suite portera sur l’email et l’organisation numérique.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Shape 1"/>
          <p:cNvSpPr/>
          <p:nvPr/>
        </p:nvSpPr>
        <p:spPr>
          <a:xfrm>
            <a:off x="0" y="0"/>
            <a:ext cx="12191695" cy="777240"/>
          </a:xfrm>
          <a:prstGeom prst="rect">
            <a:avLst/>
          </a:prstGeom>
          <a:solidFill>
            <a:srgbClr val="2F6DB7"/>
          </a:solidFill>
          <a:ln w="12700">
            <a:solidFill>
              <a:srgbClr val="2F6DB7"/>
            </a:solidFill>
            <a:prstDash val="solid"/>
          </a:ln>
        </p:spPr>
      </p:sp>
      <p:sp>
        <p:nvSpPr>
          <p:cNvPr id="4" name="Text 2"/>
          <p:cNvSpPr/>
          <p:nvPr/>
        </p:nvSpPr>
        <p:spPr>
          <a:xfrm>
            <a:off x="502920" y="914400"/>
            <a:ext cx="1920240" cy="411480"/>
          </a:xfrm>
          <a:prstGeom prst="rect">
            <a:avLst/>
          </a:prstGeom>
          <a:noFill/>
          <a:ln/>
        </p:spPr>
        <p:txBody>
          <a:bodyPr wrap="square" lIns="0" tIns="0" rIns="0" bIns="0" rtlCol="0" anchor="ctr"/>
          <a:lstStyle/>
          <a:p>
            <a:pPr indent="0" marL="0">
              <a:buNone/>
            </a:pPr>
            <a:r>
              <a:rPr lang="en-US" sz="3000" b="1" dirty="0">
                <a:solidFill>
                  <a:srgbClr val="6B2C83"/>
                </a:solidFill>
              </a:rPr>
              <a:t>Séance 4</a:t>
            </a:r>
            <a:endParaRPr lang="en-US" sz="3000" dirty="0"/>
          </a:p>
        </p:txBody>
      </p:sp>
      <p:sp>
        <p:nvSpPr>
          <p:cNvPr id="5" name="Text 3"/>
          <p:cNvSpPr/>
          <p:nvPr/>
        </p:nvSpPr>
        <p:spPr>
          <a:xfrm>
            <a:off x="502920" y="1417320"/>
            <a:ext cx="7315200" cy="365760"/>
          </a:xfrm>
          <a:prstGeom prst="rect">
            <a:avLst/>
          </a:prstGeom>
          <a:noFill/>
          <a:ln/>
        </p:spPr>
        <p:txBody>
          <a:bodyPr wrap="square" lIns="0" tIns="0" rIns="0" bIns="0" rtlCol="0" anchor="ctr"/>
          <a:lstStyle/>
          <a:p>
            <a:pPr indent="0" marL="0">
              <a:buNone/>
            </a:pPr>
            <a:r>
              <a:rPr lang="en-US" sz="2400" b="1" dirty="0">
                <a:solidFill>
                  <a:srgbClr val="1D3557"/>
                </a:solidFill>
              </a:rPr>
              <a:t>Communication interne professionnelle</a:t>
            </a:r>
            <a:endParaRPr lang="en-US" sz="2400" dirty="0"/>
          </a:p>
        </p:txBody>
      </p:sp>
      <p:sp>
        <p:nvSpPr>
          <p:cNvPr id="6" name="Text 4"/>
          <p:cNvSpPr/>
          <p:nvPr/>
        </p:nvSpPr>
        <p:spPr>
          <a:xfrm>
            <a:off x="502920" y="1965960"/>
            <a:ext cx="10789920" cy="731520"/>
          </a:xfrm>
          <a:prstGeom prst="rect">
            <a:avLst/>
          </a:prstGeom>
          <a:noFill/>
          <a:ln/>
        </p:spPr>
        <p:txBody>
          <a:bodyPr wrap="square" lIns="254" tIns="254" rIns="254" bIns="254" rtlCol="0" anchor="ctr">
            <a:normAutofit/>
          </a:bodyPr>
          <a:lstStyle/>
          <a:p>
            <a:pPr indent="0" marL="0">
              <a:buNone/>
            </a:pPr>
            <a:r>
              <a:rPr lang="en-US" sz="3200" b="1" dirty="0">
                <a:solidFill>
                  <a:srgbClr val="111827"/>
                </a:solidFill>
              </a:rPr>
              <a:t>Rédiger des emails, rapports internes et suivis professionnels</a:t>
            </a:r>
            <a:endParaRPr lang="en-US" sz="3200" dirty="0"/>
          </a:p>
        </p:txBody>
      </p:sp>
      <p:sp>
        <p:nvSpPr>
          <p:cNvPr id="7" name="Text 5"/>
          <p:cNvSpPr/>
          <p:nvPr/>
        </p:nvSpPr>
        <p:spPr>
          <a:xfrm>
            <a:off x="502920" y="2907792"/>
            <a:ext cx="10424160" cy="411480"/>
          </a:xfrm>
          <a:prstGeom prst="rect">
            <a:avLst/>
          </a:prstGeom>
          <a:noFill/>
          <a:ln/>
        </p:spPr>
        <p:txBody>
          <a:bodyPr wrap="square" lIns="254" tIns="254" rIns="254" bIns="254" rtlCol="0" anchor="ctr"/>
          <a:lstStyle/>
          <a:p>
            <a:pPr indent="0" marL="0">
              <a:buNone/>
            </a:pPr>
            <a:r>
              <a:rPr lang="en-US" sz="2000" dirty="0">
                <a:solidFill>
                  <a:srgbClr val="374151"/>
                </a:solidFill>
              </a:rPr>
              <a:t>Transformer une situation de travail en écrit clair, traçable, confidentiel et orienté amélioration</a:t>
            </a:r>
            <a:endParaRPr lang="en-US" sz="2000" dirty="0"/>
          </a:p>
        </p:txBody>
      </p:sp>
      <p:sp>
        <p:nvSpPr>
          <p:cNvPr id="8" name="Text 6"/>
          <p:cNvSpPr/>
          <p:nvPr/>
        </p:nvSpPr>
        <p:spPr>
          <a:xfrm>
            <a:off x="502920" y="3886200"/>
            <a:ext cx="4937760" cy="320040"/>
          </a:xfrm>
          <a:prstGeom prst="rect">
            <a:avLst/>
          </a:prstGeom>
          <a:noFill/>
          <a:ln/>
        </p:spPr>
        <p:txBody>
          <a:bodyPr wrap="square" lIns="0" tIns="0" rIns="0" bIns="0" rtlCol="0" anchor="ctr"/>
          <a:lstStyle/>
          <a:p>
            <a:pPr indent="0" marL="0">
              <a:buNone/>
            </a:pPr>
            <a:r>
              <a:rPr lang="en-US" sz="2000" dirty="0">
                <a:solidFill>
                  <a:srgbClr val="1D3557"/>
                </a:solidFill>
              </a:rPr>
              <a:t>Durée : 3 h avec pause · Approche pratique</a:t>
            </a:r>
            <a:endParaRPr lang="en-US" sz="2000" dirty="0"/>
          </a:p>
        </p:txBody>
      </p:sp>
      <p:sp>
        <p:nvSpPr>
          <p:cNvPr id="9" name="Shape 7"/>
          <p:cNvSpPr/>
          <p:nvPr/>
        </p:nvSpPr>
        <p:spPr>
          <a:xfrm>
            <a:off x="502920" y="4407408"/>
            <a:ext cx="3840480" cy="475488"/>
          </a:xfrm>
          <a:prstGeom prst="roundRect">
            <a:avLst>
              <a:gd name="adj" fmla="val 15385"/>
            </a:avLst>
          </a:prstGeom>
          <a:solidFill>
            <a:srgbClr val="E8F1FB"/>
          </a:solidFill>
          <a:ln w="12700">
            <a:solidFill>
              <a:srgbClr val="2F6DB7"/>
            </a:solidFill>
            <a:prstDash val="solid"/>
          </a:ln>
        </p:spPr>
      </p:sp>
      <p:sp>
        <p:nvSpPr>
          <p:cNvPr id="10" name="Text 8"/>
          <p:cNvSpPr/>
          <p:nvPr/>
        </p:nvSpPr>
        <p:spPr>
          <a:xfrm>
            <a:off x="685800" y="4544568"/>
            <a:ext cx="3474720" cy="182880"/>
          </a:xfrm>
          <a:prstGeom prst="rect">
            <a:avLst/>
          </a:prstGeom>
          <a:noFill/>
          <a:ln/>
        </p:spPr>
        <p:txBody>
          <a:bodyPr wrap="square" lIns="0" tIns="0" rIns="0" bIns="0" rtlCol="0" anchor="ctr"/>
          <a:lstStyle/>
          <a:p>
            <a:pPr algn="ctr" indent="0" marL="0">
              <a:buNone/>
            </a:pPr>
            <a:r>
              <a:rPr lang="en-US" sz="1800" b="1" dirty="0">
                <a:solidFill>
                  <a:srgbClr val="2F6DB7"/>
                </a:solidFill>
              </a:rPr>
              <a:t>30 % explication  |  70 % pratique</a:t>
            </a:r>
            <a:endParaRPr lang="en-US" sz="1800" dirty="0"/>
          </a:p>
        </p:txBody>
      </p:sp>
      <p:sp>
        <p:nvSpPr>
          <p:cNvPr id="11" name="Text 9"/>
          <p:cNvSpPr/>
          <p:nvPr/>
        </p:nvSpPr>
        <p:spPr>
          <a:xfrm>
            <a:off x="502920" y="5897880"/>
            <a:ext cx="5943600" cy="320040"/>
          </a:xfrm>
          <a:prstGeom prst="rect">
            <a:avLst/>
          </a:prstGeom>
          <a:noFill/>
          <a:ln/>
        </p:spPr>
        <p:txBody>
          <a:bodyPr wrap="square" lIns="0" tIns="0" rIns="0" bIns="0" rtlCol="0" anchor="ctr"/>
          <a:lstStyle/>
          <a:p>
            <a:pPr indent="0" marL="0">
              <a:buNone/>
            </a:pPr>
            <a:r>
              <a:rPr lang="en-US" sz="1800" dirty="0">
                <a:solidFill>
                  <a:srgbClr val="6B7280"/>
                </a:solidFill>
              </a:rPr>
              <a:t>Youssef Joul | Formateur en Entreprise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2F6DB7"/>
          </a:solidFill>
          <a:ln w="12700">
            <a:solidFill>
              <a:srgbClr val="2F6DB7"/>
            </a:solidFill>
            <a:prstDash val="solid"/>
          </a:ln>
        </p:spPr>
      </p:sp>
      <p:sp>
        <p:nvSpPr>
          <p:cNvPr id="3" name="Text 1"/>
          <p:cNvSpPr/>
          <p:nvPr/>
        </p:nvSpPr>
        <p:spPr>
          <a:xfrm>
            <a:off x="228600" y="109728"/>
            <a:ext cx="1234440" cy="23774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Séance 4</a:t>
            </a:r>
            <a:endParaRPr lang="en-US" sz="1400" dirty="0"/>
          </a:p>
        </p:txBody>
      </p:sp>
      <p:sp>
        <p:nvSpPr>
          <p:cNvPr id="4" name="Text 2"/>
          <p:cNvSpPr/>
          <p:nvPr/>
        </p:nvSpPr>
        <p:spPr>
          <a:xfrm>
            <a:off x="7315200" y="109728"/>
            <a:ext cx="4480560" cy="237744"/>
          </a:xfrm>
          <a:prstGeom prst="rect">
            <a:avLst/>
          </a:prstGeom>
          <a:noFill/>
          <a:ln/>
        </p:spPr>
        <p:txBody>
          <a:bodyPr wrap="square" lIns="0" tIns="0" rIns="0" bIns="0" rtlCol="0" anchor="ctr"/>
          <a:lstStyle/>
          <a:p>
            <a:pPr algn="r" indent="0" marL="0">
              <a:buNone/>
            </a:pPr>
            <a:r>
              <a:rPr lang="en-US" sz="1400" b="1" dirty="0">
                <a:solidFill>
                  <a:srgbClr val="FFFFFF"/>
                </a:solidFill>
                <a:latin typeface="Arial" pitchFamily="34" charset="0"/>
                <a:ea typeface="Arial" pitchFamily="34" charset="-122"/>
                <a:cs typeface="Arial" pitchFamily="34" charset="-120"/>
              </a:rPr>
              <a:t>Communication interne professionnelle</a:t>
            </a:r>
            <a:endParaRPr lang="en-US" sz="1400" dirty="0"/>
          </a:p>
        </p:txBody>
      </p:sp>
      <p:sp>
        <p:nvSpPr>
          <p:cNvPr id="5" name="Shape 3"/>
          <p:cNvSpPr/>
          <p:nvPr/>
        </p:nvSpPr>
        <p:spPr>
          <a:xfrm>
            <a:off x="0" y="6574536"/>
            <a:ext cx="12191695" cy="283464"/>
          </a:xfrm>
          <a:prstGeom prst="rect">
            <a:avLst/>
          </a:prstGeom>
          <a:solidFill>
            <a:srgbClr val="F5F7FA"/>
          </a:solidFill>
          <a:ln w="12700">
            <a:solidFill>
              <a:srgbClr val="F5F7FA"/>
            </a:solidFill>
            <a:prstDash val="solid"/>
          </a:ln>
        </p:spPr>
      </p:sp>
      <p:sp>
        <p:nvSpPr>
          <p:cNvPr id="6" name="Text 4"/>
          <p:cNvSpPr/>
          <p:nvPr/>
        </p:nvSpPr>
        <p:spPr>
          <a:xfrm>
            <a:off x="11567160" y="6629400"/>
            <a:ext cx="320040" cy="164592"/>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7" name="Text 5"/>
          <p:cNvSpPr/>
          <p:nvPr/>
        </p:nvSpPr>
        <p:spPr>
          <a:xfrm>
            <a:off x="502920" y="749808"/>
            <a:ext cx="11201400" cy="347472"/>
          </a:xfrm>
          <a:prstGeom prst="rect">
            <a:avLst/>
          </a:prstGeom>
          <a:noFill/>
          <a:ln/>
        </p:spPr>
        <p:txBody>
          <a:bodyPr wrap="square" lIns="254" tIns="254" rIns="254" bIns="254" rtlCol="0" anchor="ctr">
            <a:normAutofit/>
          </a:bodyPr>
          <a:lstStyle/>
          <a:p>
            <a:pPr indent="0" marL="0">
              <a:buNone/>
            </a:pPr>
            <a:r>
              <a:rPr lang="en-US" sz="3000" b="1" dirty="0">
                <a:solidFill>
                  <a:srgbClr val="6B2C83"/>
                </a:solidFill>
                <a:latin typeface="Arial" pitchFamily="34" charset="0"/>
                <a:ea typeface="Arial" pitchFamily="34" charset="-122"/>
                <a:cs typeface="Arial" pitchFamily="34" charset="-120"/>
              </a:rPr>
              <a:t>Point de départ : ce qui est déjà acquis</a:t>
            </a:r>
            <a:endParaRPr lang="en-US" sz="3000" dirty="0"/>
          </a:p>
        </p:txBody>
      </p:sp>
      <p:sp>
        <p:nvSpPr>
          <p:cNvPr id="8" name="Text 6"/>
          <p:cNvSpPr/>
          <p:nvPr/>
        </p:nvSpPr>
        <p:spPr>
          <a:xfrm>
            <a:off x="530352" y="1161288"/>
            <a:ext cx="10789920" cy="155448"/>
          </a:xfrm>
          <a:prstGeom prst="rect">
            <a:avLst/>
          </a:prstGeom>
          <a:noFill/>
          <a:ln/>
        </p:spPr>
        <p:txBody>
          <a:bodyPr wrap="square" lIns="0" tIns="0" rIns="0" bIns="0" rtlCol="0" anchor="ctr"/>
          <a:lstStyle/>
          <a:p>
            <a:pPr indent="0" marL="0">
              <a:buNone/>
            </a:pPr>
            <a:r>
              <a:rPr lang="en-US" sz="1500" dirty="0">
                <a:solidFill>
                  <a:srgbClr val="6B7280"/>
                </a:solidFill>
                <a:latin typeface="Arial" pitchFamily="34" charset="0"/>
                <a:ea typeface="Arial" pitchFamily="34" charset="-122"/>
                <a:cs typeface="Arial" pitchFamily="34" charset="-120"/>
              </a:rPr>
              <a:t>Formation interne – centre de contact et services digitaux</a:t>
            </a:r>
            <a:endParaRPr lang="en-US" sz="1500" dirty="0"/>
          </a:p>
        </p:txBody>
      </p:sp>
      <p:sp>
        <p:nvSpPr>
          <p:cNvPr id="9" name="Shape 7"/>
          <p:cNvSpPr/>
          <p:nvPr/>
        </p:nvSpPr>
        <p:spPr>
          <a:xfrm>
            <a:off x="548640" y="1600200"/>
            <a:ext cx="5394960" cy="868680"/>
          </a:xfrm>
          <a:prstGeom prst="roundRect">
            <a:avLst>
              <a:gd name="adj" fmla="val 6316"/>
            </a:avLst>
          </a:prstGeom>
          <a:solidFill>
            <a:srgbClr val="FFFFFF"/>
          </a:solidFill>
          <a:ln w="15240">
            <a:solidFill>
              <a:srgbClr val="6B2C83"/>
            </a:solidFill>
            <a:prstDash val="solid"/>
          </a:ln>
        </p:spPr>
      </p:sp>
      <p:sp>
        <p:nvSpPr>
          <p:cNvPr id="10" name="Shape 8"/>
          <p:cNvSpPr/>
          <p:nvPr/>
        </p:nvSpPr>
        <p:spPr>
          <a:xfrm>
            <a:off x="658368" y="1719072"/>
            <a:ext cx="658368" cy="384048"/>
          </a:xfrm>
          <a:prstGeom prst="roundRect">
            <a:avLst>
              <a:gd name="adj" fmla="val 11905"/>
            </a:avLst>
          </a:prstGeom>
          <a:solidFill>
            <a:srgbClr val="6B2C83"/>
          </a:solidFill>
          <a:ln w="12700">
            <a:solidFill>
              <a:srgbClr val="6B2C83"/>
            </a:solidFill>
            <a:prstDash val="solid"/>
          </a:ln>
        </p:spPr>
      </p:sp>
      <p:sp>
        <p:nvSpPr>
          <p:cNvPr id="11" name="Text 9"/>
          <p:cNvSpPr/>
          <p:nvPr/>
        </p:nvSpPr>
        <p:spPr>
          <a:xfrm>
            <a:off x="685800" y="1783080"/>
            <a:ext cx="603504" cy="164592"/>
          </a:xfrm>
          <a:prstGeom prst="rect">
            <a:avLst/>
          </a:prstGeom>
          <a:noFill/>
          <a:ln/>
        </p:spPr>
        <p:txBody>
          <a:bodyPr wrap="square" lIns="0" tIns="0" rIns="0" bIns="0" rtlCol="0" anchor="ctr"/>
          <a:lstStyle/>
          <a:p>
            <a:pPr algn="ctr" indent="0" marL="0">
              <a:buNone/>
            </a:pPr>
            <a:r>
              <a:rPr lang="en-US" sz="1400" b="1" dirty="0">
                <a:solidFill>
                  <a:srgbClr val="FFFFFF"/>
                </a:solidFill>
              </a:rPr>
              <a:t>CLAIR</a:t>
            </a:r>
            <a:endParaRPr lang="en-US" sz="1400" dirty="0"/>
          </a:p>
        </p:txBody>
      </p:sp>
      <p:sp>
        <p:nvSpPr>
          <p:cNvPr id="12" name="Text 10"/>
          <p:cNvSpPr/>
          <p:nvPr/>
        </p:nvSpPr>
        <p:spPr>
          <a:xfrm>
            <a:off x="1417320" y="1709928"/>
            <a:ext cx="4434840" cy="256032"/>
          </a:xfrm>
          <a:prstGeom prst="rect">
            <a:avLst/>
          </a:prstGeom>
          <a:noFill/>
          <a:ln/>
        </p:spPr>
        <p:txBody>
          <a:bodyPr wrap="square" lIns="254" tIns="254" rIns="254" bIns="254" rtlCol="0" anchor="ctr">
            <a:normAutofit/>
          </a:bodyPr>
          <a:lstStyle/>
          <a:p>
            <a:pPr indent="0" marL="0">
              <a:buNone/>
            </a:pPr>
            <a:r>
              <a:rPr lang="en-US" sz="1800" b="1" dirty="0">
                <a:solidFill>
                  <a:srgbClr val="6B2C83"/>
                </a:solidFill>
              </a:rPr>
              <a:t>Structurer le fond</a:t>
            </a:r>
            <a:endParaRPr lang="en-US" sz="1800" dirty="0"/>
          </a:p>
        </p:txBody>
      </p:sp>
      <p:sp>
        <p:nvSpPr>
          <p:cNvPr id="13" name="Text 11"/>
          <p:cNvSpPr/>
          <p:nvPr/>
        </p:nvSpPr>
        <p:spPr>
          <a:xfrm>
            <a:off x="713232" y="2194560"/>
            <a:ext cx="5065776" cy="182880"/>
          </a:xfrm>
          <a:prstGeom prst="rect">
            <a:avLst/>
          </a:prstGeom>
          <a:noFill/>
          <a:ln/>
        </p:spPr>
        <p:txBody>
          <a:bodyPr wrap="square" lIns="254" tIns="254" rIns="254" bIns="254" rtlCol="0" anchor="ctr">
            <a:normAutofit/>
          </a:bodyPr>
          <a:lstStyle/>
          <a:p>
            <a:pPr indent="0" marL="0">
              <a:buNone/>
            </a:pPr>
            <a:r>
              <a:rPr lang="en-US" sz="1600" dirty="0">
                <a:solidFill>
                  <a:srgbClr val="374151"/>
                </a:solidFill>
              </a:rPr>
              <a:t>Contexte · Lien organisationnel · Action attendue · Information utile · Retour</a:t>
            </a:r>
            <a:endParaRPr lang="en-US" sz="1600" dirty="0"/>
          </a:p>
        </p:txBody>
      </p:sp>
      <p:sp>
        <p:nvSpPr>
          <p:cNvPr id="14" name="Shape 12"/>
          <p:cNvSpPr/>
          <p:nvPr/>
        </p:nvSpPr>
        <p:spPr>
          <a:xfrm>
            <a:off x="6263640" y="1600200"/>
            <a:ext cx="5394960" cy="868680"/>
          </a:xfrm>
          <a:prstGeom prst="roundRect">
            <a:avLst>
              <a:gd name="adj" fmla="val 6316"/>
            </a:avLst>
          </a:prstGeom>
          <a:solidFill>
            <a:srgbClr val="FFFFFF"/>
          </a:solidFill>
          <a:ln w="15240">
            <a:solidFill>
              <a:srgbClr val="2F6DB7"/>
            </a:solidFill>
            <a:prstDash val="solid"/>
          </a:ln>
        </p:spPr>
      </p:sp>
      <p:sp>
        <p:nvSpPr>
          <p:cNvPr id="15" name="Shape 13"/>
          <p:cNvSpPr/>
          <p:nvPr/>
        </p:nvSpPr>
        <p:spPr>
          <a:xfrm>
            <a:off x="6373368" y="1719072"/>
            <a:ext cx="658368" cy="384048"/>
          </a:xfrm>
          <a:prstGeom prst="roundRect">
            <a:avLst>
              <a:gd name="adj" fmla="val 11905"/>
            </a:avLst>
          </a:prstGeom>
          <a:solidFill>
            <a:srgbClr val="2F6DB7"/>
          </a:solidFill>
          <a:ln w="12700">
            <a:solidFill>
              <a:srgbClr val="2F6DB7"/>
            </a:solidFill>
            <a:prstDash val="solid"/>
          </a:ln>
        </p:spPr>
      </p:sp>
      <p:sp>
        <p:nvSpPr>
          <p:cNvPr id="16" name="Text 14"/>
          <p:cNvSpPr/>
          <p:nvPr/>
        </p:nvSpPr>
        <p:spPr>
          <a:xfrm>
            <a:off x="6400800" y="1783080"/>
            <a:ext cx="603504" cy="164592"/>
          </a:xfrm>
          <a:prstGeom prst="rect">
            <a:avLst/>
          </a:prstGeom>
          <a:noFill/>
          <a:ln/>
        </p:spPr>
        <p:txBody>
          <a:bodyPr wrap="square" lIns="0" tIns="0" rIns="0" bIns="0" rtlCol="0" anchor="ctr"/>
          <a:lstStyle/>
          <a:p>
            <a:pPr algn="ctr" indent="0" marL="0">
              <a:buNone/>
            </a:pPr>
            <a:r>
              <a:rPr lang="en-US" sz="1400" b="1" dirty="0">
                <a:solidFill>
                  <a:srgbClr val="FFFFFF"/>
                </a:solidFill>
              </a:rPr>
              <a:t>IDEA</a:t>
            </a:r>
            <a:endParaRPr lang="en-US" sz="1400" dirty="0"/>
          </a:p>
        </p:txBody>
      </p:sp>
      <p:sp>
        <p:nvSpPr>
          <p:cNvPr id="17" name="Text 15"/>
          <p:cNvSpPr/>
          <p:nvPr/>
        </p:nvSpPr>
        <p:spPr>
          <a:xfrm>
            <a:off x="7132320" y="1709928"/>
            <a:ext cx="4434840" cy="256032"/>
          </a:xfrm>
          <a:prstGeom prst="rect">
            <a:avLst/>
          </a:prstGeom>
          <a:noFill/>
          <a:ln/>
        </p:spPr>
        <p:txBody>
          <a:bodyPr wrap="square" lIns="254" tIns="254" rIns="254" bIns="254" rtlCol="0" anchor="ctr">
            <a:normAutofit/>
          </a:bodyPr>
          <a:lstStyle/>
          <a:p>
            <a:pPr indent="0" marL="0">
              <a:buNone/>
            </a:pPr>
            <a:r>
              <a:rPr lang="en-US" sz="1800" b="1" dirty="0">
                <a:solidFill>
                  <a:srgbClr val="2F6DB7"/>
                </a:solidFill>
              </a:rPr>
              <a:t>Clarifier l’intention</a:t>
            </a:r>
            <a:endParaRPr lang="en-US" sz="1800" dirty="0"/>
          </a:p>
        </p:txBody>
      </p:sp>
      <p:sp>
        <p:nvSpPr>
          <p:cNvPr id="18" name="Text 16"/>
          <p:cNvSpPr/>
          <p:nvPr/>
        </p:nvSpPr>
        <p:spPr>
          <a:xfrm>
            <a:off x="6428232" y="2194560"/>
            <a:ext cx="5065776" cy="182880"/>
          </a:xfrm>
          <a:prstGeom prst="rect">
            <a:avLst/>
          </a:prstGeom>
          <a:noFill/>
          <a:ln/>
        </p:spPr>
        <p:txBody>
          <a:bodyPr wrap="square" lIns="254" tIns="254" rIns="254" bIns="254" rtlCol="0" anchor="ctr">
            <a:normAutofit/>
          </a:bodyPr>
          <a:lstStyle/>
          <a:p>
            <a:pPr indent="0" marL="0">
              <a:buNone/>
            </a:pPr>
            <a:r>
              <a:rPr lang="en-US" sz="1600" dirty="0">
                <a:solidFill>
                  <a:srgbClr val="374151"/>
                </a:solidFill>
              </a:rPr>
              <a:t>Informer · Demander · Escalader · Alerter</a:t>
            </a:r>
            <a:endParaRPr lang="en-US" sz="1600" dirty="0"/>
          </a:p>
        </p:txBody>
      </p:sp>
      <p:sp>
        <p:nvSpPr>
          <p:cNvPr id="19" name="Shape 17"/>
          <p:cNvSpPr/>
          <p:nvPr/>
        </p:nvSpPr>
        <p:spPr>
          <a:xfrm>
            <a:off x="548640" y="2651760"/>
            <a:ext cx="5394960" cy="868680"/>
          </a:xfrm>
          <a:prstGeom prst="roundRect">
            <a:avLst>
              <a:gd name="adj" fmla="val 6316"/>
            </a:avLst>
          </a:prstGeom>
          <a:solidFill>
            <a:srgbClr val="FFFFFF"/>
          </a:solidFill>
          <a:ln w="15240">
            <a:solidFill>
              <a:srgbClr val="2F6DB7"/>
            </a:solidFill>
            <a:prstDash val="solid"/>
          </a:ln>
        </p:spPr>
      </p:sp>
      <p:sp>
        <p:nvSpPr>
          <p:cNvPr id="20" name="Shape 18"/>
          <p:cNvSpPr/>
          <p:nvPr/>
        </p:nvSpPr>
        <p:spPr>
          <a:xfrm>
            <a:off x="658368" y="2770632"/>
            <a:ext cx="658368" cy="384048"/>
          </a:xfrm>
          <a:prstGeom prst="roundRect">
            <a:avLst>
              <a:gd name="adj" fmla="val 11905"/>
            </a:avLst>
          </a:prstGeom>
          <a:solidFill>
            <a:srgbClr val="2F6DB7"/>
          </a:solidFill>
          <a:ln w="12700">
            <a:solidFill>
              <a:srgbClr val="2F6DB7"/>
            </a:solidFill>
            <a:prstDash val="solid"/>
          </a:ln>
        </p:spPr>
      </p:sp>
      <p:sp>
        <p:nvSpPr>
          <p:cNvPr id="21" name="Text 19"/>
          <p:cNvSpPr/>
          <p:nvPr/>
        </p:nvSpPr>
        <p:spPr>
          <a:xfrm>
            <a:off x="685800" y="2834640"/>
            <a:ext cx="603504" cy="164592"/>
          </a:xfrm>
          <a:prstGeom prst="rect">
            <a:avLst/>
          </a:prstGeom>
          <a:noFill/>
          <a:ln/>
        </p:spPr>
        <p:txBody>
          <a:bodyPr wrap="square" lIns="0" tIns="0" rIns="0" bIns="0" rtlCol="0" anchor="ctr"/>
          <a:lstStyle/>
          <a:p>
            <a:pPr algn="ctr" indent="0" marL="0">
              <a:buNone/>
            </a:pPr>
            <a:r>
              <a:rPr lang="en-US" sz="1400" b="1" dirty="0">
                <a:solidFill>
                  <a:srgbClr val="FFFFFF"/>
                </a:solidFill>
              </a:rPr>
              <a:t>RACI</a:t>
            </a:r>
            <a:endParaRPr lang="en-US" sz="1400" dirty="0"/>
          </a:p>
        </p:txBody>
      </p:sp>
      <p:sp>
        <p:nvSpPr>
          <p:cNvPr id="22" name="Text 20"/>
          <p:cNvSpPr/>
          <p:nvPr/>
        </p:nvSpPr>
        <p:spPr>
          <a:xfrm>
            <a:off x="1417320" y="2761488"/>
            <a:ext cx="4434840" cy="256032"/>
          </a:xfrm>
          <a:prstGeom prst="rect">
            <a:avLst/>
          </a:prstGeom>
          <a:noFill/>
          <a:ln/>
        </p:spPr>
        <p:txBody>
          <a:bodyPr wrap="square" lIns="254" tIns="254" rIns="254" bIns="254" rtlCol="0" anchor="ctr">
            <a:normAutofit/>
          </a:bodyPr>
          <a:lstStyle/>
          <a:p>
            <a:pPr indent="0" marL="0">
              <a:buNone/>
            </a:pPr>
            <a:r>
              <a:rPr lang="en-US" sz="1800" b="1" dirty="0">
                <a:solidFill>
                  <a:srgbClr val="2F6DB7"/>
                </a:solidFill>
              </a:rPr>
              <a:t>Clarifier les rôles</a:t>
            </a:r>
            <a:endParaRPr lang="en-US" sz="1800" dirty="0"/>
          </a:p>
        </p:txBody>
      </p:sp>
      <p:sp>
        <p:nvSpPr>
          <p:cNvPr id="23" name="Text 21"/>
          <p:cNvSpPr/>
          <p:nvPr/>
        </p:nvSpPr>
        <p:spPr>
          <a:xfrm>
            <a:off x="713232" y="3246120"/>
            <a:ext cx="5065776" cy="182880"/>
          </a:xfrm>
          <a:prstGeom prst="rect">
            <a:avLst/>
          </a:prstGeom>
          <a:noFill/>
          <a:ln/>
        </p:spPr>
        <p:txBody>
          <a:bodyPr wrap="square" lIns="254" tIns="254" rIns="254" bIns="254" rtlCol="0" anchor="ctr">
            <a:normAutofit/>
          </a:bodyPr>
          <a:lstStyle/>
          <a:p>
            <a:pPr indent="0" marL="0">
              <a:buNone/>
            </a:pPr>
            <a:r>
              <a:rPr lang="en-US" sz="1600" dirty="0">
                <a:solidFill>
                  <a:srgbClr val="374151"/>
                </a:solidFill>
              </a:rPr>
              <a:t>Responsible · Accountable · Consulted · Informed</a:t>
            </a:r>
            <a:endParaRPr lang="en-US" sz="1600" dirty="0"/>
          </a:p>
        </p:txBody>
      </p:sp>
      <p:sp>
        <p:nvSpPr>
          <p:cNvPr id="24" name="Shape 22"/>
          <p:cNvSpPr/>
          <p:nvPr/>
        </p:nvSpPr>
        <p:spPr>
          <a:xfrm>
            <a:off x="6263640" y="2651760"/>
            <a:ext cx="5394960" cy="868680"/>
          </a:xfrm>
          <a:prstGeom prst="roundRect">
            <a:avLst>
              <a:gd name="adj" fmla="val 6316"/>
            </a:avLst>
          </a:prstGeom>
          <a:solidFill>
            <a:srgbClr val="FFFFFF"/>
          </a:solidFill>
          <a:ln w="15240">
            <a:solidFill>
              <a:srgbClr val="6B2C83"/>
            </a:solidFill>
            <a:prstDash val="solid"/>
          </a:ln>
        </p:spPr>
      </p:sp>
      <p:sp>
        <p:nvSpPr>
          <p:cNvPr id="25" name="Shape 23"/>
          <p:cNvSpPr/>
          <p:nvPr/>
        </p:nvSpPr>
        <p:spPr>
          <a:xfrm>
            <a:off x="6373368" y="2770632"/>
            <a:ext cx="658368" cy="384048"/>
          </a:xfrm>
          <a:prstGeom prst="roundRect">
            <a:avLst>
              <a:gd name="adj" fmla="val 11905"/>
            </a:avLst>
          </a:prstGeom>
          <a:solidFill>
            <a:srgbClr val="6B2C83"/>
          </a:solidFill>
          <a:ln w="12700">
            <a:solidFill>
              <a:srgbClr val="6B2C83"/>
            </a:solidFill>
            <a:prstDash val="solid"/>
          </a:ln>
        </p:spPr>
      </p:sp>
      <p:sp>
        <p:nvSpPr>
          <p:cNvPr id="26" name="Text 24"/>
          <p:cNvSpPr/>
          <p:nvPr/>
        </p:nvSpPr>
        <p:spPr>
          <a:xfrm>
            <a:off x="6400800" y="2834640"/>
            <a:ext cx="603504" cy="164592"/>
          </a:xfrm>
          <a:prstGeom prst="rect">
            <a:avLst/>
          </a:prstGeom>
          <a:noFill/>
          <a:ln/>
        </p:spPr>
        <p:txBody>
          <a:bodyPr wrap="square" lIns="0" tIns="0" rIns="0" bIns="0" rtlCol="0" anchor="ctr"/>
          <a:lstStyle/>
          <a:p>
            <a:pPr algn="ctr" indent="0" marL="0">
              <a:buNone/>
            </a:pPr>
            <a:r>
              <a:rPr lang="en-US" sz="1400" b="1" dirty="0">
                <a:solidFill>
                  <a:srgbClr val="FFFFFF"/>
                </a:solidFill>
              </a:rPr>
              <a:t>FIAB</a:t>
            </a:r>
            <a:endParaRPr lang="en-US" sz="1400" dirty="0"/>
          </a:p>
        </p:txBody>
      </p:sp>
      <p:sp>
        <p:nvSpPr>
          <p:cNvPr id="27" name="Text 25"/>
          <p:cNvSpPr/>
          <p:nvPr/>
        </p:nvSpPr>
        <p:spPr>
          <a:xfrm>
            <a:off x="7132320" y="2761488"/>
            <a:ext cx="4434840" cy="256032"/>
          </a:xfrm>
          <a:prstGeom prst="rect">
            <a:avLst/>
          </a:prstGeom>
          <a:noFill/>
          <a:ln/>
        </p:spPr>
        <p:txBody>
          <a:bodyPr wrap="square" lIns="254" tIns="254" rIns="254" bIns="254" rtlCol="0" anchor="ctr">
            <a:normAutofit/>
          </a:bodyPr>
          <a:lstStyle/>
          <a:p>
            <a:pPr indent="0" marL="0">
              <a:buNone/>
            </a:pPr>
            <a:r>
              <a:rPr lang="en-US" sz="1800" b="1" dirty="0">
                <a:solidFill>
                  <a:srgbClr val="6B2C83"/>
                </a:solidFill>
              </a:rPr>
              <a:t>Construire le contenu</a:t>
            </a:r>
            <a:endParaRPr lang="en-US" sz="1800" dirty="0"/>
          </a:p>
        </p:txBody>
      </p:sp>
      <p:sp>
        <p:nvSpPr>
          <p:cNvPr id="28" name="Text 26"/>
          <p:cNvSpPr/>
          <p:nvPr/>
        </p:nvSpPr>
        <p:spPr>
          <a:xfrm>
            <a:off x="6428232" y="3246120"/>
            <a:ext cx="5065776" cy="182880"/>
          </a:xfrm>
          <a:prstGeom prst="rect">
            <a:avLst/>
          </a:prstGeom>
          <a:noFill/>
          <a:ln/>
        </p:spPr>
        <p:txBody>
          <a:bodyPr wrap="square" lIns="254" tIns="254" rIns="254" bIns="254" rtlCol="0" anchor="ctr">
            <a:normAutofit/>
          </a:bodyPr>
          <a:lstStyle/>
          <a:p>
            <a:pPr indent="0" marL="0">
              <a:buNone/>
            </a:pPr>
            <a:r>
              <a:rPr lang="en-US" sz="1600" dirty="0">
                <a:solidFill>
                  <a:srgbClr val="374151"/>
                </a:solidFill>
              </a:rPr>
              <a:t>Faits · Impact · Action faite · Besoin attendu</a:t>
            </a:r>
            <a:endParaRPr lang="en-US" sz="1600" dirty="0"/>
          </a:p>
        </p:txBody>
      </p:sp>
      <p:sp>
        <p:nvSpPr>
          <p:cNvPr id="29" name="Shape 27"/>
          <p:cNvSpPr/>
          <p:nvPr/>
        </p:nvSpPr>
        <p:spPr>
          <a:xfrm>
            <a:off x="548640" y="3703320"/>
            <a:ext cx="5394960" cy="868680"/>
          </a:xfrm>
          <a:prstGeom prst="roundRect">
            <a:avLst>
              <a:gd name="adj" fmla="val 6316"/>
            </a:avLst>
          </a:prstGeom>
          <a:solidFill>
            <a:srgbClr val="FFFFFF"/>
          </a:solidFill>
          <a:ln w="15240">
            <a:solidFill>
              <a:srgbClr val="6B2C83"/>
            </a:solidFill>
            <a:prstDash val="solid"/>
          </a:ln>
        </p:spPr>
      </p:sp>
      <p:sp>
        <p:nvSpPr>
          <p:cNvPr id="30" name="Shape 28"/>
          <p:cNvSpPr/>
          <p:nvPr/>
        </p:nvSpPr>
        <p:spPr>
          <a:xfrm>
            <a:off x="658368" y="3822192"/>
            <a:ext cx="658368" cy="384048"/>
          </a:xfrm>
          <a:prstGeom prst="roundRect">
            <a:avLst>
              <a:gd name="adj" fmla="val 11905"/>
            </a:avLst>
          </a:prstGeom>
          <a:solidFill>
            <a:srgbClr val="6B2C83"/>
          </a:solidFill>
          <a:ln w="12700">
            <a:solidFill>
              <a:srgbClr val="6B2C83"/>
            </a:solidFill>
            <a:prstDash val="solid"/>
          </a:ln>
        </p:spPr>
      </p:sp>
      <p:sp>
        <p:nvSpPr>
          <p:cNvPr id="31" name="Text 29"/>
          <p:cNvSpPr/>
          <p:nvPr/>
        </p:nvSpPr>
        <p:spPr>
          <a:xfrm>
            <a:off x="685800" y="3886200"/>
            <a:ext cx="603504" cy="164592"/>
          </a:xfrm>
          <a:prstGeom prst="rect">
            <a:avLst/>
          </a:prstGeom>
          <a:noFill/>
          <a:ln/>
        </p:spPr>
        <p:txBody>
          <a:bodyPr wrap="square" lIns="0" tIns="0" rIns="0" bIns="0" rtlCol="0" anchor="ctr"/>
          <a:lstStyle/>
          <a:p>
            <a:pPr algn="ctr" indent="0" marL="0">
              <a:buNone/>
            </a:pPr>
            <a:r>
              <a:rPr lang="en-US" sz="1400" b="1" dirty="0">
                <a:solidFill>
                  <a:srgbClr val="FFFFFF"/>
                </a:solidFill>
              </a:rPr>
              <a:t>PLACE</a:t>
            </a:r>
            <a:endParaRPr lang="en-US" sz="1400" dirty="0"/>
          </a:p>
        </p:txBody>
      </p:sp>
      <p:sp>
        <p:nvSpPr>
          <p:cNvPr id="32" name="Text 30"/>
          <p:cNvSpPr/>
          <p:nvPr/>
        </p:nvSpPr>
        <p:spPr>
          <a:xfrm>
            <a:off x="1417320" y="3813048"/>
            <a:ext cx="4434840" cy="256032"/>
          </a:xfrm>
          <a:prstGeom prst="rect">
            <a:avLst/>
          </a:prstGeom>
          <a:noFill/>
          <a:ln/>
        </p:spPr>
        <p:txBody>
          <a:bodyPr wrap="square" lIns="254" tIns="254" rIns="254" bIns="254" rtlCol="0" anchor="ctr">
            <a:normAutofit/>
          </a:bodyPr>
          <a:lstStyle/>
          <a:p>
            <a:pPr indent="0" marL="0">
              <a:buNone/>
            </a:pPr>
            <a:r>
              <a:rPr lang="en-US" sz="1800" b="1" dirty="0">
                <a:solidFill>
                  <a:srgbClr val="6B2C83"/>
                </a:solidFill>
              </a:rPr>
              <a:t>Soigner la forme</a:t>
            </a:r>
            <a:endParaRPr lang="en-US" sz="1800" dirty="0"/>
          </a:p>
        </p:txBody>
      </p:sp>
      <p:sp>
        <p:nvSpPr>
          <p:cNvPr id="33" name="Text 31"/>
          <p:cNvSpPr/>
          <p:nvPr/>
        </p:nvSpPr>
        <p:spPr>
          <a:xfrm>
            <a:off x="713232" y="4297680"/>
            <a:ext cx="5065776" cy="182880"/>
          </a:xfrm>
          <a:prstGeom prst="rect">
            <a:avLst/>
          </a:prstGeom>
          <a:noFill/>
          <a:ln/>
        </p:spPr>
        <p:txBody>
          <a:bodyPr wrap="square" lIns="254" tIns="254" rIns="254" bIns="254" rtlCol="0" anchor="ctr">
            <a:normAutofit/>
          </a:bodyPr>
          <a:lstStyle/>
          <a:p>
            <a:pPr indent="0" marL="0">
              <a:buNone/>
            </a:pPr>
            <a:r>
              <a:rPr lang="en-US" sz="1600" dirty="0">
                <a:solidFill>
                  <a:srgbClr val="374151"/>
                </a:solidFill>
              </a:rPr>
              <a:t>Position · Lisibilité · Alignement · Clarté visuelle · Espacement</a:t>
            </a:r>
            <a:endParaRPr lang="en-US" sz="1600" dirty="0"/>
          </a:p>
        </p:txBody>
      </p:sp>
      <p:sp>
        <p:nvSpPr>
          <p:cNvPr id="34" name="Shape 32"/>
          <p:cNvSpPr/>
          <p:nvPr/>
        </p:nvSpPr>
        <p:spPr>
          <a:xfrm>
            <a:off x="6263640" y="3703320"/>
            <a:ext cx="5394960" cy="868680"/>
          </a:xfrm>
          <a:prstGeom prst="roundRect">
            <a:avLst>
              <a:gd name="adj" fmla="val 6316"/>
            </a:avLst>
          </a:prstGeom>
          <a:solidFill>
            <a:srgbClr val="FFFFFF"/>
          </a:solidFill>
          <a:ln w="15240">
            <a:solidFill>
              <a:srgbClr val="2F6DB7"/>
            </a:solidFill>
            <a:prstDash val="solid"/>
          </a:ln>
        </p:spPr>
      </p:sp>
      <p:sp>
        <p:nvSpPr>
          <p:cNvPr id="35" name="Shape 33"/>
          <p:cNvSpPr/>
          <p:nvPr/>
        </p:nvSpPr>
        <p:spPr>
          <a:xfrm>
            <a:off x="6373368" y="3822192"/>
            <a:ext cx="658368" cy="384048"/>
          </a:xfrm>
          <a:prstGeom prst="roundRect">
            <a:avLst>
              <a:gd name="adj" fmla="val 11905"/>
            </a:avLst>
          </a:prstGeom>
          <a:solidFill>
            <a:srgbClr val="2F6DB7"/>
          </a:solidFill>
          <a:ln w="12700">
            <a:solidFill>
              <a:srgbClr val="2F6DB7"/>
            </a:solidFill>
            <a:prstDash val="solid"/>
          </a:ln>
        </p:spPr>
      </p:sp>
      <p:sp>
        <p:nvSpPr>
          <p:cNvPr id="36" name="Text 34"/>
          <p:cNvSpPr/>
          <p:nvPr/>
        </p:nvSpPr>
        <p:spPr>
          <a:xfrm>
            <a:off x="6400800" y="3886200"/>
            <a:ext cx="603504" cy="164592"/>
          </a:xfrm>
          <a:prstGeom prst="rect">
            <a:avLst/>
          </a:prstGeom>
          <a:noFill/>
          <a:ln/>
        </p:spPr>
        <p:txBody>
          <a:bodyPr wrap="square" lIns="0" tIns="0" rIns="0" bIns="0" rtlCol="0" anchor="ctr"/>
          <a:lstStyle/>
          <a:p>
            <a:pPr algn="ctr" indent="0" marL="0">
              <a:buNone/>
            </a:pPr>
            <a:r>
              <a:rPr lang="en-US" sz="1400" b="1" dirty="0">
                <a:solidFill>
                  <a:srgbClr val="FFFFFF"/>
                </a:solidFill>
              </a:rPr>
              <a:t>VISA</a:t>
            </a:r>
            <a:endParaRPr lang="en-US" sz="1400" dirty="0"/>
          </a:p>
        </p:txBody>
      </p:sp>
      <p:sp>
        <p:nvSpPr>
          <p:cNvPr id="37" name="Text 35"/>
          <p:cNvSpPr/>
          <p:nvPr/>
        </p:nvSpPr>
        <p:spPr>
          <a:xfrm>
            <a:off x="7132320" y="3813048"/>
            <a:ext cx="4434840" cy="256032"/>
          </a:xfrm>
          <a:prstGeom prst="rect">
            <a:avLst/>
          </a:prstGeom>
          <a:noFill/>
          <a:ln/>
        </p:spPr>
        <p:txBody>
          <a:bodyPr wrap="square" lIns="254" tIns="254" rIns="254" bIns="254" rtlCol="0" anchor="ctr">
            <a:normAutofit/>
          </a:bodyPr>
          <a:lstStyle/>
          <a:p>
            <a:pPr indent="0" marL="0">
              <a:buNone/>
            </a:pPr>
            <a:r>
              <a:rPr lang="en-US" sz="1800" b="1" dirty="0">
                <a:solidFill>
                  <a:srgbClr val="2F6DB7"/>
                </a:solidFill>
              </a:rPr>
              <a:t>Vérifier avant envoi</a:t>
            </a:r>
            <a:endParaRPr lang="en-US" sz="1800" dirty="0"/>
          </a:p>
        </p:txBody>
      </p:sp>
      <p:sp>
        <p:nvSpPr>
          <p:cNvPr id="38" name="Text 36"/>
          <p:cNvSpPr/>
          <p:nvPr/>
        </p:nvSpPr>
        <p:spPr>
          <a:xfrm>
            <a:off x="6428232" y="4297680"/>
            <a:ext cx="5065776" cy="182880"/>
          </a:xfrm>
          <a:prstGeom prst="rect">
            <a:avLst/>
          </a:prstGeom>
          <a:noFill/>
          <a:ln/>
        </p:spPr>
        <p:txBody>
          <a:bodyPr wrap="square" lIns="254" tIns="254" rIns="254" bIns="254" rtlCol="0" anchor="ctr">
            <a:normAutofit/>
          </a:bodyPr>
          <a:lstStyle/>
          <a:p>
            <a:pPr indent="0" marL="0">
              <a:buNone/>
            </a:pPr>
            <a:r>
              <a:rPr lang="en-US" sz="1600" dirty="0">
                <a:solidFill>
                  <a:srgbClr val="374151"/>
                </a:solidFill>
              </a:rPr>
              <a:t>Vérifier destinataires · Inspecter objet/PJ · Soigner forme · Adapter ton</a:t>
            </a:r>
            <a:endParaRPr lang="en-US" sz="1600" dirty="0"/>
          </a:p>
        </p:txBody>
      </p:sp>
      <p:sp>
        <p:nvSpPr>
          <p:cNvPr id="39" name="Shape 37"/>
          <p:cNvSpPr/>
          <p:nvPr/>
        </p:nvSpPr>
        <p:spPr>
          <a:xfrm>
            <a:off x="548640" y="5074920"/>
            <a:ext cx="11109960" cy="841248"/>
          </a:xfrm>
          <a:prstGeom prst="roundRect">
            <a:avLst>
              <a:gd name="adj" fmla="val 8696"/>
            </a:avLst>
          </a:prstGeom>
          <a:solidFill>
            <a:srgbClr val="F7F4FB"/>
          </a:solidFill>
          <a:ln w="12700">
            <a:solidFill>
              <a:srgbClr val="D9C7E5"/>
            </a:solidFill>
            <a:prstDash val="solid"/>
          </a:ln>
        </p:spPr>
      </p:sp>
      <p:sp>
        <p:nvSpPr>
          <p:cNvPr id="40" name="Text 38"/>
          <p:cNvSpPr/>
          <p:nvPr/>
        </p:nvSpPr>
        <p:spPr>
          <a:xfrm>
            <a:off x="685800" y="5184648"/>
            <a:ext cx="10835640" cy="256032"/>
          </a:xfrm>
          <a:prstGeom prst="rect">
            <a:avLst/>
          </a:prstGeom>
          <a:noFill/>
          <a:ln/>
        </p:spPr>
        <p:txBody>
          <a:bodyPr wrap="square" lIns="254" tIns="254" rIns="254" bIns="254" rtlCol="0" anchor="ctr">
            <a:normAutofit/>
          </a:bodyPr>
          <a:lstStyle/>
          <a:p>
            <a:pPr indent="0" marL="0">
              <a:buNone/>
            </a:pPr>
            <a:r>
              <a:rPr lang="en-US" sz="2000" b="1" dirty="0">
                <a:solidFill>
                  <a:srgbClr val="6B2C83"/>
                </a:solidFill>
              </a:rPr>
              <a:t>Nouveau fil conducteur : PDCA</a:t>
            </a:r>
            <a:endParaRPr lang="en-US" sz="2000" dirty="0"/>
          </a:p>
        </p:txBody>
      </p:sp>
      <p:sp>
        <p:nvSpPr>
          <p:cNvPr id="41" name="Text 39"/>
          <p:cNvSpPr/>
          <p:nvPr/>
        </p:nvSpPr>
        <p:spPr>
          <a:xfrm>
            <a:off x="685800" y="5532120"/>
            <a:ext cx="10835640" cy="292608"/>
          </a:xfrm>
          <a:prstGeom prst="rect">
            <a:avLst/>
          </a:prstGeom>
          <a:noFill/>
          <a:ln/>
        </p:spPr>
        <p:txBody>
          <a:bodyPr wrap="square" lIns="254" tIns="254" rIns="254" bIns="254" rtlCol="0" anchor="t">
            <a:normAutofit/>
          </a:bodyPr>
          <a:lstStyle/>
          <a:p>
            <a:pPr indent="0" marL="0">
              <a:buNone/>
            </a:pPr>
            <a:r>
              <a:rPr lang="en-US" sz="1800" dirty="0">
                <a:solidFill>
                  <a:srgbClr val="374151"/>
                </a:solidFill>
              </a:rPr>
              <a:t>Planifier · Réaliser · Vérifier · Améliorer. PDCA organise toutes les méthodes dans une logique d’amélioration continue.</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2F6DB7"/>
          </a:solidFill>
          <a:ln w="12700">
            <a:solidFill>
              <a:srgbClr val="2F6DB7"/>
            </a:solidFill>
            <a:prstDash val="solid"/>
          </a:ln>
        </p:spPr>
      </p:sp>
      <p:sp>
        <p:nvSpPr>
          <p:cNvPr id="3" name="Text 1"/>
          <p:cNvSpPr/>
          <p:nvPr/>
        </p:nvSpPr>
        <p:spPr>
          <a:xfrm>
            <a:off x="228600" y="109728"/>
            <a:ext cx="1234440" cy="23774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Séance 4</a:t>
            </a:r>
            <a:endParaRPr lang="en-US" sz="1400" dirty="0"/>
          </a:p>
        </p:txBody>
      </p:sp>
      <p:sp>
        <p:nvSpPr>
          <p:cNvPr id="4" name="Text 2"/>
          <p:cNvSpPr/>
          <p:nvPr/>
        </p:nvSpPr>
        <p:spPr>
          <a:xfrm>
            <a:off x="7315200" y="109728"/>
            <a:ext cx="4480560" cy="237744"/>
          </a:xfrm>
          <a:prstGeom prst="rect">
            <a:avLst/>
          </a:prstGeom>
          <a:noFill/>
          <a:ln/>
        </p:spPr>
        <p:txBody>
          <a:bodyPr wrap="square" lIns="0" tIns="0" rIns="0" bIns="0" rtlCol="0" anchor="ctr"/>
          <a:lstStyle/>
          <a:p>
            <a:pPr algn="r" indent="0" marL="0">
              <a:buNone/>
            </a:pPr>
            <a:r>
              <a:rPr lang="en-US" sz="1400" b="1" dirty="0">
                <a:solidFill>
                  <a:srgbClr val="FFFFFF"/>
                </a:solidFill>
                <a:latin typeface="Arial" pitchFamily="34" charset="0"/>
                <a:ea typeface="Arial" pitchFamily="34" charset="-122"/>
                <a:cs typeface="Arial" pitchFamily="34" charset="-120"/>
              </a:rPr>
              <a:t>Communication interne professionnelle</a:t>
            </a:r>
            <a:endParaRPr lang="en-US" sz="1400" dirty="0"/>
          </a:p>
        </p:txBody>
      </p:sp>
      <p:sp>
        <p:nvSpPr>
          <p:cNvPr id="5" name="Shape 3"/>
          <p:cNvSpPr/>
          <p:nvPr/>
        </p:nvSpPr>
        <p:spPr>
          <a:xfrm>
            <a:off x="0" y="6574536"/>
            <a:ext cx="12191695" cy="283464"/>
          </a:xfrm>
          <a:prstGeom prst="rect">
            <a:avLst/>
          </a:prstGeom>
          <a:solidFill>
            <a:srgbClr val="F5F7FA"/>
          </a:solidFill>
          <a:ln w="12700">
            <a:solidFill>
              <a:srgbClr val="F5F7FA"/>
            </a:solidFill>
            <a:prstDash val="solid"/>
          </a:ln>
        </p:spPr>
      </p:sp>
      <p:sp>
        <p:nvSpPr>
          <p:cNvPr id="6" name="Text 4"/>
          <p:cNvSpPr/>
          <p:nvPr/>
        </p:nvSpPr>
        <p:spPr>
          <a:xfrm>
            <a:off x="11567160" y="6629400"/>
            <a:ext cx="320040" cy="164592"/>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3</a:t>
            </a:r>
            <a:endParaRPr lang="en-US" sz="1000" dirty="0"/>
          </a:p>
        </p:txBody>
      </p:sp>
      <p:sp>
        <p:nvSpPr>
          <p:cNvPr id="7" name="Text 5"/>
          <p:cNvSpPr/>
          <p:nvPr/>
        </p:nvSpPr>
        <p:spPr>
          <a:xfrm>
            <a:off x="502920" y="749808"/>
            <a:ext cx="11201400" cy="347472"/>
          </a:xfrm>
          <a:prstGeom prst="rect">
            <a:avLst/>
          </a:prstGeom>
          <a:noFill/>
          <a:ln/>
        </p:spPr>
        <p:txBody>
          <a:bodyPr wrap="square" lIns="254" tIns="254" rIns="254" bIns="254" rtlCol="0" anchor="ctr">
            <a:normAutofit/>
          </a:bodyPr>
          <a:lstStyle/>
          <a:p>
            <a:pPr indent="0" marL="0">
              <a:buNone/>
            </a:pPr>
            <a:r>
              <a:rPr lang="en-US" sz="3000" b="1" dirty="0">
                <a:solidFill>
                  <a:srgbClr val="6B2C83"/>
                </a:solidFill>
                <a:latin typeface="Arial" pitchFamily="34" charset="0"/>
                <a:ea typeface="Arial" pitchFamily="34" charset="-122"/>
                <a:cs typeface="Arial" pitchFamily="34" charset="-120"/>
              </a:rPr>
              <a:t>Objectifs pratiques de la séance</a:t>
            </a:r>
            <a:endParaRPr lang="en-US" sz="3000" dirty="0"/>
          </a:p>
        </p:txBody>
      </p:sp>
      <p:sp>
        <p:nvSpPr>
          <p:cNvPr id="8" name="Text 6"/>
          <p:cNvSpPr/>
          <p:nvPr/>
        </p:nvSpPr>
        <p:spPr>
          <a:xfrm>
            <a:off x="530352" y="1161288"/>
            <a:ext cx="10789920" cy="155448"/>
          </a:xfrm>
          <a:prstGeom prst="rect">
            <a:avLst/>
          </a:prstGeom>
          <a:noFill/>
          <a:ln/>
        </p:spPr>
        <p:txBody>
          <a:bodyPr wrap="square" lIns="0" tIns="0" rIns="0" bIns="0" rtlCol="0" anchor="ctr"/>
          <a:lstStyle/>
          <a:p>
            <a:pPr indent="0" marL="0">
              <a:buNone/>
            </a:pPr>
            <a:r>
              <a:rPr lang="en-US" sz="1500" dirty="0">
                <a:solidFill>
                  <a:srgbClr val="6B7280"/>
                </a:solidFill>
                <a:latin typeface="Arial" pitchFamily="34" charset="0"/>
                <a:ea typeface="Arial" pitchFamily="34" charset="-122"/>
                <a:cs typeface="Arial" pitchFamily="34" charset="-120"/>
              </a:rPr>
              <a:t>Résultat attendu : produire des écrits exploitables par l’organisation</a:t>
            </a:r>
            <a:endParaRPr lang="en-US" sz="1500" dirty="0"/>
          </a:p>
        </p:txBody>
      </p:sp>
      <p:sp>
        <p:nvSpPr>
          <p:cNvPr id="9" name="Text 7"/>
          <p:cNvSpPr/>
          <p:nvPr/>
        </p:nvSpPr>
        <p:spPr>
          <a:xfrm>
            <a:off x="731520" y="1691640"/>
            <a:ext cx="10789920" cy="2834640"/>
          </a:xfrm>
          <a:prstGeom prst="rect">
            <a:avLst/>
          </a:prstGeom>
          <a:noFill/>
          <a:ln/>
        </p:spPr>
        <p:txBody>
          <a:bodyPr wrap="square" lIns="1016" tIns="1016" rIns="1016" bIns="1016" rtlCol="0" anchor="t">
            <a:normAutofit/>
          </a:bodyPr>
          <a:lstStyle/>
          <a:p>
            <a:r>
              <a:rPr lang="en-US" sz="2300" dirty="0">
                <a:solidFill>
                  <a:srgbClr val="374151"/>
                </a:solidFill>
                <a:latin typeface="Arial" pitchFamily="34" charset="0"/>
                <a:ea typeface="Arial" pitchFamily="34" charset="-122"/>
                <a:cs typeface="Arial" pitchFamily="34" charset="-120"/>
              </a:rPr>
              <a:t>Rédiger un email professionnel complet à partir d’une situation réelle.</a:t>
            </a:r>
            <a:endParaRPr lang="en-US" sz="2300" dirty="0"/>
          </a:p>
          <a:p>
            <a:r>
              <a:rPr lang="en-US" sz="2300" dirty="0">
                <a:solidFill>
                  <a:srgbClr val="374151"/>
                </a:solidFill>
                <a:latin typeface="Arial" pitchFamily="34" charset="0"/>
                <a:ea typeface="Arial" pitchFamily="34" charset="-122"/>
                <a:cs typeface="Arial" pitchFamily="34" charset="-120"/>
              </a:rPr>
              <a:t>Produire un rapport interne court : quotidien, incident, escalade ou suivi.</a:t>
            </a:r>
            <a:endParaRPr lang="en-US" sz="2300" dirty="0"/>
          </a:p>
          <a:p>
            <a:r>
              <a:rPr lang="en-US" sz="2300" dirty="0">
                <a:solidFill>
                  <a:srgbClr val="374151"/>
                </a:solidFill>
                <a:latin typeface="Arial" pitchFamily="34" charset="0"/>
                <a:ea typeface="Arial" pitchFamily="34" charset="-122"/>
                <a:cs typeface="Arial" pitchFamily="34" charset="-120"/>
              </a:rPr>
              <a:t>Appliquer PDCA pour préparer, rédiger, vérifier et améliorer un message.</a:t>
            </a:r>
            <a:endParaRPr lang="en-US" sz="2300" dirty="0"/>
          </a:p>
          <a:p>
            <a:r>
              <a:rPr lang="en-US" sz="2300" dirty="0">
                <a:solidFill>
                  <a:srgbClr val="374151"/>
                </a:solidFill>
                <a:latin typeface="Arial" pitchFamily="34" charset="0"/>
                <a:ea typeface="Arial" pitchFamily="34" charset="-122"/>
                <a:cs typeface="Arial" pitchFamily="34" charset="-120"/>
              </a:rPr>
              <a:t>Respecter la confidentialité : données clients, captures, pièces jointes et transferts.</a:t>
            </a:r>
            <a:endParaRPr lang="en-US" sz="2300" dirty="0"/>
          </a:p>
          <a:p>
            <a:r>
              <a:rPr lang="en-US" sz="2300" dirty="0">
                <a:solidFill>
                  <a:srgbClr val="374151"/>
                </a:solidFill>
                <a:latin typeface="Arial" pitchFamily="34" charset="0"/>
                <a:ea typeface="Arial" pitchFamily="34" charset="-122"/>
                <a:cs typeface="Arial" pitchFamily="34" charset="-120"/>
              </a:rPr>
              <a:t>Corriger collectivement des écrits vagues pour les rendre clairs et orientés action.</a:t>
            </a:r>
            <a:endParaRPr lang="en-US" sz="2300" dirty="0"/>
          </a:p>
        </p:txBody>
      </p:sp>
      <p:sp>
        <p:nvSpPr>
          <p:cNvPr id="10" name="Shape 8"/>
          <p:cNvSpPr/>
          <p:nvPr/>
        </p:nvSpPr>
        <p:spPr>
          <a:xfrm>
            <a:off x="731520" y="5074920"/>
            <a:ext cx="10789920" cy="731520"/>
          </a:xfrm>
          <a:prstGeom prst="roundRect">
            <a:avLst>
              <a:gd name="adj" fmla="val 10000"/>
            </a:avLst>
          </a:prstGeom>
          <a:solidFill>
            <a:srgbClr val="E8F1FB"/>
          </a:solidFill>
          <a:ln w="12700">
            <a:solidFill>
              <a:srgbClr val="B7D0EF"/>
            </a:solidFill>
            <a:prstDash val="solid"/>
          </a:ln>
        </p:spPr>
      </p:sp>
      <p:sp>
        <p:nvSpPr>
          <p:cNvPr id="11" name="Text 9"/>
          <p:cNvSpPr/>
          <p:nvPr/>
        </p:nvSpPr>
        <p:spPr>
          <a:xfrm>
            <a:off x="868680" y="5184648"/>
            <a:ext cx="10515600" cy="256032"/>
          </a:xfrm>
          <a:prstGeom prst="rect">
            <a:avLst/>
          </a:prstGeom>
          <a:noFill/>
          <a:ln/>
        </p:spPr>
        <p:txBody>
          <a:bodyPr wrap="square" lIns="254" tIns="254" rIns="254" bIns="254" rtlCol="0" anchor="ctr">
            <a:normAutofit/>
          </a:bodyPr>
          <a:lstStyle/>
          <a:p>
            <a:pPr indent="0" marL="0">
              <a:buNone/>
            </a:pPr>
            <a:r>
              <a:rPr lang="en-US" sz="2000" b="1" dirty="0">
                <a:solidFill>
                  <a:srgbClr val="2F6DB7"/>
                </a:solidFill>
              </a:rPr>
              <a:t>Principe de travail</a:t>
            </a:r>
            <a:endParaRPr lang="en-US" sz="2000" dirty="0"/>
          </a:p>
        </p:txBody>
      </p:sp>
      <p:sp>
        <p:nvSpPr>
          <p:cNvPr id="12" name="Text 10"/>
          <p:cNvSpPr/>
          <p:nvPr/>
        </p:nvSpPr>
        <p:spPr>
          <a:xfrm>
            <a:off x="868680" y="5532120"/>
            <a:ext cx="10515600" cy="182880"/>
          </a:xfrm>
          <a:prstGeom prst="rect">
            <a:avLst/>
          </a:prstGeom>
          <a:noFill/>
          <a:ln/>
        </p:spPr>
        <p:txBody>
          <a:bodyPr wrap="square" lIns="254" tIns="254" rIns="254" bIns="254" rtlCol="0" anchor="t">
            <a:normAutofit/>
          </a:bodyPr>
          <a:lstStyle/>
          <a:p>
            <a:pPr indent="0" marL="0">
              <a:buNone/>
            </a:pPr>
            <a:r>
              <a:rPr lang="en-US" sz="1900" dirty="0">
                <a:solidFill>
                  <a:srgbClr val="374151"/>
                </a:solidFill>
              </a:rPr>
              <a:t>Chaque explication courte est suivie d’un exercice. On écrit, on corrige, puis on améliore.</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2F6DB7"/>
          </a:solidFill>
          <a:ln w="12700">
            <a:solidFill>
              <a:srgbClr val="2F6DB7"/>
            </a:solidFill>
            <a:prstDash val="solid"/>
          </a:ln>
        </p:spPr>
      </p:sp>
      <p:sp>
        <p:nvSpPr>
          <p:cNvPr id="3" name="Text 1"/>
          <p:cNvSpPr/>
          <p:nvPr/>
        </p:nvSpPr>
        <p:spPr>
          <a:xfrm>
            <a:off x="228600" y="109728"/>
            <a:ext cx="1234440" cy="23774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Séance 4</a:t>
            </a:r>
            <a:endParaRPr lang="en-US" sz="1400" dirty="0"/>
          </a:p>
        </p:txBody>
      </p:sp>
      <p:sp>
        <p:nvSpPr>
          <p:cNvPr id="4" name="Text 2"/>
          <p:cNvSpPr/>
          <p:nvPr/>
        </p:nvSpPr>
        <p:spPr>
          <a:xfrm>
            <a:off x="7315200" y="109728"/>
            <a:ext cx="4480560" cy="237744"/>
          </a:xfrm>
          <a:prstGeom prst="rect">
            <a:avLst/>
          </a:prstGeom>
          <a:noFill/>
          <a:ln/>
        </p:spPr>
        <p:txBody>
          <a:bodyPr wrap="square" lIns="0" tIns="0" rIns="0" bIns="0" rtlCol="0" anchor="ctr"/>
          <a:lstStyle/>
          <a:p>
            <a:pPr algn="r" indent="0" marL="0">
              <a:buNone/>
            </a:pPr>
            <a:r>
              <a:rPr lang="en-US" sz="1400" b="1" dirty="0">
                <a:solidFill>
                  <a:srgbClr val="FFFFFF"/>
                </a:solidFill>
                <a:latin typeface="Arial" pitchFamily="34" charset="0"/>
                <a:ea typeface="Arial" pitchFamily="34" charset="-122"/>
                <a:cs typeface="Arial" pitchFamily="34" charset="-120"/>
              </a:rPr>
              <a:t>Communication interne professionnelle</a:t>
            </a:r>
            <a:endParaRPr lang="en-US" sz="1400" dirty="0"/>
          </a:p>
        </p:txBody>
      </p:sp>
      <p:sp>
        <p:nvSpPr>
          <p:cNvPr id="5" name="Shape 3"/>
          <p:cNvSpPr/>
          <p:nvPr/>
        </p:nvSpPr>
        <p:spPr>
          <a:xfrm>
            <a:off x="0" y="6574536"/>
            <a:ext cx="12191695" cy="283464"/>
          </a:xfrm>
          <a:prstGeom prst="rect">
            <a:avLst/>
          </a:prstGeom>
          <a:solidFill>
            <a:srgbClr val="F5F7FA"/>
          </a:solidFill>
          <a:ln w="12700">
            <a:solidFill>
              <a:srgbClr val="F5F7FA"/>
            </a:solidFill>
            <a:prstDash val="solid"/>
          </a:ln>
        </p:spPr>
      </p:sp>
      <p:sp>
        <p:nvSpPr>
          <p:cNvPr id="6" name="Text 4"/>
          <p:cNvSpPr/>
          <p:nvPr/>
        </p:nvSpPr>
        <p:spPr>
          <a:xfrm>
            <a:off x="11567160" y="6629400"/>
            <a:ext cx="320040" cy="164592"/>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4</a:t>
            </a:r>
            <a:endParaRPr lang="en-US" sz="1000" dirty="0"/>
          </a:p>
        </p:txBody>
      </p:sp>
      <p:sp>
        <p:nvSpPr>
          <p:cNvPr id="7" name="Text 5"/>
          <p:cNvSpPr/>
          <p:nvPr/>
        </p:nvSpPr>
        <p:spPr>
          <a:xfrm>
            <a:off x="502920" y="749808"/>
            <a:ext cx="11201400" cy="347472"/>
          </a:xfrm>
          <a:prstGeom prst="rect">
            <a:avLst/>
          </a:prstGeom>
          <a:noFill/>
          <a:ln/>
        </p:spPr>
        <p:txBody>
          <a:bodyPr wrap="square" lIns="254" tIns="254" rIns="254" bIns="254" rtlCol="0" anchor="ctr">
            <a:normAutofit/>
          </a:bodyPr>
          <a:lstStyle/>
          <a:p>
            <a:pPr indent="0" marL="0">
              <a:buNone/>
            </a:pPr>
            <a:r>
              <a:rPr lang="en-US" sz="3000" b="1" dirty="0">
                <a:solidFill>
                  <a:srgbClr val="6B2C83"/>
                </a:solidFill>
                <a:latin typeface="Arial" pitchFamily="34" charset="0"/>
                <a:ea typeface="Arial" pitchFamily="34" charset="-122"/>
                <a:cs typeface="Arial" pitchFamily="34" charset="-120"/>
              </a:rPr>
              <a:t>Déroulé de la séance</a:t>
            </a:r>
            <a:endParaRPr lang="en-US" sz="3000" dirty="0"/>
          </a:p>
        </p:txBody>
      </p:sp>
      <p:sp>
        <p:nvSpPr>
          <p:cNvPr id="8" name="Text 6"/>
          <p:cNvSpPr/>
          <p:nvPr/>
        </p:nvSpPr>
        <p:spPr>
          <a:xfrm>
            <a:off x="530352" y="1161288"/>
            <a:ext cx="10789920" cy="155448"/>
          </a:xfrm>
          <a:prstGeom prst="rect">
            <a:avLst/>
          </a:prstGeom>
          <a:noFill/>
          <a:ln/>
        </p:spPr>
        <p:txBody>
          <a:bodyPr wrap="square" lIns="0" tIns="0" rIns="0" bIns="0" rtlCol="0" anchor="ctr"/>
          <a:lstStyle/>
          <a:p>
            <a:pPr indent="0" marL="0">
              <a:buNone/>
            </a:pPr>
            <a:r>
              <a:rPr lang="en-US" sz="1500" dirty="0">
                <a:solidFill>
                  <a:srgbClr val="6B7280"/>
                </a:solidFill>
                <a:latin typeface="Arial" pitchFamily="34" charset="0"/>
                <a:ea typeface="Arial" pitchFamily="34" charset="-122"/>
                <a:cs typeface="Arial" pitchFamily="34" charset="-120"/>
              </a:rPr>
              <a:t>30 % théorie · 70 % pratique</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914400" y="1508760"/>
          <a:ext cx="10332720" cy="4480560"/>
        </p:xfrm>
        <a:graphic>
          <a:graphicData uri="http://schemas.openxmlformats.org/drawingml/2006/table">
            <a:tbl>
              <a:tblPr/>
              <a:tblGrid>
                <a:gridCol w="731520"/>
                <a:gridCol w="7406640"/>
                <a:gridCol w="2194560"/>
              </a:tblGrid>
              <a:tr h="640080">
                <a:tc>
                  <a:txBody>
                    <a:bodyPr/>
                    <a:lstStyle/>
                    <a:p>
                      <a:pP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2F6DB7"/>
                    </a:solidFill>
                  </a:tcPr>
                </a:tc>
                <a:tc>
                  <a:txBody>
                    <a:bodyPr/>
                    <a:lstStyle/>
                    <a:p>
                      <a:pPr indent="0" marL="0">
                        <a:buNone/>
                      </a:pPr>
                      <a:r>
                        <a:rPr lang="en-US" sz="2000" b="1" dirty="0">
                          <a:solidFill>
                            <a:srgbClr val="374151"/>
                          </a:solidFill>
                          <a:latin typeface="Arial" pitchFamily="34" charset="0"/>
                          <a:ea typeface="Arial" pitchFamily="34" charset="-122"/>
                          <a:cs typeface="Arial" pitchFamily="34" charset="-120"/>
                        </a:rPr>
                        <a:t>PDCA et lien avec les méthodes déjà vues</a:t>
                      </a:r>
                      <a:endParaRPr lang="en-US" sz="20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algn="ctr" indent="0" marL="0">
                        <a:buNone/>
                      </a:pPr>
                      <a:r>
                        <a:rPr lang="en-US" sz="2000" dirty="0">
                          <a:solidFill>
                            <a:srgbClr val="374151"/>
                          </a:solidFill>
                          <a:latin typeface="Arial" pitchFamily="34" charset="0"/>
                          <a:ea typeface="Arial" pitchFamily="34" charset="-122"/>
                          <a:cs typeface="Arial" pitchFamily="34" charset="-120"/>
                        </a:rPr>
                        <a:t>20 min</a:t>
                      </a:r>
                      <a:endParaRPr lang="en-US" sz="20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640080">
                <a:tc>
                  <a:txBody>
                    <a:bodyPr/>
                    <a:lstStyle/>
                    <a:p>
                      <a:pP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6B2C83"/>
                    </a:solidFill>
                  </a:tcPr>
                </a:tc>
                <a:tc>
                  <a:txBody>
                    <a:bodyPr/>
                    <a:lstStyle/>
                    <a:p>
                      <a:pPr indent="0" marL="0">
                        <a:buNone/>
                      </a:pPr>
                      <a:r>
                        <a:rPr lang="en-US" sz="2000" b="1" dirty="0">
                          <a:solidFill>
                            <a:srgbClr val="374151"/>
                          </a:solidFill>
                          <a:latin typeface="Arial" pitchFamily="34" charset="0"/>
                          <a:ea typeface="Arial" pitchFamily="34" charset="-122"/>
                          <a:cs typeface="Arial" pitchFamily="34" charset="-120"/>
                        </a:rPr>
                        <a:t>Email professionnel complet</a:t>
                      </a:r>
                      <a:endParaRPr lang="en-US" sz="20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algn="ctr" indent="0" marL="0">
                        <a:buNone/>
                      </a:pPr>
                      <a:r>
                        <a:rPr lang="en-US" sz="2000" dirty="0">
                          <a:solidFill>
                            <a:srgbClr val="374151"/>
                          </a:solidFill>
                          <a:latin typeface="Arial" pitchFamily="34" charset="0"/>
                          <a:ea typeface="Arial" pitchFamily="34" charset="-122"/>
                          <a:cs typeface="Arial" pitchFamily="34" charset="-120"/>
                        </a:rPr>
                        <a:t>35 min</a:t>
                      </a:r>
                      <a:endParaRPr lang="en-US" sz="20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640080">
                <a:tc>
                  <a:txBody>
                    <a:bodyPr/>
                    <a:lstStyle/>
                    <a:p>
                      <a:pP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2F6DB7"/>
                    </a:solidFill>
                  </a:tcPr>
                </a:tc>
                <a:tc>
                  <a:txBody>
                    <a:bodyPr/>
                    <a:lstStyle/>
                    <a:p>
                      <a:pPr indent="0" marL="0">
                        <a:buNone/>
                      </a:pPr>
                      <a:r>
                        <a:rPr lang="en-US" sz="2000" b="1" dirty="0">
                          <a:solidFill>
                            <a:srgbClr val="374151"/>
                          </a:solidFill>
                          <a:latin typeface="Arial" pitchFamily="34" charset="0"/>
                          <a:ea typeface="Arial" pitchFamily="34" charset="-122"/>
                          <a:cs typeface="Arial" pitchFamily="34" charset="-120"/>
                        </a:rPr>
                        <a:t>Rapport interne quotidien et rapport de suivi</a:t>
                      </a:r>
                      <a:endParaRPr lang="en-US" sz="20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algn="ctr" indent="0" marL="0">
                        <a:buNone/>
                      </a:pPr>
                      <a:r>
                        <a:rPr lang="en-US" sz="2000" dirty="0">
                          <a:solidFill>
                            <a:srgbClr val="374151"/>
                          </a:solidFill>
                          <a:latin typeface="Arial" pitchFamily="34" charset="0"/>
                          <a:ea typeface="Arial" pitchFamily="34" charset="-122"/>
                          <a:cs typeface="Arial" pitchFamily="34" charset="-120"/>
                        </a:rPr>
                        <a:t>35 min</a:t>
                      </a:r>
                      <a:endParaRPr lang="en-US" sz="20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640080">
                <a:tc>
                  <a:txBody>
                    <a:bodyPr/>
                    <a:lstStyle/>
                    <a:p>
                      <a:pP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6B2C83"/>
                    </a:solidFill>
                  </a:tcPr>
                </a:tc>
                <a:tc>
                  <a:txBody>
                    <a:bodyPr/>
                    <a:lstStyle/>
                    <a:p>
                      <a:pPr indent="0" marL="0">
                        <a:buNone/>
                      </a:pPr>
                      <a:r>
                        <a:rPr lang="en-US" sz="2000" b="1" dirty="0">
                          <a:solidFill>
                            <a:srgbClr val="374151"/>
                          </a:solidFill>
                          <a:latin typeface="Arial" pitchFamily="34" charset="0"/>
                          <a:ea typeface="Arial" pitchFamily="34" charset="-122"/>
                          <a:cs typeface="Arial" pitchFamily="34" charset="-120"/>
                        </a:rPr>
                        <a:t>Pause</a:t>
                      </a:r>
                      <a:endParaRPr lang="en-US" sz="20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algn="ctr" indent="0" marL="0">
                        <a:buNone/>
                      </a:pPr>
                      <a:r>
                        <a:rPr lang="en-US" sz="2000" dirty="0">
                          <a:solidFill>
                            <a:srgbClr val="374151"/>
                          </a:solidFill>
                          <a:latin typeface="Arial" pitchFamily="34" charset="0"/>
                          <a:ea typeface="Arial" pitchFamily="34" charset="-122"/>
                          <a:cs typeface="Arial" pitchFamily="34" charset="-120"/>
                        </a:rPr>
                        <a:t>15 min</a:t>
                      </a:r>
                      <a:endParaRPr lang="en-US" sz="20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640080">
                <a:tc>
                  <a:txBody>
                    <a:bodyPr/>
                    <a:lstStyle/>
                    <a:p>
                      <a:pPr indent="0" marL="0">
                        <a:buNone/>
                      </a:pPr>
                      <a:r>
                        <a:rPr lang="en-US" sz="2000" b="1" dirty="0">
                          <a:solidFill>
                            <a:srgbClr val="FFFFFF"/>
                          </a:solidFill>
                          <a:latin typeface="Arial" pitchFamily="34" charset="0"/>
                          <a:ea typeface="Arial" pitchFamily="34" charset="-122"/>
                          <a:cs typeface="Arial" pitchFamily="34" charset="-120"/>
                        </a:rPr>
                        <a:t>5</a:t>
                      </a:r>
                      <a:endParaRPr lang="en-US" sz="20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2F6DB7"/>
                    </a:solidFill>
                  </a:tcPr>
                </a:tc>
                <a:tc>
                  <a:txBody>
                    <a:bodyPr/>
                    <a:lstStyle/>
                    <a:p>
                      <a:pPr indent="0" marL="0">
                        <a:buNone/>
                      </a:pPr>
                      <a:r>
                        <a:rPr lang="en-US" sz="2000" b="1" dirty="0">
                          <a:solidFill>
                            <a:srgbClr val="374151"/>
                          </a:solidFill>
                          <a:latin typeface="Arial" pitchFamily="34" charset="0"/>
                          <a:ea typeface="Arial" pitchFamily="34" charset="-122"/>
                          <a:cs typeface="Arial" pitchFamily="34" charset="-120"/>
                        </a:rPr>
                        <a:t>Rapport d’incident / escalade</a:t>
                      </a:r>
                      <a:endParaRPr lang="en-US" sz="20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algn="ctr" indent="0" marL="0">
                        <a:buNone/>
                      </a:pPr>
                      <a:r>
                        <a:rPr lang="en-US" sz="2000" dirty="0">
                          <a:solidFill>
                            <a:srgbClr val="374151"/>
                          </a:solidFill>
                          <a:latin typeface="Arial" pitchFamily="34" charset="0"/>
                          <a:ea typeface="Arial" pitchFamily="34" charset="-122"/>
                          <a:cs typeface="Arial" pitchFamily="34" charset="-120"/>
                        </a:rPr>
                        <a:t>35 min</a:t>
                      </a:r>
                      <a:endParaRPr lang="en-US" sz="20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640080">
                <a:tc>
                  <a:txBody>
                    <a:bodyPr/>
                    <a:lstStyle/>
                    <a:p>
                      <a:pPr indent="0" marL="0">
                        <a:buNone/>
                      </a:pPr>
                      <a:r>
                        <a:rPr lang="en-US" sz="2000" b="1" dirty="0">
                          <a:solidFill>
                            <a:srgbClr val="FFFFFF"/>
                          </a:solidFill>
                          <a:latin typeface="Arial" pitchFamily="34" charset="0"/>
                          <a:ea typeface="Arial" pitchFamily="34" charset="-122"/>
                          <a:cs typeface="Arial" pitchFamily="34" charset="-120"/>
                        </a:rPr>
                        <a:t>6</a:t>
                      </a:r>
                      <a:endParaRPr lang="en-US" sz="20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6B2C83"/>
                    </a:solidFill>
                  </a:tcPr>
                </a:tc>
                <a:tc>
                  <a:txBody>
                    <a:bodyPr/>
                    <a:lstStyle/>
                    <a:p>
                      <a:pPr indent="0" marL="0">
                        <a:buNone/>
                      </a:pPr>
                      <a:r>
                        <a:rPr lang="en-US" sz="2000" b="1" dirty="0">
                          <a:solidFill>
                            <a:srgbClr val="374151"/>
                          </a:solidFill>
                          <a:latin typeface="Arial" pitchFamily="34" charset="0"/>
                          <a:ea typeface="Arial" pitchFamily="34" charset="-122"/>
                          <a:cs typeface="Arial" pitchFamily="34" charset="-120"/>
                        </a:rPr>
                        <a:t>Confidentialité et protection des informations</a:t>
                      </a:r>
                      <a:endParaRPr lang="en-US" sz="20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algn="ctr" indent="0" marL="0">
                        <a:buNone/>
                      </a:pPr>
                      <a:r>
                        <a:rPr lang="en-US" sz="2000" dirty="0">
                          <a:solidFill>
                            <a:srgbClr val="374151"/>
                          </a:solidFill>
                          <a:latin typeface="Arial" pitchFamily="34" charset="0"/>
                          <a:ea typeface="Arial" pitchFamily="34" charset="-122"/>
                          <a:cs typeface="Arial" pitchFamily="34" charset="-120"/>
                        </a:rPr>
                        <a:t>25 min</a:t>
                      </a:r>
                      <a:endParaRPr lang="en-US" sz="20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640080">
                <a:tc>
                  <a:txBody>
                    <a:bodyPr/>
                    <a:lstStyle/>
                    <a:p>
                      <a:pPr indent="0" marL="0">
                        <a:buNone/>
                      </a:pPr>
                      <a:r>
                        <a:rPr lang="en-US" sz="2000" b="1" dirty="0">
                          <a:solidFill>
                            <a:srgbClr val="FFFFFF"/>
                          </a:solidFill>
                          <a:latin typeface="Arial" pitchFamily="34" charset="0"/>
                          <a:ea typeface="Arial" pitchFamily="34" charset="-122"/>
                          <a:cs typeface="Arial" pitchFamily="34" charset="-120"/>
                        </a:rPr>
                        <a:t>7</a:t>
                      </a:r>
                      <a:endParaRPr lang="en-US" sz="20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2F6DB7"/>
                    </a:solidFill>
                  </a:tcPr>
                </a:tc>
                <a:tc>
                  <a:txBody>
                    <a:bodyPr/>
                    <a:lstStyle/>
                    <a:p>
                      <a:pPr indent="0" marL="0">
                        <a:buNone/>
                      </a:pPr>
                      <a:r>
                        <a:rPr lang="en-US" sz="2000" b="1" dirty="0">
                          <a:solidFill>
                            <a:srgbClr val="374151"/>
                          </a:solidFill>
                          <a:latin typeface="Arial" pitchFamily="34" charset="0"/>
                          <a:ea typeface="Arial" pitchFamily="34" charset="-122"/>
                          <a:cs typeface="Arial" pitchFamily="34" charset="-120"/>
                        </a:rPr>
                        <a:t>Atelier final + correction collective</a:t>
                      </a:r>
                      <a:endParaRPr lang="en-US" sz="20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algn="ctr" indent="0" marL="0">
                        <a:buNone/>
                      </a:pPr>
                      <a:r>
                        <a:rPr lang="en-US" sz="2000" dirty="0">
                          <a:solidFill>
                            <a:srgbClr val="374151"/>
                          </a:solidFill>
                          <a:latin typeface="Arial" pitchFamily="34" charset="0"/>
                          <a:ea typeface="Arial" pitchFamily="34" charset="-122"/>
                          <a:cs typeface="Arial" pitchFamily="34" charset="-120"/>
                        </a:rPr>
                        <a:t>35 min</a:t>
                      </a:r>
                      <a:endParaRPr lang="en-US" sz="20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2F6DB7"/>
          </a:solidFill>
          <a:ln w="12700">
            <a:solidFill>
              <a:srgbClr val="2F6DB7"/>
            </a:solidFill>
            <a:prstDash val="solid"/>
          </a:ln>
        </p:spPr>
      </p:sp>
      <p:sp>
        <p:nvSpPr>
          <p:cNvPr id="3" name="Text 1"/>
          <p:cNvSpPr/>
          <p:nvPr/>
        </p:nvSpPr>
        <p:spPr>
          <a:xfrm>
            <a:off x="228600" y="109728"/>
            <a:ext cx="1234440" cy="23774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Séance 4</a:t>
            </a:r>
            <a:endParaRPr lang="en-US" sz="1400" dirty="0"/>
          </a:p>
        </p:txBody>
      </p:sp>
      <p:sp>
        <p:nvSpPr>
          <p:cNvPr id="4" name="Text 2"/>
          <p:cNvSpPr/>
          <p:nvPr/>
        </p:nvSpPr>
        <p:spPr>
          <a:xfrm>
            <a:off x="7315200" y="109728"/>
            <a:ext cx="4480560" cy="237744"/>
          </a:xfrm>
          <a:prstGeom prst="rect">
            <a:avLst/>
          </a:prstGeom>
          <a:noFill/>
          <a:ln/>
        </p:spPr>
        <p:txBody>
          <a:bodyPr wrap="square" lIns="0" tIns="0" rIns="0" bIns="0" rtlCol="0" anchor="ctr"/>
          <a:lstStyle/>
          <a:p>
            <a:pPr algn="r" indent="0" marL="0">
              <a:buNone/>
            </a:pPr>
            <a:r>
              <a:rPr lang="en-US" sz="1400" b="1" dirty="0">
                <a:solidFill>
                  <a:srgbClr val="FFFFFF"/>
                </a:solidFill>
                <a:latin typeface="Arial" pitchFamily="34" charset="0"/>
                <a:ea typeface="Arial" pitchFamily="34" charset="-122"/>
                <a:cs typeface="Arial" pitchFamily="34" charset="-120"/>
              </a:rPr>
              <a:t>Communication interne professionnelle</a:t>
            </a:r>
            <a:endParaRPr lang="en-US" sz="1400" dirty="0"/>
          </a:p>
        </p:txBody>
      </p:sp>
      <p:sp>
        <p:nvSpPr>
          <p:cNvPr id="5" name="Shape 3"/>
          <p:cNvSpPr/>
          <p:nvPr/>
        </p:nvSpPr>
        <p:spPr>
          <a:xfrm>
            <a:off x="0" y="6574536"/>
            <a:ext cx="12191695" cy="283464"/>
          </a:xfrm>
          <a:prstGeom prst="rect">
            <a:avLst/>
          </a:prstGeom>
          <a:solidFill>
            <a:srgbClr val="F5F7FA"/>
          </a:solidFill>
          <a:ln w="12700">
            <a:solidFill>
              <a:srgbClr val="F5F7FA"/>
            </a:solidFill>
            <a:prstDash val="solid"/>
          </a:ln>
        </p:spPr>
      </p:sp>
      <p:sp>
        <p:nvSpPr>
          <p:cNvPr id="6" name="Text 4"/>
          <p:cNvSpPr/>
          <p:nvPr/>
        </p:nvSpPr>
        <p:spPr>
          <a:xfrm>
            <a:off x="11567160" y="6629400"/>
            <a:ext cx="320040" cy="164592"/>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5</a:t>
            </a:r>
            <a:endParaRPr lang="en-US" sz="1000" dirty="0"/>
          </a:p>
        </p:txBody>
      </p:sp>
      <p:sp>
        <p:nvSpPr>
          <p:cNvPr id="7" name="Text 5"/>
          <p:cNvSpPr/>
          <p:nvPr/>
        </p:nvSpPr>
        <p:spPr>
          <a:xfrm>
            <a:off x="502920" y="749808"/>
            <a:ext cx="11201400" cy="347472"/>
          </a:xfrm>
          <a:prstGeom prst="rect">
            <a:avLst/>
          </a:prstGeom>
          <a:noFill/>
          <a:ln/>
        </p:spPr>
        <p:txBody>
          <a:bodyPr wrap="square" lIns="254" tIns="254" rIns="254" bIns="254" rtlCol="0" anchor="ctr">
            <a:normAutofit/>
          </a:bodyPr>
          <a:lstStyle/>
          <a:p>
            <a:pPr indent="0" marL="0">
              <a:buNone/>
            </a:pPr>
            <a:r>
              <a:rPr lang="en-US" sz="3000" b="1" dirty="0">
                <a:solidFill>
                  <a:srgbClr val="6B2C83"/>
                </a:solidFill>
                <a:latin typeface="Arial" pitchFamily="34" charset="0"/>
                <a:ea typeface="Arial" pitchFamily="34" charset="-122"/>
                <a:cs typeface="Arial" pitchFamily="34" charset="-120"/>
              </a:rPr>
              <a:t>PDCA : une méthode simple pour améliorer la communication</a:t>
            </a:r>
            <a:endParaRPr lang="en-US" sz="3000" dirty="0"/>
          </a:p>
        </p:txBody>
      </p:sp>
      <p:sp>
        <p:nvSpPr>
          <p:cNvPr id="8" name="Text 6"/>
          <p:cNvSpPr/>
          <p:nvPr/>
        </p:nvSpPr>
        <p:spPr>
          <a:xfrm>
            <a:off x="530352" y="1161288"/>
            <a:ext cx="10789920" cy="155448"/>
          </a:xfrm>
          <a:prstGeom prst="rect">
            <a:avLst/>
          </a:prstGeom>
          <a:noFill/>
          <a:ln/>
        </p:spPr>
        <p:txBody>
          <a:bodyPr wrap="square" lIns="0" tIns="0" rIns="0" bIns="0" rtlCol="0" anchor="ctr"/>
          <a:lstStyle/>
          <a:p>
            <a:pPr indent="0" marL="0">
              <a:buNone/>
            </a:pPr>
            <a:r>
              <a:rPr lang="en-US" sz="1500" dirty="0">
                <a:solidFill>
                  <a:srgbClr val="6B7280"/>
                </a:solidFill>
                <a:latin typeface="Arial" pitchFamily="34" charset="0"/>
                <a:ea typeface="Arial" pitchFamily="34" charset="-122"/>
                <a:cs typeface="Arial" pitchFamily="34" charset="-120"/>
              </a:rPr>
              <a:t>PDCA = Planifier · Déployer/Réaliser · Contrôler · Améliorer</a:t>
            </a:r>
            <a:endParaRPr lang="en-US" sz="1500" dirty="0"/>
          </a:p>
        </p:txBody>
      </p:sp>
      <p:sp>
        <p:nvSpPr>
          <p:cNvPr id="9" name="Shape 7"/>
          <p:cNvSpPr/>
          <p:nvPr/>
        </p:nvSpPr>
        <p:spPr>
          <a:xfrm>
            <a:off x="731520" y="1600200"/>
            <a:ext cx="5257800" cy="1097280"/>
          </a:xfrm>
          <a:prstGeom prst="roundRect">
            <a:avLst>
              <a:gd name="adj" fmla="val 6667"/>
            </a:avLst>
          </a:prstGeom>
          <a:solidFill>
            <a:srgbClr val="E8F1FB"/>
          </a:solidFill>
          <a:ln w="12700">
            <a:solidFill>
              <a:srgbClr val="BCD3EE"/>
            </a:solidFill>
            <a:prstDash val="solid"/>
          </a:ln>
        </p:spPr>
      </p:sp>
      <p:sp>
        <p:nvSpPr>
          <p:cNvPr id="10" name="Text 8"/>
          <p:cNvSpPr/>
          <p:nvPr/>
        </p:nvSpPr>
        <p:spPr>
          <a:xfrm>
            <a:off x="868680" y="1709928"/>
            <a:ext cx="4983480" cy="256032"/>
          </a:xfrm>
          <a:prstGeom prst="rect">
            <a:avLst/>
          </a:prstGeom>
          <a:noFill/>
          <a:ln/>
        </p:spPr>
        <p:txBody>
          <a:bodyPr wrap="square" lIns="254" tIns="254" rIns="254" bIns="254" rtlCol="0" anchor="ctr">
            <a:normAutofit/>
          </a:bodyPr>
          <a:lstStyle/>
          <a:p>
            <a:pPr indent="0" marL="0">
              <a:buNone/>
            </a:pPr>
            <a:r>
              <a:rPr lang="en-US" sz="2000" b="1" dirty="0">
                <a:solidFill>
                  <a:srgbClr val="2F6DB7"/>
                </a:solidFill>
              </a:rPr>
              <a:t>P — Planifier</a:t>
            </a:r>
            <a:endParaRPr lang="en-US" sz="2000" dirty="0"/>
          </a:p>
        </p:txBody>
      </p:sp>
      <p:sp>
        <p:nvSpPr>
          <p:cNvPr id="11" name="Text 9"/>
          <p:cNvSpPr/>
          <p:nvPr/>
        </p:nvSpPr>
        <p:spPr>
          <a:xfrm>
            <a:off x="868680" y="2057400"/>
            <a:ext cx="4983480" cy="548640"/>
          </a:xfrm>
          <a:prstGeom prst="rect">
            <a:avLst/>
          </a:prstGeom>
          <a:noFill/>
          <a:ln/>
        </p:spPr>
        <p:txBody>
          <a:bodyPr wrap="square" lIns="254" tIns="254" rIns="254" bIns="254" rtlCol="0" anchor="t">
            <a:normAutofit/>
          </a:bodyPr>
          <a:lstStyle/>
          <a:p>
            <a:pPr indent="0" marL="0">
              <a:buNone/>
            </a:pPr>
            <a:r>
              <a:rPr lang="en-US" sz="1900" dirty="0">
                <a:solidFill>
                  <a:srgbClr val="374151"/>
                </a:solidFill>
              </a:rPr>
              <a:t>Avant d’écrire : objectif, destinataire, urgence, informations utiles, action attendue.</a:t>
            </a:r>
            <a:endParaRPr lang="en-US" sz="1900" dirty="0"/>
          </a:p>
        </p:txBody>
      </p:sp>
      <p:sp>
        <p:nvSpPr>
          <p:cNvPr id="12" name="Shape 10"/>
          <p:cNvSpPr/>
          <p:nvPr/>
        </p:nvSpPr>
        <p:spPr>
          <a:xfrm>
            <a:off x="6217920" y="1600200"/>
            <a:ext cx="5257800" cy="1097280"/>
          </a:xfrm>
          <a:prstGeom prst="roundRect">
            <a:avLst>
              <a:gd name="adj" fmla="val 6667"/>
            </a:avLst>
          </a:prstGeom>
          <a:solidFill>
            <a:srgbClr val="F2EAF6"/>
          </a:solidFill>
          <a:ln w="12700">
            <a:solidFill>
              <a:srgbClr val="DCC6E6"/>
            </a:solidFill>
            <a:prstDash val="solid"/>
          </a:ln>
        </p:spPr>
      </p:sp>
      <p:sp>
        <p:nvSpPr>
          <p:cNvPr id="13" name="Text 11"/>
          <p:cNvSpPr/>
          <p:nvPr/>
        </p:nvSpPr>
        <p:spPr>
          <a:xfrm>
            <a:off x="6355080" y="1709928"/>
            <a:ext cx="4983480" cy="256032"/>
          </a:xfrm>
          <a:prstGeom prst="rect">
            <a:avLst/>
          </a:prstGeom>
          <a:noFill/>
          <a:ln/>
        </p:spPr>
        <p:txBody>
          <a:bodyPr wrap="square" lIns="254" tIns="254" rIns="254" bIns="254" rtlCol="0" anchor="ctr">
            <a:normAutofit/>
          </a:bodyPr>
          <a:lstStyle/>
          <a:p>
            <a:pPr indent="0" marL="0">
              <a:buNone/>
            </a:pPr>
            <a:r>
              <a:rPr lang="en-US" sz="2000" b="1" dirty="0">
                <a:solidFill>
                  <a:srgbClr val="6B2C83"/>
                </a:solidFill>
              </a:rPr>
              <a:t>D — Déployer / Réaliser</a:t>
            </a:r>
            <a:endParaRPr lang="en-US" sz="2000" dirty="0"/>
          </a:p>
        </p:txBody>
      </p:sp>
      <p:sp>
        <p:nvSpPr>
          <p:cNvPr id="14" name="Text 12"/>
          <p:cNvSpPr/>
          <p:nvPr/>
        </p:nvSpPr>
        <p:spPr>
          <a:xfrm>
            <a:off x="6355080" y="2057400"/>
            <a:ext cx="4983480" cy="548640"/>
          </a:xfrm>
          <a:prstGeom prst="rect">
            <a:avLst/>
          </a:prstGeom>
          <a:noFill/>
          <a:ln/>
        </p:spPr>
        <p:txBody>
          <a:bodyPr wrap="square" lIns="254" tIns="254" rIns="254" bIns="254" rtlCol="0" anchor="t">
            <a:normAutofit/>
          </a:bodyPr>
          <a:lstStyle/>
          <a:p>
            <a:pPr indent="0" marL="0">
              <a:buNone/>
            </a:pPr>
            <a:r>
              <a:rPr lang="en-US" sz="1900" dirty="0">
                <a:solidFill>
                  <a:srgbClr val="374151"/>
                </a:solidFill>
              </a:rPr>
              <a:t>Rédiger et envoyer : message structuré, ton professionnel, PJ annoncée et vérifiée.</a:t>
            </a:r>
            <a:endParaRPr lang="en-US" sz="1900" dirty="0"/>
          </a:p>
        </p:txBody>
      </p:sp>
      <p:sp>
        <p:nvSpPr>
          <p:cNvPr id="15" name="Shape 13"/>
          <p:cNvSpPr/>
          <p:nvPr/>
        </p:nvSpPr>
        <p:spPr>
          <a:xfrm>
            <a:off x="731520" y="3063240"/>
            <a:ext cx="5257800" cy="1097280"/>
          </a:xfrm>
          <a:prstGeom prst="roundRect">
            <a:avLst>
              <a:gd name="adj" fmla="val 6667"/>
            </a:avLst>
          </a:prstGeom>
          <a:solidFill>
            <a:srgbClr val="F2EAF6"/>
          </a:solidFill>
          <a:ln w="12700">
            <a:solidFill>
              <a:srgbClr val="DCC6E6"/>
            </a:solidFill>
            <a:prstDash val="solid"/>
          </a:ln>
        </p:spPr>
      </p:sp>
      <p:sp>
        <p:nvSpPr>
          <p:cNvPr id="16" name="Text 14"/>
          <p:cNvSpPr/>
          <p:nvPr/>
        </p:nvSpPr>
        <p:spPr>
          <a:xfrm>
            <a:off x="868680" y="3172968"/>
            <a:ext cx="4983480" cy="256032"/>
          </a:xfrm>
          <a:prstGeom prst="rect">
            <a:avLst/>
          </a:prstGeom>
          <a:noFill/>
          <a:ln/>
        </p:spPr>
        <p:txBody>
          <a:bodyPr wrap="square" lIns="254" tIns="254" rIns="254" bIns="254" rtlCol="0" anchor="ctr">
            <a:normAutofit/>
          </a:bodyPr>
          <a:lstStyle/>
          <a:p>
            <a:pPr indent="0" marL="0">
              <a:buNone/>
            </a:pPr>
            <a:r>
              <a:rPr lang="en-US" sz="2000" b="1" dirty="0">
                <a:solidFill>
                  <a:srgbClr val="6B2C83"/>
                </a:solidFill>
              </a:rPr>
              <a:t>C — Contrôler</a:t>
            </a:r>
            <a:endParaRPr lang="en-US" sz="2000" dirty="0"/>
          </a:p>
        </p:txBody>
      </p:sp>
      <p:sp>
        <p:nvSpPr>
          <p:cNvPr id="17" name="Text 15"/>
          <p:cNvSpPr/>
          <p:nvPr/>
        </p:nvSpPr>
        <p:spPr>
          <a:xfrm>
            <a:off x="868680" y="3520440"/>
            <a:ext cx="4983480" cy="548640"/>
          </a:xfrm>
          <a:prstGeom prst="rect">
            <a:avLst/>
          </a:prstGeom>
          <a:noFill/>
          <a:ln/>
        </p:spPr>
        <p:txBody>
          <a:bodyPr wrap="square" lIns="254" tIns="254" rIns="254" bIns="254" rtlCol="0" anchor="t">
            <a:normAutofit/>
          </a:bodyPr>
          <a:lstStyle/>
          <a:p>
            <a:pPr indent="0" marL="0">
              <a:buNone/>
            </a:pPr>
            <a:r>
              <a:rPr lang="en-US" sz="1900" dirty="0">
                <a:solidFill>
                  <a:srgbClr val="374151"/>
                </a:solidFill>
              </a:rPr>
              <a:t>Relire : destinataires, objet, faits, impact, action attendue, confidentialité.</a:t>
            </a:r>
            <a:endParaRPr lang="en-US" sz="1900" dirty="0"/>
          </a:p>
        </p:txBody>
      </p:sp>
      <p:sp>
        <p:nvSpPr>
          <p:cNvPr id="18" name="Shape 16"/>
          <p:cNvSpPr/>
          <p:nvPr/>
        </p:nvSpPr>
        <p:spPr>
          <a:xfrm>
            <a:off x="6217920" y="3063240"/>
            <a:ext cx="5257800" cy="1097280"/>
          </a:xfrm>
          <a:prstGeom prst="roundRect">
            <a:avLst>
              <a:gd name="adj" fmla="val 6667"/>
            </a:avLst>
          </a:prstGeom>
          <a:solidFill>
            <a:srgbClr val="E8F1FB"/>
          </a:solidFill>
          <a:ln w="12700">
            <a:solidFill>
              <a:srgbClr val="BCD3EE"/>
            </a:solidFill>
            <a:prstDash val="solid"/>
          </a:ln>
        </p:spPr>
      </p:sp>
      <p:sp>
        <p:nvSpPr>
          <p:cNvPr id="19" name="Text 17"/>
          <p:cNvSpPr/>
          <p:nvPr/>
        </p:nvSpPr>
        <p:spPr>
          <a:xfrm>
            <a:off x="6355080" y="3172968"/>
            <a:ext cx="4983480" cy="256032"/>
          </a:xfrm>
          <a:prstGeom prst="rect">
            <a:avLst/>
          </a:prstGeom>
          <a:noFill/>
          <a:ln/>
        </p:spPr>
        <p:txBody>
          <a:bodyPr wrap="square" lIns="254" tIns="254" rIns="254" bIns="254" rtlCol="0" anchor="ctr">
            <a:normAutofit/>
          </a:bodyPr>
          <a:lstStyle/>
          <a:p>
            <a:pPr indent="0" marL="0">
              <a:buNone/>
            </a:pPr>
            <a:r>
              <a:rPr lang="en-US" sz="2000" b="1" dirty="0">
                <a:solidFill>
                  <a:srgbClr val="2F6DB7"/>
                </a:solidFill>
              </a:rPr>
              <a:t>A — Améliorer</a:t>
            </a:r>
            <a:endParaRPr lang="en-US" sz="2000" dirty="0"/>
          </a:p>
        </p:txBody>
      </p:sp>
      <p:sp>
        <p:nvSpPr>
          <p:cNvPr id="20" name="Text 18"/>
          <p:cNvSpPr/>
          <p:nvPr/>
        </p:nvSpPr>
        <p:spPr>
          <a:xfrm>
            <a:off x="6355080" y="3520440"/>
            <a:ext cx="4983480" cy="548640"/>
          </a:xfrm>
          <a:prstGeom prst="rect">
            <a:avLst/>
          </a:prstGeom>
          <a:noFill/>
          <a:ln/>
        </p:spPr>
        <p:txBody>
          <a:bodyPr wrap="square" lIns="254" tIns="254" rIns="254" bIns="254" rtlCol="0" anchor="t">
            <a:normAutofit/>
          </a:bodyPr>
          <a:lstStyle/>
          <a:p>
            <a:pPr indent="0" marL="0">
              <a:buNone/>
            </a:pPr>
            <a:r>
              <a:rPr lang="en-US" sz="1900" dirty="0">
                <a:solidFill>
                  <a:srgbClr val="374151"/>
                </a:solidFill>
              </a:rPr>
              <a:t>Après retour : corriger le modèle, clarifier la procédure, éviter la répétition de l’erreur.</a:t>
            </a:r>
            <a:endParaRPr lang="en-US" sz="1900" dirty="0"/>
          </a:p>
        </p:txBody>
      </p:sp>
      <p:sp>
        <p:nvSpPr>
          <p:cNvPr id="21" name="Shape 19"/>
          <p:cNvSpPr/>
          <p:nvPr/>
        </p:nvSpPr>
        <p:spPr>
          <a:xfrm>
            <a:off x="731520" y="4892040"/>
            <a:ext cx="10744200" cy="868680"/>
          </a:xfrm>
          <a:prstGeom prst="roundRect">
            <a:avLst>
              <a:gd name="adj" fmla="val 8421"/>
            </a:avLst>
          </a:prstGeom>
          <a:solidFill>
            <a:srgbClr val="FFFFFF"/>
          </a:solidFill>
          <a:ln w="12700">
            <a:solidFill>
              <a:srgbClr val="B0B7C3"/>
            </a:solidFill>
            <a:prstDash val="solid"/>
          </a:ln>
        </p:spPr>
      </p:sp>
      <p:sp>
        <p:nvSpPr>
          <p:cNvPr id="22" name="Text 20"/>
          <p:cNvSpPr/>
          <p:nvPr/>
        </p:nvSpPr>
        <p:spPr>
          <a:xfrm>
            <a:off x="868680" y="5001768"/>
            <a:ext cx="10469880" cy="256032"/>
          </a:xfrm>
          <a:prstGeom prst="rect">
            <a:avLst/>
          </a:prstGeom>
          <a:noFill/>
          <a:ln/>
        </p:spPr>
        <p:txBody>
          <a:bodyPr wrap="square" lIns="254" tIns="254" rIns="254" bIns="254" rtlCol="0" anchor="ctr">
            <a:normAutofit/>
          </a:bodyPr>
          <a:lstStyle/>
          <a:p>
            <a:pPr indent="0" marL="0">
              <a:buNone/>
            </a:pPr>
            <a:r>
              <a:rPr lang="en-US" sz="2000" b="1" dirty="0">
                <a:solidFill>
                  <a:srgbClr val="1D3557"/>
                </a:solidFill>
              </a:rPr>
              <a:t>Idée clé</a:t>
            </a:r>
            <a:endParaRPr lang="en-US" sz="2000" dirty="0"/>
          </a:p>
        </p:txBody>
      </p:sp>
      <p:sp>
        <p:nvSpPr>
          <p:cNvPr id="23" name="Text 21"/>
          <p:cNvSpPr/>
          <p:nvPr/>
        </p:nvSpPr>
        <p:spPr>
          <a:xfrm>
            <a:off x="868680" y="5349240"/>
            <a:ext cx="10469880" cy="320040"/>
          </a:xfrm>
          <a:prstGeom prst="rect">
            <a:avLst/>
          </a:prstGeom>
          <a:noFill/>
          <a:ln/>
        </p:spPr>
        <p:txBody>
          <a:bodyPr wrap="square" lIns="254" tIns="254" rIns="254" bIns="254" rtlCol="0" anchor="t">
            <a:normAutofit/>
          </a:bodyPr>
          <a:lstStyle/>
          <a:p>
            <a:pPr indent="0" marL="0">
              <a:buNone/>
            </a:pPr>
            <a:r>
              <a:rPr lang="en-US" sz="1900" dirty="0">
                <a:solidFill>
                  <a:srgbClr val="374151"/>
                </a:solidFill>
              </a:rPr>
              <a:t>PDCA transforme la communication interne en réflexe d’amélioration continue : on ne se contente pas d’envoyer, on apprend à mieux communiquer.</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2F6DB7"/>
          </a:solidFill>
          <a:ln w="12700">
            <a:solidFill>
              <a:srgbClr val="2F6DB7"/>
            </a:solidFill>
            <a:prstDash val="solid"/>
          </a:ln>
        </p:spPr>
      </p:sp>
      <p:sp>
        <p:nvSpPr>
          <p:cNvPr id="3" name="Text 1"/>
          <p:cNvSpPr/>
          <p:nvPr/>
        </p:nvSpPr>
        <p:spPr>
          <a:xfrm>
            <a:off x="228600" y="109728"/>
            <a:ext cx="1234440" cy="23774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Séance 4</a:t>
            </a:r>
            <a:endParaRPr lang="en-US" sz="1400" dirty="0"/>
          </a:p>
        </p:txBody>
      </p:sp>
      <p:sp>
        <p:nvSpPr>
          <p:cNvPr id="4" name="Text 2"/>
          <p:cNvSpPr/>
          <p:nvPr/>
        </p:nvSpPr>
        <p:spPr>
          <a:xfrm>
            <a:off x="7315200" y="109728"/>
            <a:ext cx="4480560" cy="237744"/>
          </a:xfrm>
          <a:prstGeom prst="rect">
            <a:avLst/>
          </a:prstGeom>
          <a:noFill/>
          <a:ln/>
        </p:spPr>
        <p:txBody>
          <a:bodyPr wrap="square" lIns="0" tIns="0" rIns="0" bIns="0" rtlCol="0" anchor="ctr"/>
          <a:lstStyle/>
          <a:p>
            <a:pPr algn="r" indent="0" marL="0">
              <a:buNone/>
            </a:pPr>
            <a:r>
              <a:rPr lang="en-US" sz="1400" b="1" dirty="0">
                <a:solidFill>
                  <a:srgbClr val="FFFFFF"/>
                </a:solidFill>
                <a:latin typeface="Arial" pitchFamily="34" charset="0"/>
                <a:ea typeface="Arial" pitchFamily="34" charset="-122"/>
                <a:cs typeface="Arial" pitchFamily="34" charset="-120"/>
              </a:rPr>
              <a:t>Communication interne professionnelle</a:t>
            </a:r>
            <a:endParaRPr lang="en-US" sz="1400" dirty="0"/>
          </a:p>
        </p:txBody>
      </p:sp>
      <p:sp>
        <p:nvSpPr>
          <p:cNvPr id="5" name="Shape 3"/>
          <p:cNvSpPr/>
          <p:nvPr/>
        </p:nvSpPr>
        <p:spPr>
          <a:xfrm>
            <a:off x="0" y="6574536"/>
            <a:ext cx="12191695" cy="283464"/>
          </a:xfrm>
          <a:prstGeom prst="rect">
            <a:avLst/>
          </a:prstGeom>
          <a:solidFill>
            <a:srgbClr val="F5F7FA"/>
          </a:solidFill>
          <a:ln w="12700">
            <a:solidFill>
              <a:srgbClr val="F5F7FA"/>
            </a:solidFill>
            <a:prstDash val="solid"/>
          </a:ln>
        </p:spPr>
      </p:sp>
      <p:sp>
        <p:nvSpPr>
          <p:cNvPr id="6" name="Text 4"/>
          <p:cNvSpPr/>
          <p:nvPr/>
        </p:nvSpPr>
        <p:spPr>
          <a:xfrm>
            <a:off x="11567160" y="6629400"/>
            <a:ext cx="320040" cy="164592"/>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6</a:t>
            </a:r>
            <a:endParaRPr lang="en-US" sz="1000" dirty="0"/>
          </a:p>
        </p:txBody>
      </p:sp>
      <p:sp>
        <p:nvSpPr>
          <p:cNvPr id="7" name="Text 5"/>
          <p:cNvSpPr/>
          <p:nvPr/>
        </p:nvSpPr>
        <p:spPr>
          <a:xfrm>
            <a:off x="502920" y="749808"/>
            <a:ext cx="11201400" cy="347472"/>
          </a:xfrm>
          <a:prstGeom prst="rect">
            <a:avLst/>
          </a:prstGeom>
          <a:noFill/>
          <a:ln/>
        </p:spPr>
        <p:txBody>
          <a:bodyPr wrap="square" lIns="254" tIns="254" rIns="254" bIns="254" rtlCol="0" anchor="ctr">
            <a:normAutofit/>
          </a:bodyPr>
          <a:lstStyle/>
          <a:p>
            <a:pPr indent="0" marL="0">
              <a:buNone/>
            </a:pPr>
            <a:r>
              <a:rPr lang="en-US" sz="3000" b="1" dirty="0">
                <a:solidFill>
                  <a:srgbClr val="6B2C83"/>
                </a:solidFill>
                <a:latin typeface="Arial" pitchFamily="34" charset="0"/>
                <a:ea typeface="Arial" pitchFamily="34" charset="-122"/>
                <a:cs typeface="Arial" pitchFamily="34" charset="-120"/>
              </a:rPr>
              <a:t>Relation entre PDCA et les autres méthodes</a:t>
            </a:r>
            <a:endParaRPr lang="en-US" sz="3000" dirty="0"/>
          </a:p>
        </p:txBody>
      </p:sp>
      <p:sp>
        <p:nvSpPr>
          <p:cNvPr id="8" name="Text 6"/>
          <p:cNvSpPr/>
          <p:nvPr/>
        </p:nvSpPr>
        <p:spPr>
          <a:xfrm>
            <a:off x="530352" y="1161288"/>
            <a:ext cx="10789920" cy="155448"/>
          </a:xfrm>
          <a:prstGeom prst="rect">
            <a:avLst/>
          </a:prstGeom>
          <a:noFill/>
          <a:ln/>
        </p:spPr>
        <p:txBody>
          <a:bodyPr wrap="square" lIns="0" tIns="0" rIns="0" bIns="0" rtlCol="0" anchor="ctr"/>
          <a:lstStyle/>
          <a:p>
            <a:pPr indent="0" marL="0">
              <a:buNone/>
            </a:pPr>
            <a:r>
              <a:rPr lang="en-US" sz="1500" dirty="0">
                <a:solidFill>
                  <a:srgbClr val="6B7280"/>
                </a:solidFill>
                <a:latin typeface="Arial" pitchFamily="34" charset="0"/>
                <a:ea typeface="Arial" pitchFamily="34" charset="-122"/>
                <a:cs typeface="Arial" pitchFamily="34" charset="-120"/>
              </a:rPr>
              <a:t>PDCA donne l’ordre ; les autres méthodes donnent les outils</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31520" y="1600200"/>
          <a:ext cx="10744200" cy="3749040"/>
        </p:xfrm>
        <a:graphic>
          <a:graphicData uri="http://schemas.openxmlformats.org/drawingml/2006/table">
            <a:tbl>
              <a:tblPr/>
              <a:tblGrid>
                <a:gridCol w="2011680"/>
                <a:gridCol w="4023360"/>
                <a:gridCol w="4709160"/>
              </a:tblGrid>
              <a:tr h="749808">
                <a:tc>
                  <a:txBody>
                    <a:bodyPr/>
                    <a:lstStyle/>
                    <a:p>
                      <a:pPr indent="0" marL="0">
                        <a:buNone/>
                      </a:pPr>
                      <a:r>
                        <a:rPr lang="en-US" sz="1800" b="1" dirty="0">
                          <a:solidFill>
                            <a:srgbClr val="FFFFFF"/>
                          </a:solidFill>
                          <a:latin typeface="Arial" pitchFamily="34" charset="0"/>
                          <a:ea typeface="Arial" pitchFamily="34" charset="-122"/>
                          <a:cs typeface="Arial" pitchFamily="34" charset="-120"/>
                        </a:rPr>
                        <a:t>Étape PDCA</a:t>
                      </a:r>
                      <a:endParaRPr lang="en-US" sz="18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2F6DB7"/>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Méthodes utiles</a:t>
                      </a:r>
                      <a:endParaRPr lang="en-US" sz="18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2F6DB7"/>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Question professionnelle</a:t>
                      </a:r>
                      <a:endParaRPr lang="en-US" sz="18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2F6DB7"/>
                    </a:solidFill>
                  </a:tcPr>
                </a:tc>
              </a:tr>
              <a:tr h="749808">
                <a:tc>
                  <a:txBody>
                    <a:bodyPr/>
                    <a:lstStyle/>
                    <a:p>
                      <a:pPr indent="0" marL="0">
                        <a:buNone/>
                      </a:pPr>
                      <a:r>
                        <a:rPr lang="en-US" sz="1800" dirty="0">
                          <a:solidFill>
                            <a:srgbClr val="374151"/>
                          </a:solidFill>
                          <a:latin typeface="Arial" pitchFamily="34" charset="0"/>
                          <a:ea typeface="Arial" pitchFamily="34" charset="-122"/>
                          <a:cs typeface="Arial" pitchFamily="34" charset="-120"/>
                        </a:rPr>
                        <a:t>Planifier</a:t>
                      </a:r>
                      <a:endParaRPr lang="en-US" sz="18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800" dirty="0">
                          <a:solidFill>
                            <a:srgbClr val="374151"/>
                          </a:solidFill>
                          <a:latin typeface="Arial" pitchFamily="34" charset="0"/>
                          <a:ea typeface="Arial" pitchFamily="34" charset="-122"/>
                          <a:cs typeface="Arial" pitchFamily="34" charset="-120"/>
                        </a:rPr>
                        <a:t>CLAIR · IDEA · RACI</a:t>
                      </a:r>
                      <a:endParaRPr lang="en-US" sz="18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800" dirty="0">
                          <a:solidFill>
                            <a:srgbClr val="374151"/>
                          </a:solidFill>
                          <a:latin typeface="Arial" pitchFamily="34" charset="0"/>
                          <a:ea typeface="Arial" pitchFamily="34" charset="-122"/>
                          <a:cs typeface="Arial" pitchFamily="34" charset="-120"/>
                        </a:rPr>
                        <a:t>Pourquoi je communique ? À qui ? Qui agit ?</a:t>
                      </a:r>
                      <a:endParaRPr lang="en-US" sz="18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749808">
                <a:tc>
                  <a:txBody>
                    <a:bodyPr/>
                    <a:lstStyle/>
                    <a:p>
                      <a:pPr indent="0" marL="0">
                        <a:buNone/>
                      </a:pPr>
                      <a:r>
                        <a:rPr lang="en-US" sz="1800" dirty="0">
                          <a:solidFill>
                            <a:srgbClr val="374151"/>
                          </a:solidFill>
                          <a:latin typeface="Arial" pitchFamily="34" charset="0"/>
                          <a:ea typeface="Arial" pitchFamily="34" charset="-122"/>
                          <a:cs typeface="Arial" pitchFamily="34" charset="-120"/>
                        </a:rPr>
                        <a:t>Réaliser</a:t>
                      </a:r>
                      <a:endParaRPr lang="en-US" sz="18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800" dirty="0">
                          <a:solidFill>
                            <a:srgbClr val="374151"/>
                          </a:solidFill>
                          <a:latin typeface="Arial" pitchFamily="34" charset="0"/>
                          <a:ea typeface="Arial" pitchFamily="34" charset="-122"/>
                          <a:cs typeface="Arial" pitchFamily="34" charset="-120"/>
                        </a:rPr>
                        <a:t>FIAB · PLACE</a:t>
                      </a:r>
                      <a:endParaRPr lang="en-US" sz="18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800" dirty="0">
                          <a:solidFill>
                            <a:srgbClr val="374151"/>
                          </a:solidFill>
                          <a:latin typeface="Arial" pitchFamily="34" charset="0"/>
                          <a:ea typeface="Arial" pitchFamily="34" charset="-122"/>
                          <a:cs typeface="Arial" pitchFamily="34" charset="-120"/>
                        </a:rPr>
                        <a:t>Quels faits écrire ? Comment rendre le message lisible ?</a:t>
                      </a:r>
                      <a:endParaRPr lang="en-US" sz="18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749808">
                <a:tc>
                  <a:txBody>
                    <a:bodyPr/>
                    <a:lstStyle/>
                    <a:p>
                      <a:pPr indent="0" marL="0">
                        <a:buNone/>
                      </a:pPr>
                      <a:r>
                        <a:rPr lang="en-US" sz="1800" dirty="0">
                          <a:solidFill>
                            <a:srgbClr val="374151"/>
                          </a:solidFill>
                          <a:latin typeface="Arial" pitchFamily="34" charset="0"/>
                          <a:ea typeface="Arial" pitchFamily="34" charset="-122"/>
                          <a:cs typeface="Arial" pitchFamily="34" charset="-120"/>
                        </a:rPr>
                        <a:t>Contrôler</a:t>
                      </a:r>
                      <a:endParaRPr lang="en-US" sz="18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800" dirty="0">
                          <a:solidFill>
                            <a:srgbClr val="374151"/>
                          </a:solidFill>
                          <a:latin typeface="Arial" pitchFamily="34" charset="0"/>
                          <a:ea typeface="Arial" pitchFamily="34" charset="-122"/>
                          <a:cs typeface="Arial" pitchFamily="34" charset="-120"/>
                        </a:rPr>
                        <a:t>VISA</a:t>
                      </a:r>
                      <a:endParaRPr lang="en-US" sz="18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800" dirty="0">
                          <a:solidFill>
                            <a:srgbClr val="374151"/>
                          </a:solidFill>
                          <a:latin typeface="Arial" pitchFamily="34" charset="0"/>
                          <a:ea typeface="Arial" pitchFamily="34" charset="-122"/>
                          <a:cs typeface="Arial" pitchFamily="34" charset="-120"/>
                        </a:rPr>
                        <a:t>Ai-je vérifié destinataires, objet, PJ, forme et ton ?</a:t>
                      </a:r>
                      <a:endParaRPr lang="en-US" sz="18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749808">
                <a:tc>
                  <a:txBody>
                    <a:bodyPr/>
                    <a:lstStyle/>
                    <a:p>
                      <a:pPr indent="0" marL="0">
                        <a:buNone/>
                      </a:pPr>
                      <a:r>
                        <a:rPr lang="en-US" sz="1800" dirty="0">
                          <a:solidFill>
                            <a:srgbClr val="374151"/>
                          </a:solidFill>
                          <a:latin typeface="Arial" pitchFamily="34" charset="0"/>
                          <a:ea typeface="Arial" pitchFamily="34" charset="-122"/>
                          <a:cs typeface="Arial" pitchFamily="34" charset="-120"/>
                        </a:rPr>
                        <a:t>Améliorer</a:t>
                      </a:r>
                      <a:endParaRPr lang="en-US" sz="18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800" dirty="0">
                          <a:solidFill>
                            <a:srgbClr val="374151"/>
                          </a:solidFill>
                          <a:latin typeface="Arial" pitchFamily="34" charset="0"/>
                          <a:ea typeface="Arial" pitchFamily="34" charset="-122"/>
                          <a:cs typeface="Arial" pitchFamily="34" charset="-120"/>
                        </a:rPr>
                        <a:t>PDCA · retour d’expérience</a:t>
                      </a:r>
                      <a:endParaRPr lang="en-US" sz="18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800" dirty="0">
                          <a:solidFill>
                            <a:srgbClr val="374151"/>
                          </a:solidFill>
                          <a:latin typeface="Arial" pitchFamily="34" charset="0"/>
                          <a:ea typeface="Arial" pitchFamily="34" charset="-122"/>
                          <a:cs typeface="Arial" pitchFamily="34" charset="-120"/>
                        </a:rPr>
                        <a:t>Qu’est-ce qu’on corrige pour éviter la même erreur ?</a:t>
                      </a:r>
                      <a:endParaRPr lang="en-US" sz="18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bl>
          </a:graphicData>
        </a:graphic>
      </p:graphicFrame>
      <p:sp>
        <p:nvSpPr>
          <p:cNvPr id="10" name="Shape 7"/>
          <p:cNvSpPr/>
          <p:nvPr/>
        </p:nvSpPr>
        <p:spPr>
          <a:xfrm>
            <a:off x="731520" y="5486400"/>
            <a:ext cx="10744200" cy="594360"/>
          </a:xfrm>
          <a:prstGeom prst="roundRect">
            <a:avLst>
              <a:gd name="adj" fmla="val 12308"/>
            </a:avLst>
          </a:prstGeom>
          <a:solidFill>
            <a:srgbClr val="F7F4FB"/>
          </a:solidFill>
          <a:ln w="12700">
            <a:solidFill>
              <a:srgbClr val="D9C7E5"/>
            </a:solidFill>
            <a:prstDash val="solid"/>
          </a:ln>
        </p:spPr>
      </p:sp>
      <p:sp>
        <p:nvSpPr>
          <p:cNvPr id="11" name="Text 8"/>
          <p:cNvSpPr/>
          <p:nvPr/>
        </p:nvSpPr>
        <p:spPr>
          <a:xfrm>
            <a:off x="868680" y="5596128"/>
            <a:ext cx="10469880" cy="256032"/>
          </a:xfrm>
          <a:prstGeom prst="rect">
            <a:avLst/>
          </a:prstGeom>
          <a:noFill/>
          <a:ln/>
        </p:spPr>
        <p:txBody>
          <a:bodyPr wrap="square" lIns="254" tIns="254" rIns="254" bIns="254" rtlCol="0" anchor="ctr">
            <a:normAutofit/>
          </a:bodyPr>
          <a:lstStyle/>
          <a:p>
            <a:pPr indent="0" marL="0">
              <a:buNone/>
            </a:pPr>
            <a:r>
              <a:rPr lang="en-US" sz="2000" b="1" dirty="0">
                <a:solidFill>
                  <a:srgbClr val="6B2C83"/>
                </a:solidFill>
              </a:rPr>
              <a:t>Formule à retenir</a:t>
            </a:r>
            <a:endParaRPr lang="en-US" sz="2000" dirty="0"/>
          </a:p>
        </p:txBody>
      </p:sp>
      <p:sp>
        <p:nvSpPr>
          <p:cNvPr id="12" name="Text 9"/>
          <p:cNvSpPr/>
          <p:nvPr/>
        </p:nvSpPr>
        <p:spPr>
          <a:xfrm>
            <a:off x="868680" y="5943600"/>
            <a:ext cx="10469880" cy="45720"/>
          </a:xfrm>
          <a:prstGeom prst="rect">
            <a:avLst/>
          </a:prstGeom>
          <a:noFill/>
          <a:ln/>
        </p:spPr>
        <p:txBody>
          <a:bodyPr wrap="square" lIns="254" tIns="254" rIns="254" bIns="254" rtlCol="0" anchor="t">
            <a:normAutofit/>
          </a:bodyPr>
          <a:lstStyle/>
          <a:p>
            <a:pPr indent="0" marL="0">
              <a:buNone/>
            </a:pPr>
            <a:r>
              <a:rPr lang="en-US" sz="1700" dirty="0">
                <a:solidFill>
                  <a:srgbClr val="374151"/>
                </a:solidFill>
              </a:rPr>
              <a:t>PDCA est la logique générale. CLAIR, IDEA, RACI, FIAB, PLACE et VISA sont les outils pratiques à utiliser dans chaque étape.</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2F6DB7"/>
          </a:solidFill>
          <a:ln w="12700">
            <a:solidFill>
              <a:srgbClr val="2F6DB7"/>
            </a:solidFill>
            <a:prstDash val="solid"/>
          </a:ln>
        </p:spPr>
      </p:sp>
      <p:sp>
        <p:nvSpPr>
          <p:cNvPr id="3" name="Text 1"/>
          <p:cNvSpPr/>
          <p:nvPr/>
        </p:nvSpPr>
        <p:spPr>
          <a:xfrm>
            <a:off x="228600" y="109728"/>
            <a:ext cx="1234440" cy="23774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Séance 4</a:t>
            </a:r>
            <a:endParaRPr lang="en-US" sz="1400" dirty="0"/>
          </a:p>
        </p:txBody>
      </p:sp>
      <p:sp>
        <p:nvSpPr>
          <p:cNvPr id="4" name="Text 2"/>
          <p:cNvSpPr/>
          <p:nvPr/>
        </p:nvSpPr>
        <p:spPr>
          <a:xfrm>
            <a:off x="7315200" y="109728"/>
            <a:ext cx="4480560" cy="237744"/>
          </a:xfrm>
          <a:prstGeom prst="rect">
            <a:avLst/>
          </a:prstGeom>
          <a:noFill/>
          <a:ln/>
        </p:spPr>
        <p:txBody>
          <a:bodyPr wrap="square" lIns="0" tIns="0" rIns="0" bIns="0" rtlCol="0" anchor="ctr"/>
          <a:lstStyle/>
          <a:p>
            <a:pPr algn="r" indent="0" marL="0">
              <a:buNone/>
            </a:pPr>
            <a:r>
              <a:rPr lang="en-US" sz="1400" b="1" dirty="0">
                <a:solidFill>
                  <a:srgbClr val="FFFFFF"/>
                </a:solidFill>
                <a:latin typeface="Arial" pitchFamily="34" charset="0"/>
                <a:ea typeface="Arial" pitchFamily="34" charset="-122"/>
                <a:cs typeface="Arial" pitchFamily="34" charset="-120"/>
              </a:rPr>
              <a:t>Communication interne professionnelle</a:t>
            </a:r>
            <a:endParaRPr lang="en-US" sz="1400" dirty="0"/>
          </a:p>
        </p:txBody>
      </p:sp>
      <p:sp>
        <p:nvSpPr>
          <p:cNvPr id="5" name="Shape 3"/>
          <p:cNvSpPr/>
          <p:nvPr/>
        </p:nvSpPr>
        <p:spPr>
          <a:xfrm>
            <a:off x="0" y="6574536"/>
            <a:ext cx="12191695" cy="283464"/>
          </a:xfrm>
          <a:prstGeom prst="rect">
            <a:avLst/>
          </a:prstGeom>
          <a:solidFill>
            <a:srgbClr val="F5F7FA"/>
          </a:solidFill>
          <a:ln w="12700">
            <a:solidFill>
              <a:srgbClr val="F5F7FA"/>
            </a:solidFill>
            <a:prstDash val="solid"/>
          </a:ln>
        </p:spPr>
      </p:sp>
      <p:sp>
        <p:nvSpPr>
          <p:cNvPr id="6" name="Text 4"/>
          <p:cNvSpPr/>
          <p:nvPr/>
        </p:nvSpPr>
        <p:spPr>
          <a:xfrm>
            <a:off x="11567160" y="6629400"/>
            <a:ext cx="320040" cy="164592"/>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7</a:t>
            </a:r>
            <a:endParaRPr lang="en-US" sz="1000" dirty="0"/>
          </a:p>
        </p:txBody>
      </p:sp>
      <p:sp>
        <p:nvSpPr>
          <p:cNvPr id="7" name="Text 5"/>
          <p:cNvSpPr/>
          <p:nvPr/>
        </p:nvSpPr>
        <p:spPr>
          <a:xfrm>
            <a:off x="502920" y="749808"/>
            <a:ext cx="11201400" cy="347472"/>
          </a:xfrm>
          <a:prstGeom prst="rect">
            <a:avLst/>
          </a:prstGeom>
          <a:noFill/>
          <a:ln/>
        </p:spPr>
        <p:txBody>
          <a:bodyPr wrap="square" lIns="254" tIns="254" rIns="254" bIns="254" rtlCol="0" anchor="ctr">
            <a:normAutofit/>
          </a:bodyPr>
          <a:lstStyle/>
          <a:p>
            <a:pPr indent="0" marL="0">
              <a:buNone/>
            </a:pPr>
            <a:r>
              <a:rPr lang="en-US" sz="3000" b="1" dirty="0">
                <a:solidFill>
                  <a:srgbClr val="6B2C83"/>
                </a:solidFill>
                <a:latin typeface="Arial" pitchFamily="34" charset="0"/>
                <a:ea typeface="Arial" pitchFamily="34" charset="-122"/>
                <a:cs typeface="Arial" pitchFamily="34" charset="-120"/>
              </a:rPr>
              <a:t>Mini-atelier 1 : appliquer PDCA avant d’écrire</a:t>
            </a:r>
            <a:endParaRPr lang="en-US" sz="3000" dirty="0"/>
          </a:p>
        </p:txBody>
      </p:sp>
      <p:sp>
        <p:nvSpPr>
          <p:cNvPr id="8" name="Text 6"/>
          <p:cNvSpPr/>
          <p:nvPr/>
        </p:nvSpPr>
        <p:spPr>
          <a:xfrm>
            <a:off x="530352" y="1161288"/>
            <a:ext cx="10789920" cy="155448"/>
          </a:xfrm>
          <a:prstGeom prst="rect">
            <a:avLst/>
          </a:prstGeom>
          <a:noFill/>
          <a:ln/>
        </p:spPr>
        <p:txBody>
          <a:bodyPr wrap="square" lIns="0" tIns="0" rIns="0" bIns="0" rtlCol="0" anchor="ctr"/>
          <a:lstStyle/>
          <a:p>
            <a:pPr indent="0" marL="0">
              <a:buNone/>
            </a:pPr>
            <a:r>
              <a:rPr lang="en-US" sz="1500" dirty="0">
                <a:solidFill>
                  <a:srgbClr val="6B7280"/>
                </a:solidFill>
                <a:latin typeface="Arial" pitchFamily="34" charset="0"/>
                <a:ea typeface="Arial" pitchFamily="34" charset="-122"/>
                <a:cs typeface="Arial" pitchFamily="34" charset="-120"/>
              </a:rPr>
              <a:t>Situation : un même problème revient dans plusieurs dossiers</a:t>
            </a:r>
            <a:endParaRPr lang="en-US" sz="1500" dirty="0"/>
          </a:p>
        </p:txBody>
      </p:sp>
      <p:sp>
        <p:nvSpPr>
          <p:cNvPr id="9" name="Shape 7"/>
          <p:cNvSpPr/>
          <p:nvPr/>
        </p:nvSpPr>
        <p:spPr>
          <a:xfrm>
            <a:off x="731520" y="1508760"/>
            <a:ext cx="10744200" cy="960120"/>
          </a:xfrm>
          <a:prstGeom prst="roundRect">
            <a:avLst>
              <a:gd name="adj" fmla="val 7619"/>
            </a:avLst>
          </a:prstGeom>
          <a:solidFill>
            <a:srgbClr val="FFFFFF"/>
          </a:solidFill>
          <a:ln w="12700">
            <a:solidFill>
              <a:srgbClr val="CBD5E1"/>
            </a:solidFill>
            <a:prstDash val="solid"/>
          </a:ln>
        </p:spPr>
      </p:sp>
      <p:sp>
        <p:nvSpPr>
          <p:cNvPr id="10" name="Text 8"/>
          <p:cNvSpPr/>
          <p:nvPr/>
        </p:nvSpPr>
        <p:spPr>
          <a:xfrm>
            <a:off x="868680" y="1618488"/>
            <a:ext cx="10469880" cy="256032"/>
          </a:xfrm>
          <a:prstGeom prst="rect">
            <a:avLst/>
          </a:prstGeom>
          <a:noFill/>
          <a:ln/>
        </p:spPr>
        <p:txBody>
          <a:bodyPr wrap="square" lIns="254" tIns="254" rIns="254" bIns="254" rtlCol="0" anchor="ctr">
            <a:normAutofit/>
          </a:bodyPr>
          <a:lstStyle/>
          <a:p>
            <a:pPr indent="0" marL="0">
              <a:buNone/>
            </a:pPr>
            <a:r>
              <a:rPr lang="en-US" sz="2000" b="1" dirty="0">
                <a:solidFill>
                  <a:srgbClr val="1D3557"/>
                </a:solidFill>
              </a:rPr>
              <a:t>Situation</a:t>
            </a:r>
            <a:endParaRPr lang="en-US" sz="2000" dirty="0"/>
          </a:p>
        </p:txBody>
      </p:sp>
      <p:sp>
        <p:nvSpPr>
          <p:cNvPr id="11" name="Text 9"/>
          <p:cNvSpPr/>
          <p:nvPr/>
        </p:nvSpPr>
        <p:spPr>
          <a:xfrm>
            <a:off x="868680" y="1965960"/>
            <a:ext cx="10469880" cy="411480"/>
          </a:xfrm>
          <a:prstGeom prst="rect">
            <a:avLst/>
          </a:prstGeom>
          <a:noFill/>
          <a:ln/>
        </p:spPr>
        <p:txBody>
          <a:bodyPr wrap="square" lIns="254" tIns="254" rIns="254" bIns="254" rtlCol="0" anchor="t">
            <a:normAutofit/>
          </a:bodyPr>
          <a:lstStyle/>
          <a:p>
            <a:pPr indent="0" marL="0">
              <a:buNone/>
            </a:pPr>
            <a:r>
              <a:rPr lang="en-US" sz="2000" dirty="0">
                <a:solidFill>
                  <a:srgbClr val="374151"/>
                </a:solidFill>
              </a:rPr>
              <a:t>Plusieurs agents constatent une erreur répétitive dans l’outil. Le client n’est pas encore informé. Il faut remonter l’information pour vérification interne.</a:t>
            </a:r>
            <a:endParaRPr lang="en-US" sz="2000" dirty="0"/>
          </a:p>
        </p:txBody>
      </p:sp>
      <p:sp>
        <p:nvSpPr>
          <p:cNvPr id="12" name="Shape 10"/>
          <p:cNvSpPr/>
          <p:nvPr/>
        </p:nvSpPr>
        <p:spPr>
          <a:xfrm>
            <a:off x="731520" y="2743200"/>
            <a:ext cx="10744200" cy="1828800"/>
          </a:xfrm>
          <a:prstGeom prst="roundRect">
            <a:avLst>
              <a:gd name="adj" fmla="val 4000"/>
            </a:avLst>
          </a:prstGeom>
          <a:solidFill>
            <a:srgbClr val="E8F1FB"/>
          </a:solidFill>
          <a:ln w="12700">
            <a:solidFill>
              <a:srgbClr val="B7D0EF"/>
            </a:solidFill>
            <a:prstDash val="solid"/>
          </a:ln>
        </p:spPr>
      </p:sp>
      <p:sp>
        <p:nvSpPr>
          <p:cNvPr id="13" name="Text 11"/>
          <p:cNvSpPr/>
          <p:nvPr/>
        </p:nvSpPr>
        <p:spPr>
          <a:xfrm>
            <a:off x="868680" y="2852928"/>
            <a:ext cx="10469880" cy="256032"/>
          </a:xfrm>
          <a:prstGeom prst="rect">
            <a:avLst/>
          </a:prstGeom>
          <a:noFill/>
          <a:ln/>
        </p:spPr>
        <p:txBody>
          <a:bodyPr wrap="square" lIns="254" tIns="254" rIns="254" bIns="254" rtlCol="0" anchor="ctr">
            <a:normAutofit/>
          </a:bodyPr>
          <a:lstStyle/>
          <a:p>
            <a:pPr indent="0" marL="0">
              <a:buNone/>
            </a:pPr>
            <a:r>
              <a:rPr lang="en-US" sz="2000" b="1" dirty="0">
                <a:solidFill>
                  <a:srgbClr val="2F6DB7"/>
                </a:solidFill>
              </a:rPr>
              <a:t>Travail demandé</a:t>
            </a:r>
            <a:endParaRPr lang="en-US" sz="2000" dirty="0"/>
          </a:p>
        </p:txBody>
      </p:sp>
      <p:sp>
        <p:nvSpPr>
          <p:cNvPr id="14" name="Text 12"/>
          <p:cNvSpPr/>
          <p:nvPr/>
        </p:nvSpPr>
        <p:spPr>
          <a:xfrm>
            <a:off x="868680" y="3200400"/>
            <a:ext cx="10469880" cy="1280160"/>
          </a:xfrm>
          <a:prstGeom prst="rect">
            <a:avLst/>
          </a:prstGeom>
          <a:noFill/>
          <a:ln/>
        </p:spPr>
        <p:txBody>
          <a:bodyPr wrap="square" lIns="254" tIns="254" rIns="254" bIns="254" rtlCol="0" anchor="t">
            <a:normAutofit/>
          </a:bodyPr>
          <a:lstStyle/>
          <a:p>
            <a:pPr indent="0" marL="0">
              <a:buNone/>
            </a:pPr>
            <a:r>
              <a:rPr lang="en-US" sz="2100" dirty="0">
                <a:solidFill>
                  <a:srgbClr val="374151"/>
                </a:solidFill>
              </a:rPr>
              <a:t>1. Planifier : objectif, destinataire, urgence.</a:t>
            </a:r>
            <a:endParaRPr lang="en-US" sz="2100" dirty="0"/>
          </a:p>
          <a:p>
            <a:pPr indent="0" marL="0">
              <a:buNone/>
            </a:pPr>
            <a:r>
              <a:rPr lang="en-US" sz="2100" dirty="0">
                <a:solidFill>
                  <a:srgbClr val="374151"/>
                </a:solidFill>
              </a:rPr>
              <a:t>2. Réaliser : choisir le format : email, rapport ou message court.</a:t>
            </a:r>
            <a:endParaRPr lang="en-US" sz="2100" dirty="0"/>
          </a:p>
          <a:p>
            <a:pPr indent="0" marL="0">
              <a:buNone/>
            </a:pPr>
            <a:r>
              <a:rPr lang="en-US" sz="2100" dirty="0">
                <a:solidFill>
                  <a:srgbClr val="374151"/>
                </a:solidFill>
              </a:rPr>
              <a:t>3. Contrôler : vérifier les informations manquantes.</a:t>
            </a:r>
            <a:endParaRPr lang="en-US" sz="2100" dirty="0"/>
          </a:p>
          <a:p>
            <a:pPr indent="0" marL="0">
              <a:buNone/>
            </a:pPr>
            <a:r>
              <a:rPr lang="en-US" sz="2100" dirty="0">
                <a:solidFill>
                  <a:srgbClr val="374151"/>
                </a:solidFill>
              </a:rPr>
              <a:t>4. Améliorer : proposer une action pour éviter la répétition.</a:t>
            </a:r>
            <a:endParaRPr lang="en-US" sz="2100" dirty="0"/>
          </a:p>
        </p:txBody>
      </p:sp>
      <p:sp>
        <p:nvSpPr>
          <p:cNvPr id="15" name="Shape 13"/>
          <p:cNvSpPr/>
          <p:nvPr/>
        </p:nvSpPr>
        <p:spPr>
          <a:xfrm>
            <a:off x="731520" y="4983480"/>
            <a:ext cx="10744200" cy="594360"/>
          </a:xfrm>
          <a:prstGeom prst="roundRect">
            <a:avLst>
              <a:gd name="adj" fmla="val 12308"/>
            </a:avLst>
          </a:prstGeom>
          <a:solidFill>
            <a:srgbClr val="F2EAF6"/>
          </a:solidFill>
          <a:ln w="12700">
            <a:solidFill>
              <a:srgbClr val="DCC6E6"/>
            </a:solidFill>
            <a:prstDash val="solid"/>
          </a:ln>
        </p:spPr>
      </p:sp>
      <p:sp>
        <p:nvSpPr>
          <p:cNvPr id="16" name="Text 14"/>
          <p:cNvSpPr/>
          <p:nvPr/>
        </p:nvSpPr>
        <p:spPr>
          <a:xfrm>
            <a:off x="868680" y="5093208"/>
            <a:ext cx="10469880" cy="256032"/>
          </a:xfrm>
          <a:prstGeom prst="rect">
            <a:avLst/>
          </a:prstGeom>
          <a:noFill/>
          <a:ln/>
        </p:spPr>
        <p:txBody>
          <a:bodyPr wrap="square" lIns="254" tIns="254" rIns="254" bIns="254" rtlCol="0" anchor="ctr">
            <a:normAutofit/>
          </a:bodyPr>
          <a:lstStyle/>
          <a:p>
            <a:pPr indent="0" marL="0">
              <a:buNone/>
            </a:pPr>
            <a:r>
              <a:rPr lang="en-US" sz="2000" b="1" dirty="0">
                <a:solidFill>
                  <a:srgbClr val="6B2C83"/>
                </a:solidFill>
              </a:rPr>
              <a:t>Temps</a:t>
            </a:r>
            <a:endParaRPr lang="en-US" sz="2000" dirty="0"/>
          </a:p>
        </p:txBody>
      </p:sp>
      <p:sp>
        <p:nvSpPr>
          <p:cNvPr id="17" name="Text 15"/>
          <p:cNvSpPr/>
          <p:nvPr/>
        </p:nvSpPr>
        <p:spPr>
          <a:xfrm>
            <a:off x="868680" y="5440680"/>
            <a:ext cx="10469880" cy="45720"/>
          </a:xfrm>
          <a:prstGeom prst="rect">
            <a:avLst/>
          </a:prstGeom>
          <a:noFill/>
          <a:ln/>
        </p:spPr>
        <p:txBody>
          <a:bodyPr wrap="square" lIns="254" tIns="254" rIns="254" bIns="254" rtlCol="0" anchor="t">
            <a:normAutofit/>
          </a:bodyPr>
          <a:lstStyle/>
          <a:p>
            <a:pPr indent="0" marL="0">
              <a:buNone/>
            </a:pPr>
            <a:r>
              <a:rPr lang="en-US" sz="1900" dirty="0">
                <a:solidFill>
                  <a:srgbClr val="374151"/>
                </a:solidFill>
              </a:rPr>
              <a:t>7 minutes en groupes de 3, puis correction collective.</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2F6DB7"/>
          </a:solidFill>
          <a:ln w="12700">
            <a:solidFill>
              <a:srgbClr val="2F6DB7"/>
            </a:solidFill>
            <a:prstDash val="solid"/>
          </a:ln>
        </p:spPr>
      </p:sp>
      <p:sp>
        <p:nvSpPr>
          <p:cNvPr id="3" name="Text 1"/>
          <p:cNvSpPr/>
          <p:nvPr/>
        </p:nvSpPr>
        <p:spPr>
          <a:xfrm>
            <a:off x="228600" y="109728"/>
            <a:ext cx="1234440" cy="23774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Séance 4</a:t>
            </a:r>
            <a:endParaRPr lang="en-US" sz="1400" dirty="0"/>
          </a:p>
        </p:txBody>
      </p:sp>
      <p:sp>
        <p:nvSpPr>
          <p:cNvPr id="4" name="Text 2"/>
          <p:cNvSpPr/>
          <p:nvPr/>
        </p:nvSpPr>
        <p:spPr>
          <a:xfrm>
            <a:off x="7315200" y="109728"/>
            <a:ext cx="4480560" cy="237744"/>
          </a:xfrm>
          <a:prstGeom prst="rect">
            <a:avLst/>
          </a:prstGeom>
          <a:noFill/>
          <a:ln/>
        </p:spPr>
        <p:txBody>
          <a:bodyPr wrap="square" lIns="0" tIns="0" rIns="0" bIns="0" rtlCol="0" anchor="ctr"/>
          <a:lstStyle/>
          <a:p>
            <a:pPr algn="r" indent="0" marL="0">
              <a:buNone/>
            </a:pPr>
            <a:r>
              <a:rPr lang="en-US" sz="1400" b="1" dirty="0">
                <a:solidFill>
                  <a:srgbClr val="FFFFFF"/>
                </a:solidFill>
                <a:latin typeface="Arial" pitchFamily="34" charset="0"/>
                <a:ea typeface="Arial" pitchFamily="34" charset="-122"/>
                <a:cs typeface="Arial" pitchFamily="34" charset="-120"/>
              </a:rPr>
              <a:t>Communication interne professionnelle</a:t>
            </a:r>
            <a:endParaRPr lang="en-US" sz="1400" dirty="0"/>
          </a:p>
        </p:txBody>
      </p:sp>
      <p:sp>
        <p:nvSpPr>
          <p:cNvPr id="5" name="Shape 3"/>
          <p:cNvSpPr/>
          <p:nvPr/>
        </p:nvSpPr>
        <p:spPr>
          <a:xfrm>
            <a:off x="0" y="6574536"/>
            <a:ext cx="12191695" cy="283464"/>
          </a:xfrm>
          <a:prstGeom prst="rect">
            <a:avLst/>
          </a:prstGeom>
          <a:solidFill>
            <a:srgbClr val="F5F7FA"/>
          </a:solidFill>
          <a:ln w="12700">
            <a:solidFill>
              <a:srgbClr val="F5F7FA"/>
            </a:solidFill>
            <a:prstDash val="solid"/>
          </a:ln>
        </p:spPr>
      </p:sp>
      <p:sp>
        <p:nvSpPr>
          <p:cNvPr id="6" name="Text 4"/>
          <p:cNvSpPr/>
          <p:nvPr/>
        </p:nvSpPr>
        <p:spPr>
          <a:xfrm>
            <a:off x="11567160" y="6629400"/>
            <a:ext cx="320040" cy="164592"/>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8</a:t>
            </a:r>
            <a:endParaRPr lang="en-US" sz="1000" dirty="0"/>
          </a:p>
        </p:txBody>
      </p:sp>
      <p:sp>
        <p:nvSpPr>
          <p:cNvPr id="7" name="Text 5"/>
          <p:cNvSpPr/>
          <p:nvPr/>
        </p:nvSpPr>
        <p:spPr>
          <a:xfrm>
            <a:off x="502920" y="749808"/>
            <a:ext cx="11201400" cy="347472"/>
          </a:xfrm>
          <a:prstGeom prst="rect">
            <a:avLst/>
          </a:prstGeom>
          <a:noFill/>
          <a:ln/>
        </p:spPr>
        <p:txBody>
          <a:bodyPr wrap="square" lIns="254" tIns="254" rIns="254" bIns="254" rtlCol="0" anchor="ctr">
            <a:normAutofit/>
          </a:bodyPr>
          <a:lstStyle/>
          <a:p>
            <a:pPr indent="0" marL="0">
              <a:buNone/>
            </a:pPr>
            <a:r>
              <a:rPr lang="en-US" sz="3000" b="1" dirty="0">
                <a:solidFill>
                  <a:srgbClr val="6B2C83"/>
                </a:solidFill>
                <a:latin typeface="Arial" pitchFamily="34" charset="0"/>
                <a:ea typeface="Arial" pitchFamily="34" charset="-122"/>
                <a:cs typeface="Arial" pitchFamily="34" charset="-120"/>
              </a:rPr>
              <a:t>L’email professionnel complet</a:t>
            </a:r>
            <a:endParaRPr lang="en-US" sz="3000" dirty="0"/>
          </a:p>
        </p:txBody>
      </p:sp>
      <p:sp>
        <p:nvSpPr>
          <p:cNvPr id="8" name="Text 6"/>
          <p:cNvSpPr/>
          <p:nvPr/>
        </p:nvSpPr>
        <p:spPr>
          <a:xfrm>
            <a:off x="530352" y="1161288"/>
            <a:ext cx="10789920" cy="155448"/>
          </a:xfrm>
          <a:prstGeom prst="rect">
            <a:avLst/>
          </a:prstGeom>
          <a:noFill/>
          <a:ln/>
        </p:spPr>
        <p:txBody>
          <a:bodyPr wrap="square" lIns="0" tIns="0" rIns="0" bIns="0" rtlCol="0" anchor="ctr"/>
          <a:lstStyle/>
          <a:p>
            <a:pPr indent="0" marL="0">
              <a:buNone/>
            </a:pPr>
            <a:r>
              <a:rPr lang="en-US" sz="1500" dirty="0">
                <a:solidFill>
                  <a:srgbClr val="6B7280"/>
                </a:solidFill>
                <a:latin typeface="Arial" pitchFamily="34" charset="0"/>
                <a:ea typeface="Arial" pitchFamily="34" charset="-122"/>
                <a:cs typeface="Arial" pitchFamily="34" charset="-120"/>
              </a:rPr>
              <a:t>Un email utile doit permettre de comprendre, agir et garder une trace</a:t>
            </a:r>
            <a:endParaRPr lang="en-US" sz="1500" dirty="0"/>
          </a:p>
        </p:txBody>
      </p:sp>
      <p:sp>
        <p:nvSpPr>
          <p:cNvPr id="9" name="Text 7"/>
          <p:cNvSpPr/>
          <p:nvPr/>
        </p:nvSpPr>
        <p:spPr>
          <a:xfrm>
            <a:off x="731520" y="1463040"/>
            <a:ext cx="10744200" cy="3566160"/>
          </a:xfrm>
          <a:prstGeom prst="rect">
            <a:avLst/>
          </a:prstGeom>
          <a:noFill/>
          <a:ln/>
        </p:spPr>
        <p:txBody>
          <a:bodyPr wrap="square" lIns="1016" tIns="1016" rIns="1016" bIns="1016" rtlCol="0" anchor="t">
            <a:normAutofit/>
          </a:bodyPr>
          <a:lstStyle/>
          <a:p>
            <a:r>
              <a:rPr lang="en-US" sz="2300" dirty="0">
                <a:solidFill>
                  <a:srgbClr val="374151"/>
                </a:solidFill>
                <a:latin typeface="Arial" pitchFamily="34" charset="0"/>
                <a:ea typeface="Arial" pitchFamily="34" charset="-122"/>
                <a:cs typeface="Arial" pitchFamily="34" charset="-120"/>
              </a:rPr>
              <a:t>Objet clair : sujet + action attendue + référence si nécessaire.</a:t>
            </a:r>
            <a:endParaRPr lang="en-US" sz="2300" dirty="0"/>
          </a:p>
          <a:p>
            <a:r>
              <a:rPr lang="en-US" sz="2300" dirty="0">
                <a:solidFill>
                  <a:srgbClr val="374151"/>
                </a:solidFill>
                <a:latin typeface="Arial" pitchFamily="34" charset="0"/>
                <a:ea typeface="Arial" pitchFamily="34" charset="-122"/>
                <a:cs typeface="Arial" pitchFamily="34" charset="-120"/>
              </a:rPr>
              <a:t>Destinataire principal : personne qui doit répondre, valider ou agir.</a:t>
            </a:r>
            <a:endParaRPr lang="en-US" sz="2300" dirty="0"/>
          </a:p>
          <a:p>
            <a:r>
              <a:rPr lang="en-US" sz="2300" dirty="0">
                <a:solidFill>
                  <a:srgbClr val="374151"/>
                </a:solidFill>
                <a:latin typeface="Arial" pitchFamily="34" charset="0"/>
                <a:ea typeface="Arial" pitchFamily="34" charset="-122"/>
                <a:cs typeface="Arial" pitchFamily="34" charset="-120"/>
              </a:rPr>
              <a:t>CC limité : personnes qui doivent suivre ou être informées.</a:t>
            </a:r>
            <a:endParaRPr lang="en-US" sz="2300" dirty="0"/>
          </a:p>
          <a:p>
            <a:r>
              <a:rPr lang="en-US" sz="2300" dirty="0">
                <a:solidFill>
                  <a:srgbClr val="374151"/>
                </a:solidFill>
                <a:latin typeface="Arial" pitchFamily="34" charset="0"/>
                <a:ea typeface="Arial" pitchFamily="34" charset="-122"/>
                <a:cs typeface="Arial" pitchFamily="34" charset="-120"/>
              </a:rPr>
              <a:t>Corps du message : contexte, faits, impact, action déjà faite, besoin attendu.</a:t>
            </a:r>
            <a:endParaRPr lang="en-US" sz="2300" dirty="0"/>
          </a:p>
          <a:p>
            <a:r>
              <a:rPr lang="en-US" sz="2300" dirty="0">
                <a:solidFill>
                  <a:srgbClr val="374151"/>
                </a:solidFill>
                <a:latin typeface="Arial" pitchFamily="34" charset="0"/>
                <a:ea typeface="Arial" pitchFamily="34" charset="-122"/>
                <a:cs typeface="Arial" pitchFamily="34" charset="-120"/>
              </a:rPr>
              <a:t>Clôture : formule professionnelle et demande de retour si nécessaire.</a:t>
            </a:r>
            <a:endParaRPr lang="en-US" sz="2300" dirty="0"/>
          </a:p>
          <a:p>
            <a:r>
              <a:rPr lang="en-US" sz="2300" dirty="0">
                <a:solidFill>
                  <a:srgbClr val="374151"/>
                </a:solidFill>
                <a:latin typeface="Arial" pitchFamily="34" charset="0"/>
                <a:ea typeface="Arial" pitchFamily="34" charset="-122"/>
                <a:cs typeface="Arial" pitchFamily="34" charset="-120"/>
              </a:rPr>
              <a:t>Signature : nom, équipe, fonction ou service selon le contexte.</a:t>
            </a:r>
            <a:endParaRPr lang="en-US" sz="2300" dirty="0"/>
          </a:p>
        </p:txBody>
      </p:sp>
      <p:sp>
        <p:nvSpPr>
          <p:cNvPr id="10" name="Shape 8"/>
          <p:cNvSpPr/>
          <p:nvPr/>
        </p:nvSpPr>
        <p:spPr>
          <a:xfrm>
            <a:off x="731520" y="5303520"/>
            <a:ext cx="10744200" cy="640080"/>
          </a:xfrm>
          <a:prstGeom prst="roundRect">
            <a:avLst>
              <a:gd name="adj" fmla="val 11429"/>
            </a:avLst>
          </a:prstGeom>
          <a:solidFill>
            <a:srgbClr val="F7F4FB"/>
          </a:solidFill>
          <a:ln w="12700">
            <a:solidFill>
              <a:srgbClr val="D9C7E5"/>
            </a:solidFill>
            <a:prstDash val="solid"/>
          </a:ln>
        </p:spPr>
      </p:sp>
      <p:sp>
        <p:nvSpPr>
          <p:cNvPr id="11" name="Text 9"/>
          <p:cNvSpPr/>
          <p:nvPr/>
        </p:nvSpPr>
        <p:spPr>
          <a:xfrm>
            <a:off x="868680" y="5413248"/>
            <a:ext cx="10469880" cy="256032"/>
          </a:xfrm>
          <a:prstGeom prst="rect">
            <a:avLst/>
          </a:prstGeom>
          <a:noFill/>
          <a:ln/>
        </p:spPr>
        <p:txBody>
          <a:bodyPr wrap="square" lIns="254" tIns="254" rIns="254" bIns="254" rtlCol="0" anchor="ctr">
            <a:normAutofit/>
          </a:bodyPr>
          <a:lstStyle/>
          <a:p>
            <a:pPr indent="0" marL="0">
              <a:buNone/>
            </a:pPr>
            <a:r>
              <a:rPr lang="en-US" sz="2000" b="1" dirty="0">
                <a:solidFill>
                  <a:srgbClr val="6B2C83"/>
                </a:solidFill>
              </a:rPr>
              <a:t>Lien avec PDCA</a:t>
            </a:r>
            <a:endParaRPr lang="en-US" sz="2000" dirty="0"/>
          </a:p>
        </p:txBody>
      </p:sp>
      <p:sp>
        <p:nvSpPr>
          <p:cNvPr id="12" name="Text 10"/>
          <p:cNvSpPr/>
          <p:nvPr/>
        </p:nvSpPr>
        <p:spPr>
          <a:xfrm>
            <a:off x="868680" y="5760720"/>
            <a:ext cx="10469880" cy="91440"/>
          </a:xfrm>
          <a:prstGeom prst="rect">
            <a:avLst/>
          </a:prstGeom>
          <a:noFill/>
          <a:ln/>
        </p:spPr>
        <p:txBody>
          <a:bodyPr wrap="square" lIns="254" tIns="254" rIns="254" bIns="254" rtlCol="0" anchor="t">
            <a:normAutofit/>
          </a:bodyPr>
          <a:lstStyle/>
          <a:p>
            <a:pPr indent="0" marL="0">
              <a:buNone/>
            </a:pPr>
            <a:r>
              <a:rPr lang="en-US" sz="1800" dirty="0">
                <a:solidFill>
                  <a:srgbClr val="374151"/>
                </a:solidFill>
              </a:rPr>
              <a:t>Planifier avant l’email · Rédiger avec FIAB/PLACE · Vérifier avec VISA · Améliorer après retour.</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2F6DB7"/>
          </a:solidFill>
          <a:ln w="12700">
            <a:solidFill>
              <a:srgbClr val="2F6DB7"/>
            </a:solidFill>
            <a:prstDash val="solid"/>
          </a:ln>
        </p:spPr>
      </p:sp>
      <p:sp>
        <p:nvSpPr>
          <p:cNvPr id="3" name="Text 1"/>
          <p:cNvSpPr/>
          <p:nvPr/>
        </p:nvSpPr>
        <p:spPr>
          <a:xfrm>
            <a:off x="228600" y="109728"/>
            <a:ext cx="1234440" cy="23774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Séance 4</a:t>
            </a:r>
            <a:endParaRPr lang="en-US" sz="1400" dirty="0"/>
          </a:p>
        </p:txBody>
      </p:sp>
      <p:sp>
        <p:nvSpPr>
          <p:cNvPr id="4" name="Text 2"/>
          <p:cNvSpPr/>
          <p:nvPr/>
        </p:nvSpPr>
        <p:spPr>
          <a:xfrm>
            <a:off x="7315200" y="109728"/>
            <a:ext cx="4480560" cy="237744"/>
          </a:xfrm>
          <a:prstGeom prst="rect">
            <a:avLst/>
          </a:prstGeom>
          <a:noFill/>
          <a:ln/>
        </p:spPr>
        <p:txBody>
          <a:bodyPr wrap="square" lIns="0" tIns="0" rIns="0" bIns="0" rtlCol="0" anchor="ctr"/>
          <a:lstStyle/>
          <a:p>
            <a:pPr algn="r" indent="0" marL="0">
              <a:buNone/>
            </a:pPr>
            <a:r>
              <a:rPr lang="en-US" sz="1400" b="1" dirty="0">
                <a:solidFill>
                  <a:srgbClr val="FFFFFF"/>
                </a:solidFill>
                <a:latin typeface="Arial" pitchFamily="34" charset="0"/>
                <a:ea typeface="Arial" pitchFamily="34" charset="-122"/>
                <a:cs typeface="Arial" pitchFamily="34" charset="-120"/>
              </a:rPr>
              <a:t>Communication interne professionnelle</a:t>
            </a:r>
            <a:endParaRPr lang="en-US" sz="1400" dirty="0"/>
          </a:p>
        </p:txBody>
      </p:sp>
      <p:sp>
        <p:nvSpPr>
          <p:cNvPr id="5" name="Shape 3"/>
          <p:cNvSpPr/>
          <p:nvPr/>
        </p:nvSpPr>
        <p:spPr>
          <a:xfrm>
            <a:off x="0" y="6574536"/>
            <a:ext cx="12191695" cy="283464"/>
          </a:xfrm>
          <a:prstGeom prst="rect">
            <a:avLst/>
          </a:prstGeom>
          <a:solidFill>
            <a:srgbClr val="F5F7FA"/>
          </a:solidFill>
          <a:ln w="12700">
            <a:solidFill>
              <a:srgbClr val="F5F7FA"/>
            </a:solidFill>
            <a:prstDash val="solid"/>
          </a:ln>
        </p:spPr>
      </p:sp>
      <p:sp>
        <p:nvSpPr>
          <p:cNvPr id="6" name="Text 4"/>
          <p:cNvSpPr/>
          <p:nvPr/>
        </p:nvSpPr>
        <p:spPr>
          <a:xfrm>
            <a:off x="11567160" y="6629400"/>
            <a:ext cx="320040" cy="164592"/>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9</a:t>
            </a:r>
            <a:endParaRPr lang="en-US" sz="1000" dirty="0"/>
          </a:p>
        </p:txBody>
      </p:sp>
      <p:sp>
        <p:nvSpPr>
          <p:cNvPr id="7" name="Text 5"/>
          <p:cNvSpPr/>
          <p:nvPr/>
        </p:nvSpPr>
        <p:spPr>
          <a:xfrm>
            <a:off x="502920" y="749808"/>
            <a:ext cx="11201400" cy="347472"/>
          </a:xfrm>
          <a:prstGeom prst="rect">
            <a:avLst/>
          </a:prstGeom>
          <a:noFill/>
          <a:ln/>
        </p:spPr>
        <p:txBody>
          <a:bodyPr wrap="square" lIns="254" tIns="254" rIns="254" bIns="254" rtlCol="0" anchor="ctr">
            <a:normAutofit/>
          </a:bodyPr>
          <a:lstStyle/>
          <a:p>
            <a:pPr indent="0" marL="0">
              <a:buNone/>
            </a:pPr>
            <a:r>
              <a:rPr lang="en-US" sz="3000" b="1" dirty="0">
                <a:solidFill>
                  <a:srgbClr val="6B2C83"/>
                </a:solidFill>
                <a:latin typeface="Arial" pitchFamily="34" charset="0"/>
                <a:ea typeface="Arial" pitchFamily="34" charset="-122"/>
                <a:cs typeface="Arial" pitchFamily="34" charset="-120"/>
              </a:rPr>
              <a:t>Modèle conseillé : email de demande ou d’alerte</a:t>
            </a:r>
            <a:endParaRPr lang="en-US" sz="3000" dirty="0"/>
          </a:p>
        </p:txBody>
      </p:sp>
      <p:sp>
        <p:nvSpPr>
          <p:cNvPr id="8" name="Text 6"/>
          <p:cNvSpPr/>
          <p:nvPr/>
        </p:nvSpPr>
        <p:spPr>
          <a:xfrm>
            <a:off x="530352" y="1161288"/>
            <a:ext cx="10789920" cy="155448"/>
          </a:xfrm>
          <a:prstGeom prst="rect">
            <a:avLst/>
          </a:prstGeom>
          <a:noFill/>
          <a:ln/>
        </p:spPr>
        <p:txBody>
          <a:bodyPr wrap="square" lIns="0" tIns="0" rIns="0" bIns="0" rtlCol="0" anchor="ctr"/>
          <a:lstStyle/>
          <a:p>
            <a:pPr indent="0" marL="0">
              <a:buNone/>
            </a:pPr>
            <a:r>
              <a:rPr lang="en-US" sz="1500" dirty="0">
                <a:solidFill>
                  <a:srgbClr val="6B7280"/>
                </a:solidFill>
                <a:latin typeface="Arial" pitchFamily="34" charset="0"/>
                <a:ea typeface="Arial" pitchFamily="34" charset="-122"/>
                <a:cs typeface="Arial" pitchFamily="34" charset="-120"/>
              </a:rPr>
              <a:t>Structure courte, lisible et orientée action</a:t>
            </a:r>
            <a:endParaRPr lang="en-US" sz="1500" dirty="0"/>
          </a:p>
        </p:txBody>
      </p:sp>
      <p:sp>
        <p:nvSpPr>
          <p:cNvPr id="9" name="Shape 7"/>
          <p:cNvSpPr/>
          <p:nvPr/>
        </p:nvSpPr>
        <p:spPr>
          <a:xfrm>
            <a:off x="731520" y="1417320"/>
            <a:ext cx="10744200" cy="4480560"/>
          </a:xfrm>
          <a:prstGeom prst="roundRect">
            <a:avLst>
              <a:gd name="adj" fmla="val 1020"/>
            </a:avLst>
          </a:prstGeom>
          <a:solidFill>
            <a:srgbClr val="FFFFFF"/>
          </a:solidFill>
          <a:ln w="12700">
            <a:solidFill>
              <a:srgbClr val="D1D5DB"/>
            </a:solidFill>
            <a:prstDash val="solid"/>
          </a:ln>
        </p:spPr>
      </p:sp>
      <p:sp>
        <p:nvSpPr>
          <p:cNvPr id="10" name="Text 8"/>
          <p:cNvSpPr/>
          <p:nvPr/>
        </p:nvSpPr>
        <p:spPr>
          <a:xfrm>
            <a:off x="960120" y="1627632"/>
            <a:ext cx="10287000" cy="685800"/>
          </a:xfrm>
          <a:prstGeom prst="rect">
            <a:avLst/>
          </a:prstGeom>
          <a:noFill/>
          <a:ln/>
        </p:spPr>
        <p:txBody>
          <a:bodyPr wrap="square" lIns="254" tIns="254" rIns="254" bIns="254" rtlCol="0" anchor="ctr">
            <a:normAutofit/>
          </a:bodyPr>
          <a:lstStyle/>
          <a:p>
            <a:pPr indent="0" marL="0">
              <a:buNone/>
            </a:pPr>
            <a:r>
              <a:rPr lang="en-US" sz="2000" b="1" dirty="0">
                <a:solidFill>
                  <a:srgbClr val="1D3557"/>
                </a:solidFill>
              </a:rPr>
              <a:t>À : [Destinataire principal]</a:t>
            </a:r>
            <a:endParaRPr lang="en-US" sz="2000" dirty="0"/>
          </a:p>
          <a:p>
            <a:pPr indent="0" marL="0">
              <a:buNone/>
            </a:pPr>
            <a:r>
              <a:rPr lang="en-US" sz="2000" b="1" dirty="0">
                <a:solidFill>
                  <a:srgbClr val="1D3557"/>
                </a:solidFill>
              </a:rPr>
              <a:t>CC : [Personnes concernées si nécessaire]</a:t>
            </a:r>
            <a:endParaRPr lang="en-US" sz="2000" dirty="0"/>
          </a:p>
          <a:p>
            <a:pPr indent="0" marL="0">
              <a:buNone/>
            </a:pPr>
            <a:r>
              <a:rPr lang="en-US" sz="2000" b="1" dirty="0">
                <a:solidFill>
                  <a:srgbClr val="1D3557"/>
                </a:solidFill>
              </a:rPr>
              <a:t>Objet : [Action requise / Alerte / Suivi] Sujet précis – référence</a:t>
            </a:r>
            <a:endParaRPr lang="en-US" sz="2000" dirty="0"/>
          </a:p>
        </p:txBody>
      </p:sp>
      <p:sp>
        <p:nvSpPr>
          <p:cNvPr id="11" name="Text 9"/>
          <p:cNvSpPr/>
          <p:nvPr/>
        </p:nvSpPr>
        <p:spPr>
          <a:xfrm>
            <a:off x="960120" y="2468880"/>
            <a:ext cx="10149840" cy="3154680"/>
          </a:xfrm>
          <a:prstGeom prst="rect">
            <a:avLst/>
          </a:prstGeom>
          <a:noFill/>
          <a:ln/>
        </p:spPr>
        <p:txBody>
          <a:bodyPr wrap="square" lIns="254" tIns="254" rIns="254" bIns="254" rtlCol="0" anchor="ctr">
            <a:normAutofit/>
          </a:bodyPr>
          <a:lstStyle/>
          <a:p>
            <a:pPr indent="0" marL="0">
              <a:buNone/>
            </a:pPr>
            <a:r>
              <a:rPr lang="en-US" sz="1900" dirty="0">
                <a:solidFill>
                  <a:srgbClr val="374151"/>
                </a:solidFill>
              </a:rPr>
              <a:t>Bonjour,</a:t>
            </a:r>
            <a:endParaRPr lang="en-US" sz="1900" dirty="0"/>
          </a:p>
          <a:p>
            <a:pPr indent="0" marL="0">
              <a:buNone/>
            </a:pPr>
            <a:endParaRPr lang="en-US" sz="1900" dirty="0"/>
          </a:p>
          <a:p>
            <a:pPr indent="0" marL="0">
              <a:buNone/>
            </a:pPr>
            <a:r>
              <a:rPr lang="en-US" sz="1900" dirty="0">
                <a:solidFill>
                  <a:srgbClr val="374151"/>
                </a:solidFill>
              </a:rPr>
              <a:t>Je vous informe que [faits précis : quoi, quand, dossier/référence].</a:t>
            </a:r>
            <a:endParaRPr lang="en-US" sz="1900" dirty="0"/>
          </a:p>
          <a:p>
            <a:pPr indent="0" marL="0">
              <a:buNone/>
            </a:pPr>
            <a:endParaRPr lang="en-US" sz="1900" dirty="0"/>
          </a:p>
          <a:p>
            <a:pPr indent="0" marL="0">
              <a:buNone/>
            </a:pPr>
            <a:r>
              <a:rPr lang="en-US" sz="1900" dirty="0">
                <a:solidFill>
                  <a:srgbClr val="374151"/>
                </a:solidFill>
              </a:rPr>
              <a:t>Impact : [retard, blocage, risque qualité, insatisfaction client].</a:t>
            </a:r>
            <a:endParaRPr lang="en-US" sz="1900" dirty="0"/>
          </a:p>
          <a:p>
            <a:pPr indent="0" marL="0">
              <a:buNone/>
            </a:pPr>
            <a:endParaRPr lang="en-US" sz="1900" dirty="0"/>
          </a:p>
          <a:p>
            <a:pPr indent="0" marL="0">
              <a:buNone/>
            </a:pPr>
            <a:r>
              <a:rPr lang="en-US" sz="1900" dirty="0">
                <a:solidFill>
                  <a:srgbClr val="374151"/>
                </a:solidFill>
              </a:rPr>
              <a:t>Action déjà faite : [vérification, relance, consultation des notes, test réalisé].</a:t>
            </a:r>
            <a:endParaRPr lang="en-US" sz="1900" dirty="0"/>
          </a:p>
          <a:p>
            <a:pPr indent="0" marL="0">
              <a:buNone/>
            </a:pPr>
            <a:endParaRPr lang="en-US" sz="1900" dirty="0"/>
          </a:p>
          <a:p>
            <a:pPr indent="0" marL="0">
              <a:buNone/>
            </a:pPr>
            <a:r>
              <a:rPr lang="en-US" sz="1900" dirty="0">
                <a:solidFill>
                  <a:srgbClr val="374151"/>
                </a:solidFill>
              </a:rPr>
              <a:t>Besoin attendu : merci de [valider, confirmer, traiter, arbitrer, orienter].</a:t>
            </a:r>
            <a:endParaRPr lang="en-US" sz="1900" dirty="0"/>
          </a:p>
          <a:p>
            <a:pPr indent="0" marL="0">
              <a:buNone/>
            </a:pPr>
            <a:endParaRPr lang="en-US" sz="1900" dirty="0"/>
          </a:p>
          <a:p>
            <a:pPr indent="0" marL="0">
              <a:buNone/>
            </a:pPr>
            <a:r>
              <a:rPr lang="en-US" sz="1900" dirty="0">
                <a:solidFill>
                  <a:srgbClr val="374151"/>
                </a:solidFill>
              </a:rPr>
              <a:t>Bien cordialement,</a:t>
            </a:r>
            <a:endParaRPr lang="en-US" sz="1900" dirty="0"/>
          </a:p>
          <a:p>
            <a:pPr indent="0" marL="0">
              <a:buNone/>
            </a:pPr>
            <a:r>
              <a:rPr lang="en-US" sz="1900" dirty="0">
                <a:solidFill>
                  <a:srgbClr val="374151"/>
                </a:solidFill>
              </a:rPr>
              <a:t>[Nom]</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2F6DB7"/>
          </a:solidFill>
          <a:ln w="12700">
            <a:solidFill>
              <a:srgbClr val="2F6DB7"/>
            </a:solidFill>
            <a:prstDash val="solid"/>
          </a:ln>
        </p:spPr>
      </p:sp>
      <p:sp>
        <p:nvSpPr>
          <p:cNvPr id="3" name="Text 1"/>
          <p:cNvSpPr/>
          <p:nvPr/>
        </p:nvSpPr>
        <p:spPr>
          <a:xfrm>
            <a:off x="228600" y="109728"/>
            <a:ext cx="1234440" cy="23774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Séance 4</a:t>
            </a:r>
            <a:endParaRPr lang="en-US" sz="1400" dirty="0"/>
          </a:p>
        </p:txBody>
      </p:sp>
      <p:sp>
        <p:nvSpPr>
          <p:cNvPr id="4" name="Text 2"/>
          <p:cNvSpPr/>
          <p:nvPr/>
        </p:nvSpPr>
        <p:spPr>
          <a:xfrm>
            <a:off x="7315200" y="109728"/>
            <a:ext cx="4480560" cy="237744"/>
          </a:xfrm>
          <a:prstGeom prst="rect">
            <a:avLst/>
          </a:prstGeom>
          <a:noFill/>
          <a:ln/>
        </p:spPr>
        <p:txBody>
          <a:bodyPr wrap="square" lIns="0" tIns="0" rIns="0" bIns="0" rtlCol="0" anchor="ctr"/>
          <a:lstStyle/>
          <a:p>
            <a:pPr algn="r" indent="0" marL="0">
              <a:buNone/>
            </a:pPr>
            <a:r>
              <a:rPr lang="en-US" sz="1400" b="1" dirty="0">
                <a:solidFill>
                  <a:srgbClr val="FFFFFF"/>
                </a:solidFill>
                <a:latin typeface="Arial" pitchFamily="34" charset="0"/>
                <a:ea typeface="Arial" pitchFamily="34" charset="-122"/>
                <a:cs typeface="Arial" pitchFamily="34" charset="-120"/>
              </a:rPr>
              <a:t>Communication interne professionnelle</a:t>
            </a:r>
            <a:endParaRPr lang="en-US" sz="1400" dirty="0"/>
          </a:p>
        </p:txBody>
      </p:sp>
      <p:sp>
        <p:nvSpPr>
          <p:cNvPr id="5" name="Shape 3"/>
          <p:cNvSpPr/>
          <p:nvPr/>
        </p:nvSpPr>
        <p:spPr>
          <a:xfrm>
            <a:off x="0" y="6574536"/>
            <a:ext cx="12191695" cy="283464"/>
          </a:xfrm>
          <a:prstGeom prst="rect">
            <a:avLst/>
          </a:prstGeom>
          <a:solidFill>
            <a:srgbClr val="F5F7FA"/>
          </a:solidFill>
          <a:ln w="12700">
            <a:solidFill>
              <a:srgbClr val="F5F7FA"/>
            </a:solidFill>
            <a:prstDash val="solid"/>
          </a:ln>
        </p:spPr>
      </p:sp>
      <p:sp>
        <p:nvSpPr>
          <p:cNvPr id="6" name="Text 4"/>
          <p:cNvSpPr/>
          <p:nvPr/>
        </p:nvSpPr>
        <p:spPr>
          <a:xfrm>
            <a:off x="11567160" y="6629400"/>
            <a:ext cx="320040" cy="164592"/>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10</a:t>
            </a:r>
            <a:endParaRPr lang="en-US" sz="1000" dirty="0"/>
          </a:p>
        </p:txBody>
      </p:sp>
      <p:sp>
        <p:nvSpPr>
          <p:cNvPr id="7" name="Text 5"/>
          <p:cNvSpPr/>
          <p:nvPr/>
        </p:nvSpPr>
        <p:spPr>
          <a:xfrm>
            <a:off x="502920" y="749808"/>
            <a:ext cx="11201400" cy="347472"/>
          </a:xfrm>
          <a:prstGeom prst="rect">
            <a:avLst/>
          </a:prstGeom>
          <a:noFill/>
          <a:ln/>
        </p:spPr>
        <p:txBody>
          <a:bodyPr wrap="square" lIns="254" tIns="254" rIns="254" bIns="254" rtlCol="0" anchor="ctr">
            <a:normAutofit/>
          </a:bodyPr>
          <a:lstStyle/>
          <a:p>
            <a:pPr indent="0" marL="0">
              <a:buNone/>
            </a:pPr>
            <a:r>
              <a:rPr lang="en-US" sz="3000" b="1" dirty="0">
                <a:solidFill>
                  <a:srgbClr val="6B2C83"/>
                </a:solidFill>
                <a:latin typeface="Arial" pitchFamily="34" charset="0"/>
                <a:ea typeface="Arial" pitchFamily="34" charset="-122"/>
                <a:cs typeface="Arial" pitchFamily="34" charset="-120"/>
              </a:rPr>
              <a:t>Atelier 2 : rédiger un email professionnel complet</a:t>
            </a:r>
            <a:endParaRPr lang="en-US" sz="3000" dirty="0"/>
          </a:p>
        </p:txBody>
      </p:sp>
      <p:sp>
        <p:nvSpPr>
          <p:cNvPr id="8" name="Text 6"/>
          <p:cNvSpPr/>
          <p:nvPr/>
        </p:nvSpPr>
        <p:spPr>
          <a:xfrm>
            <a:off x="530352" y="1161288"/>
            <a:ext cx="10789920" cy="155448"/>
          </a:xfrm>
          <a:prstGeom prst="rect">
            <a:avLst/>
          </a:prstGeom>
          <a:noFill/>
          <a:ln/>
        </p:spPr>
        <p:txBody>
          <a:bodyPr wrap="square" lIns="0" tIns="0" rIns="0" bIns="0" rtlCol="0" anchor="ctr"/>
          <a:lstStyle/>
          <a:p>
            <a:pPr indent="0" marL="0">
              <a:buNone/>
            </a:pPr>
            <a:r>
              <a:rPr lang="en-US" sz="1500" dirty="0">
                <a:solidFill>
                  <a:srgbClr val="6B7280"/>
                </a:solidFill>
                <a:latin typeface="Arial" pitchFamily="34" charset="0"/>
                <a:ea typeface="Arial" pitchFamily="34" charset="-122"/>
                <a:cs typeface="Arial" pitchFamily="34" charset="-120"/>
              </a:rPr>
              <a:t>Cas pratique individuel puis correction collective</a:t>
            </a:r>
            <a:endParaRPr lang="en-US" sz="1500" dirty="0"/>
          </a:p>
        </p:txBody>
      </p:sp>
      <p:sp>
        <p:nvSpPr>
          <p:cNvPr id="9" name="Shape 7"/>
          <p:cNvSpPr/>
          <p:nvPr/>
        </p:nvSpPr>
        <p:spPr>
          <a:xfrm>
            <a:off x="731520" y="1463040"/>
            <a:ext cx="10744200" cy="1097280"/>
          </a:xfrm>
          <a:prstGeom prst="roundRect">
            <a:avLst>
              <a:gd name="adj" fmla="val 6667"/>
            </a:avLst>
          </a:prstGeom>
          <a:solidFill>
            <a:srgbClr val="FFFFFF"/>
          </a:solidFill>
          <a:ln w="12700">
            <a:solidFill>
              <a:srgbClr val="CBD5E1"/>
            </a:solidFill>
            <a:prstDash val="solid"/>
          </a:ln>
        </p:spPr>
      </p:sp>
      <p:sp>
        <p:nvSpPr>
          <p:cNvPr id="10" name="Text 8"/>
          <p:cNvSpPr/>
          <p:nvPr/>
        </p:nvSpPr>
        <p:spPr>
          <a:xfrm>
            <a:off x="868680" y="1572768"/>
            <a:ext cx="10469880" cy="256032"/>
          </a:xfrm>
          <a:prstGeom prst="rect">
            <a:avLst/>
          </a:prstGeom>
          <a:noFill/>
          <a:ln/>
        </p:spPr>
        <p:txBody>
          <a:bodyPr wrap="square" lIns="254" tIns="254" rIns="254" bIns="254" rtlCol="0" anchor="ctr">
            <a:normAutofit/>
          </a:bodyPr>
          <a:lstStyle/>
          <a:p>
            <a:pPr indent="0" marL="0">
              <a:buNone/>
            </a:pPr>
            <a:r>
              <a:rPr lang="en-US" sz="2000" b="1" dirty="0">
                <a:solidFill>
                  <a:srgbClr val="1D3557"/>
                </a:solidFill>
              </a:rPr>
              <a:t>Situation</a:t>
            </a:r>
            <a:endParaRPr lang="en-US" sz="2000" dirty="0"/>
          </a:p>
        </p:txBody>
      </p:sp>
      <p:sp>
        <p:nvSpPr>
          <p:cNvPr id="11" name="Text 9"/>
          <p:cNvSpPr/>
          <p:nvPr/>
        </p:nvSpPr>
        <p:spPr>
          <a:xfrm>
            <a:off x="868680" y="1920240"/>
            <a:ext cx="10469880" cy="548640"/>
          </a:xfrm>
          <a:prstGeom prst="rect">
            <a:avLst/>
          </a:prstGeom>
          <a:noFill/>
          <a:ln/>
        </p:spPr>
        <p:txBody>
          <a:bodyPr wrap="square" lIns="254" tIns="254" rIns="254" bIns="254" rtlCol="0" anchor="t">
            <a:normAutofit/>
          </a:bodyPr>
          <a:lstStyle/>
          <a:p>
            <a:pPr indent="0" marL="0">
              <a:buNone/>
            </a:pPr>
            <a:r>
              <a:rPr lang="en-US" sz="2000" dirty="0">
                <a:solidFill>
                  <a:srgbClr val="374151"/>
                </a:solidFill>
              </a:rPr>
              <a:t>Un client rappelle pour la 4e fois. Il affirme avoir envoyé les documents demandés, mais dans l’outil le statut reste “en attente”. Vous devez demander une vérification interne avant de répondre au client.</a:t>
            </a:r>
            <a:endParaRPr lang="en-US" sz="2000" dirty="0"/>
          </a:p>
        </p:txBody>
      </p:sp>
      <p:sp>
        <p:nvSpPr>
          <p:cNvPr id="12" name="Shape 10"/>
          <p:cNvSpPr/>
          <p:nvPr/>
        </p:nvSpPr>
        <p:spPr>
          <a:xfrm>
            <a:off x="731520" y="2834640"/>
            <a:ext cx="5257800" cy="2011680"/>
          </a:xfrm>
          <a:prstGeom prst="roundRect">
            <a:avLst>
              <a:gd name="adj" fmla="val 3636"/>
            </a:avLst>
          </a:prstGeom>
          <a:solidFill>
            <a:srgbClr val="E8F1FB"/>
          </a:solidFill>
          <a:ln w="12700">
            <a:solidFill>
              <a:srgbClr val="B7D0EF"/>
            </a:solidFill>
            <a:prstDash val="solid"/>
          </a:ln>
        </p:spPr>
      </p:sp>
      <p:sp>
        <p:nvSpPr>
          <p:cNvPr id="13" name="Text 11"/>
          <p:cNvSpPr/>
          <p:nvPr/>
        </p:nvSpPr>
        <p:spPr>
          <a:xfrm>
            <a:off x="868680" y="2944368"/>
            <a:ext cx="4983480" cy="256032"/>
          </a:xfrm>
          <a:prstGeom prst="rect">
            <a:avLst/>
          </a:prstGeom>
          <a:noFill/>
          <a:ln/>
        </p:spPr>
        <p:txBody>
          <a:bodyPr wrap="square" lIns="254" tIns="254" rIns="254" bIns="254" rtlCol="0" anchor="ctr">
            <a:normAutofit/>
          </a:bodyPr>
          <a:lstStyle/>
          <a:p>
            <a:pPr indent="0" marL="0">
              <a:buNone/>
            </a:pPr>
            <a:r>
              <a:rPr lang="en-US" sz="2000" b="1" dirty="0">
                <a:solidFill>
                  <a:srgbClr val="2F6DB7"/>
                </a:solidFill>
              </a:rPr>
              <a:t>À produire</a:t>
            </a:r>
            <a:endParaRPr lang="en-US" sz="2000" dirty="0"/>
          </a:p>
        </p:txBody>
      </p:sp>
      <p:sp>
        <p:nvSpPr>
          <p:cNvPr id="14" name="Text 12"/>
          <p:cNvSpPr/>
          <p:nvPr/>
        </p:nvSpPr>
        <p:spPr>
          <a:xfrm>
            <a:off x="868680" y="3291840"/>
            <a:ext cx="4983480" cy="1463040"/>
          </a:xfrm>
          <a:prstGeom prst="rect">
            <a:avLst/>
          </a:prstGeom>
          <a:noFill/>
          <a:ln/>
        </p:spPr>
        <p:txBody>
          <a:bodyPr wrap="square" lIns="254" tIns="254" rIns="254" bIns="254" rtlCol="0" anchor="t">
            <a:normAutofit/>
          </a:bodyPr>
          <a:lstStyle/>
          <a:p>
            <a:pPr indent="0" marL="0">
              <a:buNone/>
            </a:pPr>
            <a:r>
              <a:rPr lang="en-US" sz="2100" dirty="0">
                <a:solidFill>
                  <a:srgbClr val="374151"/>
                </a:solidFill>
              </a:rPr>
              <a:t>• Objet clair</a:t>
            </a:r>
            <a:endParaRPr lang="en-US" sz="2100" dirty="0"/>
          </a:p>
          <a:p>
            <a:pPr indent="0" marL="0">
              <a:buNone/>
            </a:pPr>
            <a:r>
              <a:rPr lang="en-US" sz="2100" dirty="0">
                <a:solidFill>
                  <a:srgbClr val="374151"/>
                </a:solidFill>
              </a:rPr>
              <a:t>• À et CC justifiés</a:t>
            </a:r>
            <a:endParaRPr lang="en-US" sz="2100" dirty="0"/>
          </a:p>
          <a:p>
            <a:pPr indent="0" marL="0">
              <a:buNone/>
            </a:pPr>
            <a:r>
              <a:rPr lang="en-US" sz="2100" dirty="0">
                <a:solidFill>
                  <a:srgbClr val="374151"/>
                </a:solidFill>
              </a:rPr>
              <a:t>• Corps du message en 5 à 7 lignes</a:t>
            </a:r>
            <a:endParaRPr lang="en-US" sz="2100" dirty="0"/>
          </a:p>
          <a:p>
            <a:pPr indent="0" marL="0">
              <a:buNone/>
            </a:pPr>
            <a:r>
              <a:rPr lang="en-US" sz="2100" dirty="0">
                <a:solidFill>
                  <a:srgbClr val="374151"/>
                </a:solidFill>
              </a:rPr>
              <a:t>• Faits, impact, action déjà faite, besoin attendu</a:t>
            </a:r>
            <a:endParaRPr lang="en-US" sz="2100" dirty="0"/>
          </a:p>
          <a:p>
            <a:pPr indent="0" marL="0">
              <a:buNone/>
            </a:pPr>
            <a:r>
              <a:rPr lang="en-US" sz="2100" dirty="0">
                <a:solidFill>
                  <a:srgbClr val="374151"/>
                </a:solidFill>
              </a:rPr>
              <a:t>• Ton professionnel et confidentialité respectée</a:t>
            </a:r>
            <a:endParaRPr lang="en-US" sz="2100" dirty="0"/>
          </a:p>
        </p:txBody>
      </p:sp>
      <p:sp>
        <p:nvSpPr>
          <p:cNvPr id="15" name="Shape 13"/>
          <p:cNvSpPr/>
          <p:nvPr/>
        </p:nvSpPr>
        <p:spPr>
          <a:xfrm>
            <a:off x="6217920" y="2834640"/>
            <a:ext cx="5257800" cy="2011680"/>
          </a:xfrm>
          <a:prstGeom prst="roundRect">
            <a:avLst>
              <a:gd name="adj" fmla="val 3636"/>
            </a:avLst>
          </a:prstGeom>
          <a:solidFill>
            <a:srgbClr val="F2EAF6"/>
          </a:solidFill>
          <a:ln w="12700">
            <a:solidFill>
              <a:srgbClr val="DCC6E6"/>
            </a:solidFill>
            <a:prstDash val="solid"/>
          </a:ln>
        </p:spPr>
      </p:sp>
      <p:sp>
        <p:nvSpPr>
          <p:cNvPr id="16" name="Text 14"/>
          <p:cNvSpPr/>
          <p:nvPr/>
        </p:nvSpPr>
        <p:spPr>
          <a:xfrm>
            <a:off x="6355080" y="2944368"/>
            <a:ext cx="4983480" cy="256032"/>
          </a:xfrm>
          <a:prstGeom prst="rect">
            <a:avLst/>
          </a:prstGeom>
          <a:noFill/>
          <a:ln/>
        </p:spPr>
        <p:txBody>
          <a:bodyPr wrap="square" lIns="254" tIns="254" rIns="254" bIns="254" rtlCol="0" anchor="ctr">
            <a:normAutofit/>
          </a:bodyPr>
          <a:lstStyle/>
          <a:p>
            <a:pPr indent="0" marL="0">
              <a:buNone/>
            </a:pPr>
            <a:r>
              <a:rPr lang="en-US" sz="2000" b="1" dirty="0">
                <a:solidFill>
                  <a:srgbClr val="6B2C83"/>
                </a:solidFill>
              </a:rPr>
              <a:t>Méthodes à mobiliser</a:t>
            </a:r>
            <a:endParaRPr lang="en-US" sz="2000" dirty="0"/>
          </a:p>
        </p:txBody>
      </p:sp>
      <p:sp>
        <p:nvSpPr>
          <p:cNvPr id="17" name="Text 15"/>
          <p:cNvSpPr/>
          <p:nvPr/>
        </p:nvSpPr>
        <p:spPr>
          <a:xfrm>
            <a:off x="6355080" y="3291840"/>
            <a:ext cx="4983480" cy="1463040"/>
          </a:xfrm>
          <a:prstGeom prst="rect">
            <a:avLst/>
          </a:prstGeom>
          <a:noFill/>
          <a:ln/>
        </p:spPr>
        <p:txBody>
          <a:bodyPr wrap="square" lIns="254" tIns="254" rIns="254" bIns="254" rtlCol="0" anchor="t">
            <a:normAutofit/>
          </a:bodyPr>
          <a:lstStyle/>
          <a:p>
            <a:pPr indent="0" marL="0">
              <a:buNone/>
            </a:pPr>
            <a:r>
              <a:rPr lang="en-US" sz="2300" dirty="0">
                <a:solidFill>
                  <a:srgbClr val="374151"/>
                </a:solidFill>
              </a:rPr>
              <a:t>PDCA</a:t>
            </a:r>
            <a:endParaRPr lang="en-US" sz="2300" dirty="0"/>
          </a:p>
          <a:p>
            <a:pPr indent="0" marL="0">
              <a:buNone/>
            </a:pPr>
            <a:r>
              <a:rPr lang="en-US" sz="2300" dirty="0">
                <a:solidFill>
                  <a:srgbClr val="374151"/>
                </a:solidFill>
              </a:rPr>
              <a:t>IDEA + RACI</a:t>
            </a:r>
            <a:endParaRPr lang="en-US" sz="2300" dirty="0"/>
          </a:p>
          <a:p>
            <a:pPr indent="0" marL="0">
              <a:buNone/>
            </a:pPr>
            <a:r>
              <a:rPr lang="en-US" sz="2300" dirty="0">
                <a:solidFill>
                  <a:srgbClr val="374151"/>
                </a:solidFill>
              </a:rPr>
              <a:t>FIAB + PLACE</a:t>
            </a:r>
            <a:endParaRPr lang="en-US" sz="2300" dirty="0"/>
          </a:p>
          <a:p>
            <a:pPr indent="0" marL="0">
              <a:buNone/>
            </a:pPr>
            <a:r>
              <a:rPr lang="en-US" sz="2300" dirty="0">
                <a:solidFill>
                  <a:srgbClr val="374151"/>
                </a:solidFill>
              </a:rPr>
              <a:t>VISA avant envoi</a:t>
            </a:r>
            <a:endParaRPr lang="en-US" sz="2300" dirty="0"/>
          </a:p>
        </p:txBody>
      </p:sp>
      <p:sp>
        <p:nvSpPr>
          <p:cNvPr id="18" name="Shape 16"/>
          <p:cNvSpPr/>
          <p:nvPr/>
        </p:nvSpPr>
        <p:spPr>
          <a:xfrm>
            <a:off x="731520" y="5257800"/>
            <a:ext cx="10744200" cy="548640"/>
          </a:xfrm>
          <a:prstGeom prst="roundRect">
            <a:avLst>
              <a:gd name="adj" fmla="val 13333"/>
            </a:avLst>
          </a:prstGeom>
          <a:solidFill>
            <a:srgbClr val="FFFFFF"/>
          </a:solidFill>
          <a:ln w="12700">
            <a:solidFill>
              <a:srgbClr val="D1D5DB"/>
            </a:solidFill>
            <a:prstDash val="solid"/>
          </a:ln>
        </p:spPr>
      </p:sp>
      <p:sp>
        <p:nvSpPr>
          <p:cNvPr id="19" name="Text 17"/>
          <p:cNvSpPr/>
          <p:nvPr/>
        </p:nvSpPr>
        <p:spPr>
          <a:xfrm>
            <a:off x="868680" y="5367528"/>
            <a:ext cx="10469880" cy="256032"/>
          </a:xfrm>
          <a:prstGeom prst="rect">
            <a:avLst/>
          </a:prstGeom>
          <a:noFill/>
          <a:ln/>
        </p:spPr>
        <p:txBody>
          <a:bodyPr wrap="square" lIns="254" tIns="254" rIns="254" bIns="254" rtlCol="0" anchor="ctr">
            <a:normAutofit/>
          </a:bodyPr>
          <a:lstStyle/>
          <a:p>
            <a:pPr indent="0" marL="0">
              <a:buNone/>
            </a:pPr>
            <a:r>
              <a:rPr lang="en-US" sz="2000" b="1" dirty="0">
                <a:solidFill>
                  <a:srgbClr val="1D3557"/>
                </a:solidFill>
              </a:rPr>
              <a:t>Temps</a:t>
            </a:r>
            <a:endParaRPr lang="en-US" sz="2000" dirty="0"/>
          </a:p>
        </p:txBody>
      </p:sp>
      <p:sp>
        <p:nvSpPr>
          <p:cNvPr id="20" name="Text 18"/>
          <p:cNvSpPr/>
          <p:nvPr/>
        </p:nvSpPr>
        <p:spPr>
          <a:xfrm>
            <a:off x="868680" y="5715000"/>
            <a:ext cx="10469880" cy="0"/>
          </a:xfrm>
          <a:prstGeom prst="rect">
            <a:avLst/>
          </a:prstGeom>
          <a:noFill/>
          <a:ln/>
        </p:spPr>
        <p:txBody>
          <a:bodyPr wrap="square" lIns="254" tIns="254" rIns="254" bIns="254" rtlCol="0" anchor="t">
            <a:normAutofit/>
          </a:bodyPr>
          <a:lstStyle/>
          <a:p>
            <a:pPr indent="0" marL="0">
              <a:buNone/>
            </a:pPr>
            <a:r>
              <a:rPr lang="en-US" sz="1800" dirty="0">
                <a:solidFill>
                  <a:srgbClr val="374151"/>
                </a:solidFill>
              </a:rPr>
              <a:t>8 minutes de rédaction + 5 minutes de correction.</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2F6DB7"/>
          </a:solidFill>
          <a:ln w="12700">
            <a:solidFill>
              <a:srgbClr val="2F6DB7"/>
            </a:solidFill>
            <a:prstDash val="solid"/>
          </a:ln>
        </p:spPr>
      </p:sp>
      <p:sp>
        <p:nvSpPr>
          <p:cNvPr id="3" name="Text 1"/>
          <p:cNvSpPr/>
          <p:nvPr/>
        </p:nvSpPr>
        <p:spPr>
          <a:xfrm>
            <a:off x="228600" y="109728"/>
            <a:ext cx="1234440" cy="23774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Séance 4</a:t>
            </a:r>
            <a:endParaRPr lang="en-US" sz="1400" dirty="0"/>
          </a:p>
        </p:txBody>
      </p:sp>
      <p:sp>
        <p:nvSpPr>
          <p:cNvPr id="4" name="Text 2"/>
          <p:cNvSpPr/>
          <p:nvPr/>
        </p:nvSpPr>
        <p:spPr>
          <a:xfrm>
            <a:off x="7315200" y="109728"/>
            <a:ext cx="4480560" cy="237744"/>
          </a:xfrm>
          <a:prstGeom prst="rect">
            <a:avLst/>
          </a:prstGeom>
          <a:noFill/>
          <a:ln/>
        </p:spPr>
        <p:txBody>
          <a:bodyPr wrap="square" lIns="0" tIns="0" rIns="0" bIns="0" rtlCol="0" anchor="ctr"/>
          <a:lstStyle/>
          <a:p>
            <a:pPr algn="r" indent="0" marL="0">
              <a:buNone/>
            </a:pPr>
            <a:r>
              <a:rPr lang="en-US" sz="1400" b="1" dirty="0">
                <a:solidFill>
                  <a:srgbClr val="FFFFFF"/>
                </a:solidFill>
                <a:latin typeface="Arial" pitchFamily="34" charset="0"/>
                <a:ea typeface="Arial" pitchFamily="34" charset="-122"/>
                <a:cs typeface="Arial" pitchFamily="34" charset="-120"/>
              </a:rPr>
              <a:t>Communication interne professionnelle</a:t>
            </a:r>
            <a:endParaRPr lang="en-US" sz="1400" dirty="0"/>
          </a:p>
        </p:txBody>
      </p:sp>
      <p:sp>
        <p:nvSpPr>
          <p:cNvPr id="5" name="Shape 3"/>
          <p:cNvSpPr/>
          <p:nvPr/>
        </p:nvSpPr>
        <p:spPr>
          <a:xfrm>
            <a:off x="0" y="6574536"/>
            <a:ext cx="12191695" cy="283464"/>
          </a:xfrm>
          <a:prstGeom prst="rect">
            <a:avLst/>
          </a:prstGeom>
          <a:solidFill>
            <a:srgbClr val="F5F7FA"/>
          </a:solidFill>
          <a:ln w="12700">
            <a:solidFill>
              <a:srgbClr val="F5F7FA"/>
            </a:solidFill>
            <a:prstDash val="solid"/>
          </a:ln>
        </p:spPr>
      </p:sp>
      <p:sp>
        <p:nvSpPr>
          <p:cNvPr id="6" name="Text 4"/>
          <p:cNvSpPr/>
          <p:nvPr/>
        </p:nvSpPr>
        <p:spPr>
          <a:xfrm>
            <a:off x="11567160" y="6629400"/>
            <a:ext cx="320040" cy="164592"/>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11</a:t>
            </a:r>
            <a:endParaRPr lang="en-US" sz="1000" dirty="0"/>
          </a:p>
        </p:txBody>
      </p:sp>
      <p:sp>
        <p:nvSpPr>
          <p:cNvPr id="7" name="Text 5"/>
          <p:cNvSpPr/>
          <p:nvPr/>
        </p:nvSpPr>
        <p:spPr>
          <a:xfrm>
            <a:off x="502920" y="749808"/>
            <a:ext cx="11201400" cy="347472"/>
          </a:xfrm>
          <a:prstGeom prst="rect">
            <a:avLst/>
          </a:prstGeom>
          <a:noFill/>
          <a:ln/>
        </p:spPr>
        <p:txBody>
          <a:bodyPr wrap="square" lIns="254" tIns="254" rIns="254" bIns="254" rtlCol="0" anchor="ctr">
            <a:normAutofit/>
          </a:bodyPr>
          <a:lstStyle/>
          <a:p>
            <a:pPr indent="0" marL="0">
              <a:buNone/>
            </a:pPr>
            <a:r>
              <a:rPr lang="en-US" sz="3000" b="1" dirty="0">
                <a:solidFill>
                  <a:srgbClr val="6B2C83"/>
                </a:solidFill>
                <a:latin typeface="Arial" pitchFamily="34" charset="0"/>
                <a:ea typeface="Arial" pitchFamily="34" charset="-122"/>
                <a:cs typeface="Arial" pitchFamily="34" charset="-120"/>
              </a:rPr>
              <a:t>Correction possible : email structuré</a:t>
            </a:r>
            <a:endParaRPr lang="en-US" sz="3000" dirty="0"/>
          </a:p>
        </p:txBody>
      </p:sp>
      <p:sp>
        <p:nvSpPr>
          <p:cNvPr id="8" name="Text 6"/>
          <p:cNvSpPr/>
          <p:nvPr/>
        </p:nvSpPr>
        <p:spPr>
          <a:xfrm>
            <a:off x="530352" y="1161288"/>
            <a:ext cx="10789920" cy="155448"/>
          </a:xfrm>
          <a:prstGeom prst="rect">
            <a:avLst/>
          </a:prstGeom>
          <a:noFill/>
          <a:ln/>
        </p:spPr>
        <p:txBody>
          <a:bodyPr wrap="square" lIns="0" tIns="0" rIns="0" bIns="0" rtlCol="0" anchor="ctr"/>
          <a:lstStyle/>
          <a:p>
            <a:pPr indent="0" marL="0">
              <a:buNone/>
            </a:pPr>
            <a:r>
              <a:rPr lang="en-US" sz="1500" dirty="0">
                <a:solidFill>
                  <a:srgbClr val="6B7280"/>
                </a:solidFill>
                <a:latin typeface="Arial" pitchFamily="34" charset="0"/>
                <a:ea typeface="Arial" pitchFamily="34" charset="-122"/>
                <a:cs typeface="Arial" pitchFamily="34" charset="-120"/>
              </a:rPr>
              <a:t>Exemple à adapter selon les procédures internes</a:t>
            </a:r>
            <a:endParaRPr lang="en-US" sz="1500" dirty="0"/>
          </a:p>
        </p:txBody>
      </p:sp>
      <p:sp>
        <p:nvSpPr>
          <p:cNvPr id="9" name="Shape 7"/>
          <p:cNvSpPr/>
          <p:nvPr/>
        </p:nvSpPr>
        <p:spPr>
          <a:xfrm>
            <a:off x="731520" y="1463040"/>
            <a:ext cx="10744200" cy="4892040"/>
          </a:xfrm>
          <a:prstGeom prst="roundRect">
            <a:avLst>
              <a:gd name="adj" fmla="val 935"/>
            </a:avLst>
          </a:prstGeom>
          <a:solidFill>
            <a:srgbClr val="FFFFFF"/>
          </a:solidFill>
          <a:ln w="12700">
            <a:solidFill>
              <a:srgbClr val="D1D5DB"/>
            </a:solidFill>
            <a:prstDash val="solid"/>
          </a:ln>
        </p:spPr>
      </p:sp>
      <p:sp>
        <p:nvSpPr>
          <p:cNvPr id="10" name="Text 8"/>
          <p:cNvSpPr/>
          <p:nvPr/>
        </p:nvSpPr>
        <p:spPr>
          <a:xfrm>
            <a:off x="960120" y="1554480"/>
            <a:ext cx="10287000" cy="731520"/>
          </a:xfrm>
          <a:prstGeom prst="rect">
            <a:avLst/>
          </a:prstGeom>
          <a:noFill/>
          <a:ln/>
        </p:spPr>
        <p:txBody>
          <a:bodyPr wrap="square" lIns="254" tIns="254" rIns="254" bIns="254" rtlCol="0" anchor="ctr">
            <a:normAutofit/>
          </a:bodyPr>
          <a:lstStyle/>
          <a:p>
            <a:pPr indent="0" marL="0">
              <a:buNone/>
            </a:pPr>
            <a:r>
              <a:rPr lang="en-US" sz="1900" b="1" dirty="0">
                <a:solidFill>
                  <a:srgbClr val="1D3557"/>
                </a:solidFill>
              </a:rPr>
              <a:t>À : Superviseur direct</a:t>
            </a:r>
            <a:endParaRPr lang="en-US" sz="1900" dirty="0"/>
          </a:p>
          <a:p>
            <a:pPr indent="0" marL="0">
              <a:buNone/>
            </a:pPr>
            <a:r>
              <a:rPr lang="en-US" sz="1900" b="1" dirty="0">
                <a:solidFill>
                  <a:srgbClr val="1D3557"/>
                </a:solidFill>
              </a:rPr>
              <a:t>CC : Back-office ou qualité, selon procédure</a:t>
            </a:r>
            <a:endParaRPr lang="en-US" sz="1900" dirty="0"/>
          </a:p>
          <a:p>
            <a:pPr indent="0" marL="0">
              <a:buNone/>
            </a:pPr>
            <a:r>
              <a:rPr lang="en-US" sz="1900" b="1" dirty="0">
                <a:solidFill>
                  <a:srgbClr val="1D3557"/>
                </a:solidFill>
              </a:rPr>
              <a:t>Objet : [Action requise] Vérification documents client – statut en attente</a:t>
            </a:r>
            <a:endParaRPr lang="en-US" sz="1900" dirty="0"/>
          </a:p>
        </p:txBody>
      </p:sp>
      <p:sp>
        <p:nvSpPr>
          <p:cNvPr id="11" name="Text 9"/>
          <p:cNvSpPr/>
          <p:nvPr/>
        </p:nvSpPr>
        <p:spPr>
          <a:xfrm>
            <a:off x="960120" y="2423160"/>
            <a:ext cx="10149840" cy="3520440"/>
          </a:xfrm>
          <a:prstGeom prst="rect">
            <a:avLst/>
          </a:prstGeom>
          <a:noFill/>
          <a:ln/>
        </p:spPr>
        <p:txBody>
          <a:bodyPr wrap="square" lIns="254" tIns="254" rIns="254" bIns="254" rtlCol="0" anchor="ctr">
            <a:normAutofit/>
          </a:bodyPr>
          <a:lstStyle/>
          <a:p>
            <a:pPr indent="0" marL="0">
              <a:buNone/>
            </a:pPr>
            <a:r>
              <a:rPr lang="en-US" sz="1800" dirty="0">
                <a:solidFill>
                  <a:srgbClr val="374151"/>
                </a:solidFill>
              </a:rPr>
              <a:t>Bonjour,</a:t>
            </a:r>
            <a:endParaRPr lang="en-US" sz="1800" dirty="0"/>
          </a:p>
          <a:p>
            <a:pPr indent="0" marL="0">
              <a:buNone/>
            </a:pPr>
            <a:endParaRPr lang="en-US" sz="1800" dirty="0"/>
          </a:p>
          <a:p>
            <a:pPr indent="0" marL="0">
              <a:buNone/>
            </a:pPr>
            <a:r>
              <a:rPr lang="en-US" sz="1800" dirty="0">
                <a:solidFill>
                  <a:srgbClr val="374151"/>
                </a:solidFill>
              </a:rPr>
              <a:t>Le client [référence] a rappelé aujourd’hui pour la 4e fois concernant l’envoi de ses documents. Il indique les avoir transmis, mais le statut reste “en attente” dans l’outil.</a:t>
            </a:r>
            <a:endParaRPr lang="en-US" sz="1800" dirty="0"/>
          </a:p>
          <a:p>
            <a:pPr indent="0" marL="0">
              <a:buNone/>
            </a:pPr>
            <a:endParaRPr lang="en-US" sz="1800" dirty="0"/>
          </a:p>
          <a:p>
            <a:pPr indent="0" marL="0">
              <a:buNone/>
            </a:pPr>
            <a:r>
              <a:rPr lang="en-US" sz="1800" dirty="0">
                <a:solidFill>
                  <a:srgbClr val="374151"/>
                </a:solidFill>
              </a:rPr>
              <a:t>Impact : le client reste sans réponse claire et le dossier risque de générer une nouvelle réclamation.</a:t>
            </a:r>
            <a:endParaRPr lang="en-US" sz="1800" dirty="0"/>
          </a:p>
          <a:p>
            <a:pPr indent="0" marL="0">
              <a:buNone/>
            </a:pPr>
            <a:endParaRPr lang="en-US" sz="1800" dirty="0"/>
          </a:p>
          <a:p>
            <a:pPr indent="0" marL="0">
              <a:buNone/>
            </a:pPr>
            <a:r>
              <a:rPr lang="en-US" sz="1800" dirty="0">
                <a:solidFill>
                  <a:srgbClr val="374151"/>
                </a:solidFill>
              </a:rPr>
              <a:t>Action déjà faite : vérification de l’historique et des notes disponibles.</a:t>
            </a:r>
            <a:endParaRPr lang="en-US" sz="1800" dirty="0"/>
          </a:p>
          <a:p>
            <a:pPr indent="0" marL="0">
              <a:buNone/>
            </a:pPr>
            <a:endParaRPr lang="en-US" sz="1800" dirty="0"/>
          </a:p>
          <a:p>
            <a:pPr indent="0" marL="0">
              <a:buNone/>
            </a:pPr>
            <a:r>
              <a:rPr lang="en-US" sz="1800" dirty="0">
                <a:solidFill>
                  <a:srgbClr val="374151"/>
                </a:solidFill>
              </a:rPr>
              <a:t>Besoin : merci de confirmer si les documents ont bien été reçus et la réponse à communiquer au client.</a:t>
            </a:r>
            <a:endParaRPr lang="en-US" sz="1800" dirty="0"/>
          </a:p>
          <a:p>
            <a:pPr indent="0" marL="0">
              <a:buNone/>
            </a:pPr>
            <a:endParaRPr lang="en-US" sz="1800" dirty="0"/>
          </a:p>
          <a:p>
            <a:pPr indent="0" marL="0">
              <a:buNone/>
            </a:pPr>
            <a:r>
              <a:rPr lang="en-US" sz="1800" dirty="0">
                <a:solidFill>
                  <a:srgbClr val="374151"/>
                </a:solidFill>
              </a:rPr>
              <a:t>Bien cordialement,</a:t>
            </a:r>
            <a:endParaRPr lang="en-US" sz="1800" dirty="0"/>
          </a:p>
          <a:p>
            <a:pPr indent="0" marL="0">
              <a:buNone/>
            </a:pPr>
            <a:r>
              <a:rPr lang="en-US" sz="1800" dirty="0">
                <a:solidFill>
                  <a:srgbClr val="374151"/>
                </a:solidFill>
              </a:rPr>
              <a:t>[Nom]</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2F6DB7"/>
          </a:solidFill>
          <a:ln w="12700">
            <a:solidFill>
              <a:srgbClr val="2F6DB7"/>
            </a:solidFill>
            <a:prstDash val="solid"/>
          </a:ln>
        </p:spPr>
      </p:sp>
      <p:sp>
        <p:nvSpPr>
          <p:cNvPr id="3" name="Text 1"/>
          <p:cNvSpPr/>
          <p:nvPr/>
        </p:nvSpPr>
        <p:spPr>
          <a:xfrm>
            <a:off x="228600" y="109728"/>
            <a:ext cx="1234440" cy="23774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Séance 4</a:t>
            </a:r>
            <a:endParaRPr lang="en-US" sz="1400" dirty="0"/>
          </a:p>
        </p:txBody>
      </p:sp>
      <p:sp>
        <p:nvSpPr>
          <p:cNvPr id="4" name="Text 2"/>
          <p:cNvSpPr/>
          <p:nvPr/>
        </p:nvSpPr>
        <p:spPr>
          <a:xfrm>
            <a:off x="7315200" y="109728"/>
            <a:ext cx="4480560" cy="237744"/>
          </a:xfrm>
          <a:prstGeom prst="rect">
            <a:avLst/>
          </a:prstGeom>
          <a:noFill/>
          <a:ln/>
        </p:spPr>
        <p:txBody>
          <a:bodyPr wrap="square" lIns="0" tIns="0" rIns="0" bIns="0" rtlCol="0" anchor="ctr"/>
          <a:lstStyle/>
          <a:p>
            <a:pPr algn="r" indent="0" marL="0">
              <a:buNone/>
            </a:pPr>
            <a:r>
              <a:rPr lang="en-US" sz="1400" b="1" dirty="0">
                <a:solidFill>
                  <a:srgbClr val="FFFFFF"/>
                </a:solidFill>
                <a:latin typeface="Arial" pitchFamily="34" charset="0"/>
                <a:ea typeface="Arial" pitchFamily="34" charset="-122"/>
                <a:cs typeface="Arial" pitchFamily="34" charset="-120"/>
              </a:rPr>
              <a:t>Communication interne professionnelle</a:t>
            </a:r>
            <a:endParaRPr lang="en-US" sz="1400" dirty="0"/>
          </a:p>
        </p:txBody>
      </p:sp>
      <p:sp>
        <p:nvSpPr>
          <p:cNvPr id="5" name="Shape 3"/>
          <p:cNvSpPr/>
          <p:nvPr/>
        </p:nvSpPr>
        <p:spPr>
          <a:xfrm>
            <a:off x="0" y="6574536"/>
            <a:ext cx="12191695" cy="283464"/>
          </a:xfrm>
          <a:prstGeom prst="rect">
            <a:avLst/>
          </a:prstGeom>
          <a:solidFill>
            <a:srgbClr val="F5F7FA"/>
          </a:solidFill>
          <a:ln w="12700">
            <a:solidFill>
              <a:srgbClr val="F5F7FA"/>
            </a:solidFill>
            <a:prstDash val="solid"/>
          </a:ln>
        </p:spPr>
      </p:sp>
      <p:sp>
        <p:nvSpPr>
          <p:cNvPr id="6" name="Text 4"/>
          <p:cNvSpPr/>
          <p:nvPr/>
        </p:nvSpPr>
        <p:spPr>
          <a:xfrm>
            <a:off x="11567160" y="6629400"/>
            <a:ext cx="320040" cy="164592"/>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12</a:t>
            </a:r>
            <a:endParaRPr lang="en-US" sz="1000" dirty="0"/>
          </a:p>
        </p:txBody>
      </p:sp>
      <p:sp>
        <p:nvSpPr>
          <p:cNvPr id="7" name="Text 5"/>
          <p:cNvSpPr/>
          <p:nvPr/>
        </p:nvSpPr>
        <p:spPr>
          <a:xfrm>
            <a:off x="502920" y="749808"/>
            <a:ext cx="11201400" cy="347472"/>
          </a:xfrm>
          <a:prstGeom prst="rect">
            <a:avLst/>
          </a:prstGeom>
          <a:noFill/>
          <a:ln/>
        </p:spPr>
        <p:txBody>
          <a:bodyPr wrap="square" lIns="254" tIns="254" rIns="254" bIns="254" rtlCol="0" anchor="ctr">
            <a:normAutofit/>
          </a:bodyPr>
          <a:lstStyle/>
          <a:p>
            <a:pPr indent="0" marL="0">
              <a:buNone/>
            </a:pPr>
            <a:r>
              <a:rPr lang="en-US" sz="3000" b="1" dirty="0">
                <a:solidFill>
                  <a:srgbClr val="6B2C83"/>
                </a:solidFill>
                <a:latin typeface="Arial" pitchFamily="34" charset="0"/>
                <a:ea typeface="Arial" pitchFamily="34" charset="-122"/>
                <a:cs typeface="Arial" pitchFamily="34" charset="-120"/>
              </a:rPr>
              <a:t>Les rapports internes utiles au quotidien</a:t>
            </a:r>
            <a:endParaRPr lang="en-US" sz="3000" dirty="0"/>
          </a:p>
        </p:txBody>
      </p:sp>
      <p:sp>
        <p:nvSpPr>
          <p:cNvPr id="8" name="Text 6"/>
          <p:cNvSpPr/>
          <p:nvPr/>
        </p:nvSpPr>
        <p:spPr>
          <a:xfrm>
            <a:off x="530352" y="1161288"/>
            <a:ext cx="10789920" cy="155448"/>
          </a:xfrm>
          <a:prstGeom prst="rect">
            <a:avLst/>
          </a:prstGeom>
          <a:noFill/>
          <a:ln/>
        </p:spPr>
        <p:txBody>
          <a:bodyPr wrap="square" lIns="0" tIns="0" rIns="0" bIns="0" rtlCol="0" anchor="ctr"/>
          <a:lstStyle/>
          <a:p>
            <a:pPr indent="0" marL="0">
              <a:buNone/>
            </a:pPr>
            <a:r>
              <a:rPr lang="en-US" sz="1500" dirty="0">
                <a:solidFill>
                  <a:srgbClr val="6B7280"/>
                </a:solidFill>
                <a:latin typeface="Arial" pitchFamily="34" charset="0"/>
                <a:ea typeface="Arial" pitchFamily="34" charset="-122"/>
                <a:cs typeface="Arial" pitchFamily="34" charset="-120"/>
              </a:rPr>
              <a:t>Le rapport transforme une situation en trace exploitable</a:t>
            </a:r>
            <a:endParaRPr lang="en-US" sz="1500" dirty="0"/>
          </a:p>
        </p:txBody>
      </p:sp>
      <p:sp>
        <p:nvSpPr>
          <p:cNvPr id="9" name="Shape 7"/>
          <p:cNvSpPr/>
          <p:nvPr/>
        </p:nvSpPr>
        <p:spPr>
          <a:xfrm>
            <a:off x="731520" y="1508760"/>
            <a:ext cx="3383280" cy="1325880"/>
          </a:xfrm>
          <a:prstGeom prst="roundRect">
            <a:avLst>
              <a:gd name="adj" fmla="val 5517"/>
            </a:avLst>
          </a:prstGeom>
          <a:solidFill>
            <a:srgbClr val="E8F1FB"/>
          </a:solidFill>
          <a:ln w="12700">
            <a:solidFill>
              <a:srgbClr val="B7D0EF"/>
            </a:solidFill>
            <a:prstDash val="solid"/>
          </a:ln>
        </p:spPr>
      </p:sp>
      <p:sp>
        <p:nvSpPr>
          <p:cNvPr id="10" name="Text 8"/>
          <p:cNvSpPr/>
          <p:nvPr/>
        </p:nvSpPr>
        <p:spPr>
          <a:xfrm>
            <a:off x="868680" y="1618488"/>
            <a:ext cx="3108960" cy="256032"/>
          </a:xfrm>
          <a:prstGeom prst="rect">
            <a:avLst/>
          </a:prstGeom>
          <a:noFill/>
          <a:ln/>
        </p:spPr>
        <p:txBody>
          <a:bodyPr wrap="square" lIns="254" tIns="254" rIns="254" bIns="254" rtlCol="0" anchor="ctr">
            <a:normAutofit/>
          </a:bodyPr>
          <a:lstStyle/>
          <a:p>
            <a:pPr indent="0" marL="0">
              <a:buNone/>
            </a:pPr>
            <a:r>
              <a:rPr lang="en-US" sz="2000" b="1" dirty="0">
                <a:solidFill>
                  <a:srgbClr val="2F6DB7"/>
                </a:solidFill>
              </a:rPr>
              <a:t>Rapport quotidien</a:t>
            </a:r>
            <a:endParaRPr lang="en-US" sz="2000" dirty="0"/>
          </a:p>
        </p:txBody>
      </p:sp>
      <p:sp>
        <p:nvSpPr>
          <p:cNvPr id="11" name="Text 9"/>
          <p:cNvSpPr/>
          <p:nvPr/>
        </p:nvSpPr>
        <p:spPr>
          <a:xfrm>
            <a:off x="868680" y="1965960"/>
            <a:ext cx="3108960" cy="777240"/>
          </a:xfrm>
          <a:prstGeom prst="rect">
            <a:avLst/>
          </a:prstGeom>
          <a:noFill/>
          <a:ln/>
        </p:spPr>
        <p:txBody>
          <a:bodyPr wrap="square" lIns="254" tIns="254" rIns="254" bIns="254" rtlCol="0" anchor="t">
            <a:normAutofit/>
          </a:bodyPr>
          <a:lstStyle/>
          <a:p>
            <a:pPr indent="0" marL="0">
              <a:buNone/>
            </a:pPr>
            <a:r>
              <a:rPr lang="en-US" sz="1800" dirty="0">
                <a:solidFill>
                  <a:srgbClr val="374151"/>
                </a:solidFill>
              </a:rPr>
              <a:t>Résumé court des activités, difficultés, points bloqués et suivis à prévoir.</a:t>
            </a:r>
            <a:endParaRPr lang="en-US" sz="1800" dirty="0"/>
          </a:p>
        </p:txBody>
      </p:sp>
      <p:sp>
        <p:nvSpPr>
          <p:cNvPr id="12" name="Shape 10"/>
          <p:cNvSpPr/>
          <p:nvPr/>
        </p:nvSpPr>
        <p:spPr>
          <a:xfrm>
            <a:off x="4434840" y="1508760"/>
            <a:ext cx="3383280" cy="1325880"/>
          </a:xfrm>
          <a:prstGeom prst="roundRect">
            <a:avLst>
              <a:gd name="adj" fmla="val 5517"/>
            </a:avLst>
          </a:prstGeom>
          <a:solidFill>
            <a:srgbClr val="F2EAF6"/>
          </a:solidFill>
          <a:ln w="12700">
            <a:solidFill>
              <a:srgbClr val="DCC6E6"/>
            </a:solidFill>
            <a:prstDash val="solid"/>
          </a:ln>
        </p:spPr>
      </p:sp>
      <p:sp>
        <p:nvSpPr>
          <p:cNvPr id="13" name="Text 11"/>
          <p:cNvSpPr/>
          <p:nvPr/>
        </p:nvSpPr>
        <p:spPr>
          <a:xfrm>
            <a:off x="4572000" y="1618488"/>
            <a:ext cx="3108960" cy="256032"/>
          </a:xfrm>
          <a:prstGeom prst="rect">
            <a:avLst/>
          </a:prstGeom>
          <a:noFill/>
          <a:ln/>
        </p:spPr>
        <p:txBody>
          <a:bodyPr wrap="square" lIns="254" tIns="254" rIns="254" bIns="254" rtlCol="0" anchor="ctr">
            <a:normAutofit/>
          </a:bodyPr>
          <a:lstStyle/>
          <a:p>
            <a:pPr indent="0" marL="0">
              <a:buNone/>
            </a:pPr>
            <a:r>
              <a:rPr lang="en-US" sz="2000" b="1" dirty="0">
                <a:solidFill>
                  <a:srgbClr val="6B2C83"/>
                </a:solidFill>
              </a:rPr>
              <a:t>Rapport d’incident</a:t>
            </a:r>
            <a:endParaRPr lang="en-US" sz="2000" dirty="0"/>
          </a:p>
        </p:txBody>
      </p:sp>
      <p:sp>
        <p:nvSpPr>
          <p:cNvPr id="14" name="Text 12"/>
          <p:cNvSpPr/>
          <p:nvPr/>
        </p:nvSpPr>
        <p:spPr>
          <a:xfrm>
            <a:off x="4572000" y="1965960"/>
            <a:ext cx="3108960" cy="777240"/>
          </a:xfrm>
          <a:prstGeom prst="rect">
            <a:avLst/>
          </a:prstGeom>
          <a:noFill/>
          <a:ln/>
        </p:spPr>
        <p:txBody>
          <a:bodyPr wrap="square" lIns="254" tIns="254" rIns="254" bIns="254" rtlCol="0" anchor="t">
            <a:normAutofit/>
          </a:bodyPr>
          <a:lstStyle/>
          <a:p>
            <a:pPr indent="0" marL="0">
              <a:buNone/>
            </a:pPr>
            <a:r>
              <a:rPr lang="en-US" sz="1800" dirty="0">
                <a:solidFill>
                  <a:srgbClr val="374151"/>
                </a:solidFill>
              </a:rPr>
              <a:t>Trace structurée d’un événement inhabituel : faits, impact, actions, besoin.</a:t>
            </a:r>
            <a:endParaRPr lang="en-US" sz="1800" dirty="0"/>
          </a:p>
        </p:txBody>
      </p:sp>
      <p:sp>
        <p:nvSpPr>
          <p:cNvPr id="15" name="Shape 13"/>
          <p:cNvSpPr/>
          <p:nvPr/>
        </p:nvSpPr>
        <p:spPr>
          <a:xfrm>
            <a:off x="8138160" y="1508760"/>
            <a:ext cx="3337560" cy="1325880"/>
          </a:xfrm>
          <a:prstGeom prst="roundRect">
            <a:avLst>
              <a:gd name="adj" fmla="val 5517"/>
            </a:avLst>
          </a:prstGeom>
          <a:solidFill>
            <a:srgbClr val="E8F1FB"/>
          </a:solidFill>
          <a:ln w="12700">
            <a:solidFill>
              <a:srgbClr val="B7D0EF"/>
            </a:solidFill>
            <a:prstDash val="solid"/>
          </a:ln>
        </p:spPr>
      </p:sp>
      <p:sp>
        <p:nvSpPr>
          <p:cNvPr id="16" name="Text 14"/>
          <p:cNvSpPr/>
          <p:nvPr/>
        </p:nvSpPr>
        <p:spPr>
          <a:xfrm>
            <a:off x="8275320" y="1618488"/>
            <a:ext cx="3063240" cy="256032"/>
          </a:xfrm>
          <a:prstGeom prst="rect">
            <a:avLst/>
          </a:prstGeom>
          <a:noFill/>
          <a:ln/>
        </p:spPr>
        <p:txBody>
          <a:bodyPr wrap="square" lIns="254" tIns="254" rIns="254" bIns="254" rtlCol="0" anchor="ctr">
            <a:normAutofit/>
          </a:bodyPr>
          <a:lstStyle/>
          <a:p>
            <a:pPr indent="0" marL="0">
              <a:buNone/>
            </a:pPr>
            <a:r>
              <a:rPr lang="en-US" sz="2000" b="1" dirty="0">
                <a:solidFill>
                  <a:srgbClr val="2F6DB7"/>
                </a:solidFill>
              </a:rPr>
              <a:t>Rapport d’escalade</a:t>
            </a:r>
            <a:endParaRPr lang="en-US" sz="2000" dirty="0"/>
          </a:p>
        </p:txBody>
      </p:sp>
      <p:sp>
        <p:nvSpPr>
          <p:cNvPr id="17" name="Text 15"/>
          <p:cNvSpPr/>
          <p:nvPr/>
        </p:nvSpPr>
        <p:spPr>
          <a:xfrm>
            <a:off x="8275320" y="1965960"/>
            <a:ext cx="3063240" cy="777240"/>
          </a:xfrm>
          <a:prstGeom prst="rect">
            <a:avLst/>
          </a:prstGeom>
          <a:noFill/>
          <a:ln/>
        </p:spPr>
        <p:txBody>
          <a:bodyPr wrap="square" lIns="254" tIns="254" rIns="254" bIns="254" rtlCol="0" anchor="t">
            <a:normAutofit/>
          </a:bodyPr>
          <a:lstStyle/>
          <a:p>
            <a:pPr indent="0" marL="0">
              <a:buNone/>
            </a:pPr>
            <a:r>
              <a:rPr lang="en-US" sz="1800" dirty="0">
                <a:solidFill>
                  <a:srgbClr val="374151"/>
                </a:solidFill>
              </a:rPr>
              <a:t>Message formalisé lorsqu’un niveau supérieur doit arbitrer ou décider.</a:t>
            </a:r>
            <a:endParaRPr lang="en-US" sz="1800" dirty="0"/>
          </a:p>
        </p:txBody>
      </p:sp>
      <p:sp>
        <p:nvSpPr>
          <p:cNvPr id="18" name="Shape 16"/>
          <p:cNvSpPr/>
          <p:nvPr/>
        </p:nvSpPr>
        <p:spPr>
          <a:xfrm>
            <a:off x="731520" y="3246120"/>
            <a:ext cx="3383280" cy="1325880"/>
          </a:xfrm>
          <a:prstGeom prst="roundRect">
            <a:avLst>
              <a:gd name="adj" fmla="val 5517"/>
            </a:avLst>
          </a:prstGeom>
          <a:solidFill>
            <a:srgbClr val="F2EAF6"/>
          </a:solidFill>
          <a:ln w="12700">
            <a:solidFill>
              <a:srgbClr val="DCC6E6"/>
            </a:solidFill>
            <a:prstDash val="solid"/>
          </a:ln>
        </p:spPr>
      </p:sp>
      <p:sp>
        <p:nvSpPr>
          <p:cNvPr id="19" name="Text 17"/>
          <p:cNvSpPr/>
          <p:nvPr/>
        </p:nvSpPr>
        <p:spPr>
          <a:xfrm>
            <a:off x="868680" y="3355848"/>
            <a:ext cx="3108960" cy="256032"/>
          </a:xfrm>
          <a:prstGeom prst="rect">
            <a:avLst/>
          </a:prstGeom>
          <a:noFill/>
          <a:ln/>
        </p:spPr>
        <p:txBody>
          <a:bodyPr wrap="square" lIns="254" tIns="254" rIns="254" bIns="254" rtlCol="0" anchor="ctr">
            <a:normAutofit/>
          </a:bodyPr>
          <a:lstStyle/>
          <a:p>
            <a:pPr indent="0" marL="0">
              <a:buNone/>
            </a:pPr>
            <a:r>
              <a:rPr lang="en-US" sz="2000" b="1" dirty="0">
                <a:solidFill>
                  <a:srgbClr val="6B2C83"/>
                </a:solidFill>
              </a:rPr>
              <a:t>Rapport de suivi</a:t>
            </a:r>
            <a:endParaRPr lang="en-US" sz="2000" dirty="0"/>
          </a:p>
        </p:txBody>
      </p:sp>
      <p:sp>
        <p:nvSpPr>
          <p:cNvPr id="20" name="Text 18"/>
          <p:cNvSpPr/>
          <p:nvPr/>
        </p:nvSpPr>
        <p:spPr>
          <a:xfrm>
            <a:off x="868680" y="3703320"/>
            <a:ext cx="3108960" cy="777240"/>
          </a:xfrm>
          <a:prstGeom prst="rect">
            <a:avLst/>
          </a:prstGeom>
          <a:noFill/>
          <a:ln/>
        </p:spPr>
        <p:txBody>
          <a:bodyPr wrap="square" lIns="254" tIns="254" rIns="254" bIns="254" rtlCol="0" anchor="t">
            <a:normAutofit/>
          </a:bodyPr>
          <a:lstStyle/>
          <a:p>
            <a:pPr indent="0" marL="0">
              <a:buNone/>
            </a:pPr>
            <a:r>
              <a:rPr lang="en-US" sz="1800" dirty="0">
                <a:solidFill>
                  <a:srgbClr val="374151"/>
                </a:solidFill>
              </a:rPr>
              <a:t>Point d’avancement sur un dossier en attente : statut, actions, prochaines étapes.</a:t>
            </a:r>
            <a:endParaRPr lang="en-US" sz="1800" dirty="0"/>
          </a:p>
        </p:txBody>
      </p:sp>
      <p:sp>
        <p:nvSpPr>
          <p:cNvPr id="21" name="Shape 19"/>
          <p:cNvSpPr/>
          <p:nvPr/>
        </p:nvSpPr>
        <p:spPr>
          <a:xfrm>
            <a:off x="4434840" y="3246120"/>
            <a:ext cx="3383280" cy="1325880"/>
          </a:xfrm>
          <a:prstGeom prst="roundRect">
            <a:avLst>
              <a:gd name="adj" fmla="val 5517"/>
            </a:avLst>
          </a:prstGeom>
          <a:solidFill>
            <a:srgbClr val="E8F1FB"/>
          </a:solidFill>
          <a:ln w="12700">
            <a:solidFill>
              <a:srgbClr val="B7D0EF"/>
            </a:solidFill>
            <a:prstDash val="solid"/>
          </a:ln>
        </p:spPr>
      </p:sp>
      <p:sp>
        <p:nvSpPr>
          <p:cNvPr id="22" name="Text 20"/>
          <p:cNvSpPr/>
          <p:nvPr/>
        </p:nvSpPr>
        <p:spPr>
          <a:xfrm>
            <a:off x="4572000" y="3355848"/>
            <a:ext cx="3108960" cy="256032"/>
          </a:xfrm>
          <a:prstGeom prst="rect">
            <a:avLst/>
          </a:prstGeom>
          <a:noFill/>
          <a:ln/>
        </p:spPr>
        <p:txBody>
          <a:bodyPr wrap="square" lIns="254" tIns="254" rIns="254" bIns="254" rtlCol="0" anchor="ctr">
            <a:normAutofit/>
          </a:bodyPr>
          <a:lstStyle/>
          <a:p>
            <a:pPr indent="0" marL="0">
              <a:buNone/>
            </a:pPr>
            <a:r>
              <a:rPr lang="en-US" sz="2000" b="1" dirty="0">
                <a:solidFill>
                  <a:srgbClr val="2F6DB7"/>
                </a:solidFill>
              </a:rPr>
              <a:t>Note de synthèse</a:t>
            </a:r>
            <a:endParaRPr lang="en-US" sz="2000" dirty="0"/>
          </a:p>
        </p:txBody>
      </p:sp>
      <p:sp>
        <p:nvSpPr>
          <p:cNvPr id="23" name="Text 21"/>
          <p:cNvSpPr/>
          <p:nvPr/>
        </p:nvSpPr>
        <p:spPr>
          <a:xfrm>
            <a:off x="4572000" y="3703320"/>
            <a:ext cx="3108960" cy="777240"/>
          </a:xfrm>
          <a:prstGeom prst="rect">
            <a:avLst/>
          </a:prstGeom>
          <a:noFill/>
          <a:ln/>
        </p:spPr>
        <p:txBody>
          <a:bodyPr wrap="square" lIns="254" tIns="254" rIns="254" bIns="254" rtlCol="0" anchor="t">
            <a:normAutofit/>
          </a:bodyPr>
          <a:lstStyle/>
          <a:p>
            <a:pPr indent="0" marL="0">
              <a:buNone/>
            </a:pPr>
            <a:r>
              <a:rPr lang="en-US" sz="1800" dirty="0">
                <a:solidFill>
                  <a:srgbClr val="374151"/>
                </a:solidFill>
              </a:rPr>
              <a:t>Résumé hebdomadaire ou thématique pour faire remonter les tendances.</a:t>
            </a:r>
            <a:endParaRPr lang="en-US" sz="1800" dirty="0"/>
          </a:p>
        </p:txBody>
      </p:sp>
      <p:sp>
        <p:nvSpPr>
          <p:cNvPr id="24" name="Shape 22"/>
          <p:cNvSpPr/>
          <p:nvPr/>
        </p:nvSpPr>
        <p:spPr>
          <a:xfrm>
            <a:off x="8138160" y="3246120"/>
            <a:ext cx="3337560" cy="1325880"/>
          </a:xfrm>
          <a:prstGeom prst="roundRect">
            <a:avLst>
              <a:gd name="adj" fmla="val 5517"/>
            </a:avLst>
          </a:prstGeom>
          <a:solidFill>
            <a:srgbClr val="F2EAF6"/>
          </a:solidFill>
          <a:ln w="12700">
            <a:solidFill>
              <a:srgbClr val="DCC6E6"/>
            </a:solidFill>
            <a:prstDash val="solid"/>
          </a:ln>
        </p:spPr>
      </p:sp>
      <p:sp>
        <p:nvSpPr>
          <p:cNvPr id="25" name="Text 23"/>
          <p:cNvSpPr/>
          <p:nvPr/>
        </p:nvSpPr>
        <p:spPr>
          <a:xfrm>
            <a:off x="8275320" y="3355848"/>
            <a:ext cx="3063240" cy="256032"/>
          </a:xfrm>
          <a:prstGeom prst="rect">
            <a:avLst/>
          </a:prstGeom>
          <a:noFill/>
          <a:ln/>
        </p:spPr>
        <p:txBody>
          <a:bodyPr wrap="square" lIns="254" tIns="254" rIns="254" bIns="254" rtlCol="0" anchor="ctr">
            <a:normAutofit/>
          </a:bodyPr>
          <a:lstStyle/>
          <a:p>
            <a:pPr indent="0" marL="0">
              <a:buNone/>
            </a:pPr>
            <a:r>
              <a:rPr lang="en-US" sz="2000" b="1" dirty="0">
                <a:solidFill>
                  <a:srgbClr val="6B2C83"/>
                </a:solidFill>
              </a:rPr>
              <a:t>Difficulté récurrente</a:t>
            </a:r>
            <a:endParaRPr lang="en-US" sz="2000" dirty="0"/>
          </a:p>
        </p:txBody>
      </p:sp>
      <p:sp>
        <p:nvSpPr>
          <p:cNvPr id="26" name="Text 24"/>
          <p:cNvSpPr/>
          <p:nvPr/>
        </p:nvSpPr>
        <p:spPr>
          <a:xfrm>
            <a:off x="8275320" y="3703320"/>
            <a:ext cx="3063240" cy="777240"/>
          </a:xfrm>
          <a:prstGeom prst="rect">
            <a:avLst/>
          </a:prstGeom>
          <a:noFill/>
          <a:ln/>
        </p:spPr>
        <p:txBody>
          <a:bodyPr wrap="square" lIns="254" tIns="254" rIns="254" bIns="254" rtlCol="0" anchor="t">
            <a:normAutofit/>
          </a:bodyPr>
          <a:lstStyle/>
          <a:p>
            <a:pPr indent="0" marL="0">
              <a:buNone/>
            </a:pPr>
            <a:r>
              <a:rPr lang="en-US" sz="1800" dirty="0">
                <a:solidFill>
                  <a:srgbClr val="374151"/>
                </a:solidFill>
              </a:rPr>
              <a:t>Rapport utile pour lancer une amélioration de procédure ou de formation.</a:t>
            </a:r>
            <a:endParaRPr lang="en-US" sz="1800" dirty="0"/>
          </a:p>
        </p:txBody>
      </p:sp>
      <p:sp>
        <p:nvSpPr>
          <p:cNvPr id="27" name="Shape 25"/>
          <p:cNvSpPr/>
          <p:nvPr/>
        </p:nvSpPr>
        <p:spPr>
          <a:xfrm>
            <a:off x="731520" y="5303520"/>
            <a:ext cx="10744200" cy="640080"/>
          </a:xfrm>
          <a:prstGeom prst="roundRect">
            <a:avLst>
              <a:gd name="adj" fmla="val 11429"/>
            </a:avLst>
          </a:prstGeom>
          <a:solidFill>
            <a:srgbClr val="FFFFFF"/>
          </a:solidFill>
          <a:ln w="12700">
            <a:solidFill>
              <a:srgbClr val="D1D5DB"/>
            </a:solidFill>
            <a:prstDash val="solid"/>
          </a:ln>
        </p:spPr>
      </p:sp>
      <p:sp>
        <p:nvSpPr>
          <p:cNvPr id="28" name="Text 26"/>
          <p:cNvSpPr/>
          <p:nvPr/>
        </p:nvSpPr>
        <p:spPr>
          <a:xfrm>
            <a:off x="868680" y="5413248"/>
            <a:ext cx="10469880" cy="256032"/>
          </a:xfrm>
          <a:prstGeom prst="rect">
            <a:avLst/>
          </a:prstGeom>
          <a:noFill/>
          <a:ln/>
        </p:spPr>
        <p:txBody>
          <a:bodyPr wrap="square" lIns="254" tIns="254" rIns="254" bIns="254" rtlCol="0" anchor="ctr">
            <a:normAutofit/>
          </a:bodyPr>
          <a:lstStyle/>
          <a:p>
            <a:pPr indent="0" marL="0">
              <a:buNone/>
            </a:pPr>
            <a:r>
              <a:rPr lang="en-US" sz="2000" b="1" dirty="0">
                <a:solidFill>
                  <a:srgbClr val="1D3557"/>
                </a:solidFill>
              </a:rPr>
              <a:t>Règle simple</a:t>
            </a:r>
            <a:endParaRPr lang="en-US" sz="2000" dirty="0"/>
          </a:p>
        </p:txBody>
      </p:sp>
      <p:sp>
        <p:nvSpPr>
          <p:cNvPr id="29" name="Text 27"/>
          <p:cNvSpPr/>
          <p:nvPr/>
        </p:nvSpPr>
        <p:spPr>
          <a:xfrm>
            <a:off x="868680" y="5760720"/>
            <a:ext cx="10469880" cy="91440"/>
          </a:xfrm>
          <a:prstGeom prst="rect">
            <a:avLst/>
          </a:prstGeom>
          <a:noFill/>
          <a:ln/>
        </p:spPr>
        <p:txBody>
          <a:bodyPr wrap="square" lIns="254" tIns="254" rIns="254" bIns="254" rtlCol="0" anchor="t">
            <a:normAutofit/>
          </a:bodyPr>
          <a:lstStyle/>
          <a:p>
            <a:pPr indent="0" marL="0">
              <a:buNone/>
            </a:pPr>
            <a:r>
              <a:rPr lang="en-US" sz="1800" dirty="0">
                <a:solidFill>
                  <a:srgbClr val="374151"/>
                </a:solidFill>
              </a:rPr>
              <a:t>Un rapport n’est pas un roman : il doit aider à comprendre, décider, suivre ou améliorer.</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2F6DB7"/>
          </a:solidFill>
          <a:ln w="12700">
            <a:solidFill>
              <a:srgbClr val="2F6DB7"/>
            </a:solidFill>
            <a:prstDash val="solid"/>
          </a:ln>
        </p:spPr>
      </p:sp>
      <p:sp>
        <p:nvSpPr>
          <p:cNvPr id="3" name="Text 1"/>
          <p:cNvSpPr/>
          <p:nvPr/>
        </p:nvSpPr>
        <p:spPr>
          <a:xfrm>
            <a:off x="228600" y="109728"/>
            <a:ext cx="1234440" cy="23774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Séance 4</a:t>
            </a:r>
            <a:endParaRPr lang="en-US" sz="1400" dirty="0"/>
          </a:p>
        </p:txBody>
      </p:sp>
      <p:sp>
        <p:nvSpPr>
          <p:cNvPr id="4" name="Text 2"/>
          <p:cNvSpPr/>
          <p:nvPr/>
        </p:nvSpPr>
        <p:spPr>
          <a:xfrm>
            <a:off x="7315200" y="109728"/>
            <a:ext cx="4480560" cy="237744"/>
          </a:xfrm>
          <a:prstGeom prst="rect">
            <a:avLst/>
          </a:prstGeom>
          <a:noFill/>
          <a:ln/>
        </p:spPr>
        <p:txBody>
          <a:bodyPr wrap="square" lIns="0" tIns="0" rIns="0" bIns="0" rtlCol="0" anchor="ctr"/>
          <a:lstStyle/>
          <a:p>
            <a:pPr algn="r" indent="0" marL="0">
              <a:buNone/>
            </a:pPr>
            <a:r>
              <a:rPr lang="en-US" sz="1400" b="1" dirty="0">
                <a:solidFill>
                  <a:srgbClr val="FFFFFF"/>
                </a:solidFill>
                <a:latin typeface="Arial" pitchFamily="34" charset="0"/>
                <a:ea typeface="Arial" pitchFamily="34" charset="-122"/>
                <a:cs typeface="Arial" pitchFamily="34" charset="-120"/>
              </a:rPr>
              <a:t>Communication interne professionnelle</a:t>
            </a:r>
            <a:endParaRPr lang="en-US" sz="1400" dirty="0"/>
          </a:p>
        </p:txBody>
      </p:sp>
      <p:sp>
        <p:nvSpPr>
          <p:cNvPr id="5" name="Shape 3"/>
          <p:cNvSpPr/>
          <p:nvPr/>
        </p:nvSpPr>
        <p:spPr>
          <a:xfrm>
            <a:off x="0" y="6574536"/>
            <a:ext cx="12191695" cy="283464"/>
          </a:xfrm>
          <a:prstGeom prst="rect">
            <a:avLst/>
          </a:prstGeom>
          <a:solidFill>
            <a:srgbClr val="F5F7FA"/>
          </a:solidFill>
          <a:ln w="12700">
            <a:solidFill>
              <a:srgbClr val="F5F7FA"/>
            </a:solidFill>
            <a:prstDash val="solid"/>
          </a:ln>
        </p:spPr>
      </p:sp>
      <p:sp>
        <p:nvSpPr>
          <p:cNvPr id="6" name="Text 4"/>
          <p:cNvSpPr/>
          <p:nvPr/>
        </p:nvSpPr>
        <p:spPr>
          <a:xfrm>
            <a:off x="11567160" y="6629400"/>
            <a:ext cx="320040" cy="164592"/>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13</a:t>
            </a:r>
            <a:endParaRPr lang="en-US" sz="1000" dirty="0"/>
          </a:p>
        </p:txBody>
      </p:sp>
      <p:sp>
        <p:nvSpPr>
          <p:cNvPr id="7" name="Text 5"/>
          <p:cNvSpPr/>
          <p:nvPr/>
        </p:nvSpPr>
        <p:spPr>
          <a:xfrm>
            <a:off x="502920" y="749808"/>
            <a:ext cx="11201400" cy="347472"/>
          </a:xfrm>
          <a:prstGeom prst="rect">
            <a:avLst/>
          </a:prstGeom>
          <a:noFill/>
          <a:ln/>
        </p:spPr>
        <p:txBody>
          <a:bodyPr wrap="square" lIns="254" tIns="254" rIns="254" bIns="254" rtlCol="0" anchor="ctr">
            <a:normAutofit/>
          </a:bodyPr>
          <a:lstStyle/>
          <a:p>
            <a:pPr indent="0" marL="0">
              <a:buNone/>
            </a:pPr>
            <a:r>
              <a:rPr lang="en-US" sz="3000" b="1" dirty="0">
                <a:solidFill>
                  <a:srgbClr val="6B2C83"/>
                </a:solidFill>
                <a:latin typeface="Arial" pitchFamily="34" charset="0"/>
                <a:ea typeface="Arial" pitchFamily="34" charset="-122"/>
                <a:cs typeface="Arial" pitchFamily="34" charset="-120"/>
              </a:rPr>
              <a:t>Modèle : rapport interne quotidien</a:t>
            </a:r>
            <a:endParaRPr lang="en-US" sz="3000" dirty="0"/>
          </a:p>
        </p:txBody>
      </p:sp>
      <p:sp>
        <p:nvSpPr>
          <p:cNvPr id="8" name="Text 6"/>
          <p:cNvSpPr/>
          <p:nvPr/>
        </p:nvSpPr>
        <p:spPr>
          <a:xfrm>
            <a:off x="530352" y="1161288"/>
            <a:ext cx="10789920" cy="155448"/>
          </a:xfrm>
          <a:prstGeom prst="rect">
            <a:avLst/>
          </a:prstGeom>
          <a:noFill/>
          <a:ln/>
        </p:spPr>
        <p:txBody>
          <a:bodyPr wrap="square" lIns="0" tIns="0" rIns="0" bIns="0" rtlCol="0" anchor="ctr"/>
          <a:lstStyle/>
          <a:p>
            <a:pPr indent="0" marL="0">
              <a:buNone/>
            </a:pPr>
            <a:r>
              <a:rPr lang="en-US" sz="1500" dirty="0">
                <a:solidFill>
                  <a:srgbClr val="6B7280"/>
                </a:solidFill>
                <a:latin typeface="Arial" pitchFamily="34" charset="0"/>
                <a:ea typeface="Arial" pitchFamily="34" charset="-122"/>
                <a:cs typeface="Arial" pitchFamily="34" charset="-120"/>
              </a:rPr>
              <a:t>Un format simple pour suivre le travail et les points bloquants</a:t>
            </a:r>
            <a:endParaRPr lang="en-US"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77240" y="1417320"/>
          <a:ext cx="10652760" cy="4892040"/>
        </p:xfrm>
        <a:graphic>
          <a:graphicData uri="http://schemas.openxmlformats.org/drawingml/2006/table">
            <a:tbl>
              <a:tblPr/>
              <a:tblGrid>
                <a:gridCol w="2926080"/>
                <a:gridCol w="7726680"/>
              </a:tblGrid>
              <a:tr h="698863">
                <a:tc>
                  <a:txBody>
                    <a:bodyPr/>
                    <a:lstStyle/>
                    <a:p>
                      <a:pPr indent="0" marL="0">
                        <a:buNone/>
                      </a:pPr>
                      <a:r>
                        <a:rPr lang="en-US" sz="1900" b="1" dirty="0">
                          <a:solidFill>
                            <a:srgbClr val="FFFFFF"/>
                          </a:solidFill>
                          <a:latin typeface="Arial" pitchFamily="34" charset="0"/>
                          <a:ea typeface="Arial" pitchFamily="34" charset="-122"/>
                          <a:cs typeface="Arial" pitchFamily="34" charset="-120"/>
                        </a:rPr>
                        <a:t>Rubrique</a:t>
                      </a:r>
                      <a:endParaRPr lang="en-US" sz="19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2F6DB7"/>
                    </a:solidFill>
                  </a:tcPr>
                </a:tc>
                <a:tc>
                  <a:txBody>
                    <a:bodyPr/>
                    <a:lstStyle/>
                    <a:p>
                      <a:pPr indent="0" marL="0">
                        <a:buNone/>
                      </a:pPr>
                      <a:r>
                        <a:rPr lang="en-US" sz="1900" b="1" dirty="0">
                          <a:solidFill>
                            <a:srgbClr val="FFFFFF"/>
                          </a:solidFill>
                          <a:latin typeface="Arial" pitchFamily="34" charset="0"/>
                          <a:ea typeface="Arial" pitchFamily="34" charset="-122"/>
                          <a:cs typeface="Arial" pitchFamily="34" charset="-120"/>
                        </a:rPr>
                        <a:t>Contenu attendu</a:t>
                      </a:r>
                      <a:endParaRPr lang="en-US" sz="19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2F6DB7"/>
                    </a:solidFill>
                  </a:tcPr>
                </a:tc>
              </a:tr>
              <a:tr h="698863">
                <a:tc>
                  <a:txBody>
                    <a:bodyPr/>
                    <a:lstStyle/>
                    <a:p>
                      <a:pPr indent="0" marL="0">
                        <a:buNone/>
                      </a:pPr>
                      <a:r>
                        <a:rPr lang="en-US" sz="1900" dirty="0">
                          <a:solidFill>
                            <a:srgbClr val="374151"/>
                          </a:solidFill>
                          <a:latin typeface="Arial" pitchFamily="34" charset="0"/>
                          <a:ea typeface="Arial" pitchFamily="34" charset="-122"/>
                          <a:cs typeface="Arial" pitchFamily="34" charset="-120"/>
                        </a:rPr>
                        <a:t>Date / équipe</a:t>
                      </a:r>
                      <a:endParaRPr lang="en-US" sz="19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900" dirty="0">
                          <a:solidFill>
                            <a:srgbClr val="374151"/>
                          </a:solidFill>
                          <a:latin typeface="Arial" pitchFamily="34" charset="0"/>
                          <a:ea typeface="Arial" pitchFamily="34" charset="-122"/>
                          <a:cs typeface="Arial" pitchFamily="34" charset="-120"/>
                        </a:rPr>
                        <a:t>Jour, shift, équipe ou périmètre concerné.</a:t>
                      </a:r>
                      <a:endParaRPr lang="en-US" sz="19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698863">
                <a:tc>
                  <a:txBody>
                    <a:bodyPr/>
                    <a:lstStyle/>
                    <a:p>
                      <a:pPr indent="0" marL="0">
                        <a:buNone/>
                      </a:pPr>
                      <a:r>
                        <a:rPr lang="en-US" sz="1900" dirty="0">
                          <a:solidFill>
                            <a:srgbClr val="374151"/>
                          </a:solidFill>
                          <a:latin typeface="Arial" pitchFamily="34" charset="0"/>
                          <a:ea typeface="Arial" pitchFamily="34" charset="-122"/>
                          <a:cs typeface="Arial" pitchFamily="34" charset="-120"/>
                        </a:rPr>
                        <a:t>Activités réalisées</a:t>
                      </a:r>
                      <a:endParaRPr lang="en-US" sz="19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900" dirty="0">
                          <a:solidFill>
                            <a:srgbClr val="374151"/>
                          </a:solidFill>
                          <a:latin typeface="Arial" pitchFamily="34" charset="0"/>
                          <a:ea typeface="Arial" pitchFamily="34" charset="-122"/>
                          <a:cs typeface="Arial" pitchFamily="34" charset="-120"/>
                        </a:rPr>
                        <a:t>Actions principales réalisées pendant la période.</a:t>
                      </a:r>
                      <a:endParaRPr lang="en-US" sz="19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698863">
                <a:tc>
                  <a:txBody>
                    <a:bodyPr/>
                    <a:lstStyle/>
                    <a:p>
                      <a:pPr indent="0" marL="0">
                        <a:buNone/>
                      </a:pPr>
                      <a:r>
                        <a:rPr lang="en-US" sz="1900" dirty="0">
                          <a:solidFill>
                            <a:srgbClr val="374151"/>
                          </a:solidFill>
                          <a:latin typeface="Arial" pitchFamily="34" charset="0"/>
                          <a:ea typeface="Arial" pitchFamily="34" charset="-122"/>
                          <a:cs typeface="Arial" pitchFamily="34" charset="-120"/>
                        </a:rPr>
                        <a:t>Points bloquants</a:t>
                      </a:r>
                      <a:endParaRPr lang="en-US" sz="19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900" dirty="0">
                          <a:solidFill>
                            <a:srgbClr val="374151"/>
                          </a:solidFill>
                          <a:latin typeface="Arial" pitchFamily="34" charset="0"/>
                          <a:ea typeface="Arial" pitchFamily="34" charset="-122"/>
                          <a:cs typeface="Arial" pitchFamily="34" charset="-120"/>
                        </a:rPr>
                        <a:t>Dossiers, outils, consignes ou informations qui bloquent.</a:t>
                      </a:r>
                      <a:endParaRPr lang="en-US" sz="19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698863">
                <a:tc>
                  <a:txBody>
                    <a:bodyPr/>
                    <a:lstStyle/>
                    <a:p>
                      <a:pPr indent="0" marL="0">
                        <a:buNone/>
                      </a:pPr>
                      <a:r>
                        <a:rPr lang="en-US" sz="1900" dirty="0">
                          <a:solidFill>
                            <a:srgbClr val="374151"/>
                          </a:solidFill>
                          <a:latin typeface="Arial" pitchFamily="34" charset="0"/>
                          <a:ea typeface="Arial" pitchFamily="34" charset="-122"/>
                          <a:cs typeface="Arial" pitchFamily="34" charset="-120"/>
                        </a:rPr>
                        <a:t>Actions déjà faites</a:t>
                      </a:r>
                      <a:endParaRPr lang="en-US" sz="19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900" dirty="0">
                          <a:solidFill>
                            <a:srgbClr val="374151"/>
                          </a:solidFill>
                          <a:latin typeface="Arial" pitchFamily="34" charset="0"/>
                          <a:ea typeface="Arial" pitchFamily="34" charset="-122"/>
                          <a:cs typeface="Arial" pitchFamily="34" charset="-120"/>
                        </a:rPr>
                        <a:t>Vérifications, relances, tickets, contacts internes.</a:t>
                      </a:r>
                      <a:endParaRPr lang="en-US" sz="19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698863">
                <a:tc>
                  <a:txBody>
                    <a:bodyPr/>
                    <a:lstStyle/>
                    <a:p>
                      <a:pPr indent="0" marL="0">
                        <a:buNone/>
                      </a:pPr>
                      <a:r>
                        <a:rPr lang="en-US" sz="1900" dirty="0">
                          <a:solidFill>
                            <a:srgbClr val="374151"/>
                          </a:solidFill>
                          <a:latin typeface="Arial" pitchFamily="34" charset="0"/>
                          <a:ea typeface="Arial" pitchFamily="34" charset="-122"/>
                          <a:cs typeface="Arial" pitchFamily="34" charset="-120"/>
                        </a:rPr>
                        <a:t>Besoin / suivi attendu</a:t>
                      </a:r>
                      <a:endParaRPr lang="en-US" sz="19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900" dirty="0">
                          <a:solidFill>
                            <a:srgbClr val="374151"/>
                          </a:solidFill>
                          <a:latin typeface="Arial" pitchFamily="34" charset="0"/>
                          <a:ea typeface="Arial" pitchFamily="34" charset="-122"/>
                          <a:cs typeface="Arial" pitchFamily="34" charset="-120"/>
                        </a:rPr>
                        <a:t>Décision, validation, traitement ou information à recevoir.</a:t>
                      </a:r>
                      <a:endParaRPr lang="en-US" sz="19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698863">
                <a:tc>
                  <a:txBody>
                    <a:bodyPr/>
                    <a:lstStyle/>
                    <a:p>
                      <a:pPr indent="0" marL="0">
                        <a:buNone/>
                      </a:pPr>
                      <a:r>
                        <a:rPr lang="en-US" sz="1900" dirty="0">
                          <a:solidFill>
                            <a:srgbClr val="374151"/>
                          </a:solidFill>
                          <a:latin typeface="Arial" pitchFamily="34" charset="0"/>
                          <a:ea typeface="Arial" pitchFamily="34" charset="-122"/>
                          <a:cs typeface="Arial" pitchFamily="34" charset="-120"/>
                        </a:rPr>
                        <a:t>Proposition d’amélioration</a:t>
                      </a:r>
                      <a:endParaRPr lang="en-US" sz="19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900" dirty="0">
                          <a:solidFill>
                            <a:srgbClr val="374151"/>
                          </a:solidFill>
                          <a:latin typeface="Arial" pitchFamily="34" charset="0"/>
                          <a:ea typeface="Arial" pitchFamily="34" charset="-122"/>
                          <a:cs typeface="Arial" pitchFamily="34" charset="-120"/>
                        </a:rPr>
                        <a:t>Idée simple pour éviter la répétition du problème.</a:t>
                      </a:r>
                      <a:endParaRPr lang="en-US" sz="19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2F6DB7"/>
          </a:solidFill>
          <a:ln w="12700">
            <a:solidFill>
              <a:srgbClr val="2F6DB7"/>
            </a:solidFill>
            <a:prstDash val="solid"/>
          </a:ln>
        </p:spPr>
      </p:sp>
      <p:sp>
        <p:nvSpPr>
          <p:cNvPr id="3" name="Text 1"/>
          <p:cNvSpPr/>
          <p:nvPr/>
        </p:nvSpPr>
        <p:spPr>
          <a:xfrm>
            <a:off x="228600" y="109728"/>
            <a:ext cx="1234440" cy="23774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Séance 4</a:t>
            </a:r>
            <a:endParaRPr lang="en-US" sz="1400" dirty="0"/>
          </a:p>
        </p:txBody>
      </p:sp>
      <p:sp>
        <p:nvSpPr>
          <p:cNvPr id="4" name="Text 2"/>
          <p:cNvSpPr/>
          <p:nvPr/>
        </p:nvSpPr>
        <p:spPr>
          <a:xfrm>
            <a:off x="7315200" y="109728"/>
            <a:ext cx="4480560" cy="237744"/>
          </a:xfrm>
          <a:prstGeom prst="rect">
            <a:avLst/>
          </a:prstGeom>
          <a:noFill/>
          <a:ln/>
        </p:spPr>
        <p:txBody>
          <a:bodyPr wrap="square" lIns="0" tIns="0" rIns="0" bIns="0" rtlCol="0" anchor="ctr"/>
          <a:lstStyle/>
          <a:p>
            <a:pPr algn="r" indent="0" marL="0">
              <a:buNone/>
            </a:pPr>
            <a:r>
              <a:rPr lang="en-US" sz="1400" b="1" dirty="0">
                <a:solidFill>
                  <a:srgbClr val="FFFFFF"/>
                </a:solidFill>
                <a:latin typeface="Arial" pitchFamily="34" charset="0"/>
                <a:ea typeface="Arial" pitchFamily="34" charset="-122"/>
                <a:cs typeface="Arial" pitchFamily="34" charset="-120"/>
              </a:rPr>
              <a:t>Communication interne professionnelle</a:t>
            </a:r>
            <a:endParaRPr lang="en-US" sz="1400" dirty="0"/>
          </a:p>
        </p:txBody>
      </p:sp>
      <p:sp>
        <p:nvSpPr>
          <p:cNvPr id="5" name="Shape 3"/>
          <p:cNvSpPr/>
          <p:nvPr/>
        </p:nvSpPr>
        <p:spPr>
          <a:xfrm>
            <a:off x="0" y="6574536"/>
            <a:ext cx="12191695" cy="283464"/>
          </a:xfrm>
          <a:prstGeom prst="rect">
            <a:avLst/>
          </a:prstGeom>
          <a:solidFill>
            <a:srgbClr val="F5F7FA"/>
          </a:solidFill>
          <a:ln w="12700">
            <a:solidFill>
              <a:srgbClr val="F5F7FA"/>
            </a:solidFill>
            <a:prstDash val="solid"/>
          </a:ln>
        </p:spPr>
      </p:sp>
      <p:sp>
        <p:nvSpPr>
          <p:cNvPr id="6" name="Text 4"/>
          <p:cNvSpPr/>
          <p:nvPr/>
        </p:nvSpPr>
        <p:spPr>
          <a:xfrm>
            <a:off x="11567160" y="6629400"/>
            <a:ext cx="320040" cy="164592"/>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14</a:t>
            </a:r>
            <a:endParaRPr lang="en-US" sz="1000" dirty="0"/>
          </a:p>
        </p:txBody>
      </p:sp>
      <p:sp>
        <p:nvSpPr>
          <p:cNvPr id="7" name="Text 5"/>
          <p:cNvSpPr/>
          <p:nvPr/>
        </p:nvSpPr>
        <p:spPr>
          <a:xfrm>
            <a:off x="502920" y="749808"/>
            <a:ext cx="11201400" cy="347472"/>
          </a:xfrm>
          <a:prstGeom prst="rect">
            <a:avLst/>
          </a:prstGeom>
          <a:noFill/>
          <a:ln/>
        </p:spPr>
        <p:txBody>
          <a:bodyPr wrap="square" lIns="254" tIns="254" rIns="254" bIns="254" rtlCol="0" anchor="ctr">
            <a:normAutofit/>
          </a:bodyPr>
          <a:lstStyle/>
          <a:p>
            <a:pPr indent="0" marL="0">
              <a:buNone/>
            </a:pPr>
            <a:r>
              <a:rPr lang="en-US" sz="3000" b="1" dirty="0">
                <a:solidFill>
                  <a:srgbClr val="6B2C83"/>
                </a:solidFill>
                <a:latin typeface="Arial" pitchFamily="34" charset="0"/>
                <a:ea typeface="Arial" pitchFamily="34" charset="-122"/>
                <a:cs typeface="Arial" pitchFamily="34" charset="-120"/>
              </a:rPr>
              <a:t>Atelier 3 : produire un mini-rapport quotidien</a:t>
            </a:r>
            <a:endParaRPr lang="en-US" sz="3000" dirty="0"/>
          </a:p>
        </p:txBody>
      </p:sp>
      <p:sp>
        <p:nvSpPr>
          <p:cNvPr id="8" name="Text 6"/>
          <p:cNvSpPr/>
          <p:nvPr/>
        </p:nvSpPr>
        <p:spPr>
          <a:xfrm>
            <a:off x="530352" y="1161288"/>
            <a:ext cx="10789920" cy="155448"/>
          </a:xfrm>
          <a:prstGeom prst="rect">
            <a:avLst/>
          </a:prstGeom>
          <a:noFill/>
          <a:ln/>
        </p:spPr>
        <p:txBody>
          <a:bodyPr wrap="square" lIns="0" tIns="0" rIns="0" bIns="0" rtlCol="0" anchor="ctr"/>
          <a:lstStyle/>
          <a:p>
            <a:pPr indent="0" marL="0">
              <a:buNone/>
            </a:pPr>
            <a:r>
              <a:rPr lang="en-US" sz="1500" dirty="0">
                <a:solidFill>
                  <a:srgbClr val="6B7280"/>
                </a:solidFill>
                <a:latin typeface="Arial" pitchFamily="34" charset="0"/>
                <a:ea typeface="Arial" pitchFamily="34" charset="-122"/>
                <a:cs typeface="Arial" pitchFamily="34" charset="-120"/>
              </a:rPr>
              <a:t>Travail en binômes</a:t>
            </a:r>
            <a:endParaRPr lang="en-US" sz="1500" dirty="0"/>
          </a:p>
        </p:txBody>
      </p:sp>
      <p:sp>
        <p:nvSpPr>
          <p:cNvPr id="9" name="Shape 7"/>
          <p:cNvSpPr/>
          <p:nvPr/>
        </p:nvSpPr>
        <p:spPr>
          <a:xfrm>
            <a:off x="731520" y="1508760"/>
            <a:ext cx="10744200" cy="1097280"/>
          </a:xfrm>
          <a:prstGeom prst="roundRect">
            <a:avLst>
              <a:gd name="adj" fmla="val 6667"/>
            </a:avLst>
          </a:prstGeom>
          <a:solidFill>
            <a:srgbClr val="FFFFFF"/>
          </a:solidFill>
          <a:ln w="12700">
            <a:solidFill>
              <a:srgbClr val="CBD5E1"/>
            </a:solidFill>
            <a:prstDash val="solid"/>
          </a:ln>
        </p:spPr>
      </p:sp>
      <p:sp>
        <p:nvSpPr>
          <p:cNvPr id="10" name="Text 8"/>
          <p:cNvSpPr/>
          <p:nvPr/>
        </p:nvSpPr>
        <p:spPr>
          <a:xfrm>
            <a:off x="868680" y="1618488"/>
            <a:ext cx="10469880" cy="256032"/>
          </a:xfrm>
          <a:prstGeom prst="rect">
            <a:avLst/>
          </a:prstGeom>
          <a:noFill/>
          <a:ln/>
        </p:spPr>
        <p:txBody>
          <a:bodyPr wrap="square" lIns="254" tIns="254" rIns="254" bIns="254" rtlCol="0" anchor="ctr">
            <a:normAutofit/>
          </a:bodyPr>
          <a:lstStyle/>
          <a:p>
            <a:pPr indent="0" marL="0">
              <a:buNone/>
            </a:pPr>
            <a:r>
              <a:rPr lang="en-US" sz="2000" b="1" dirty="0">
                <a:solidFill>
                  <a:srgbClr val="1D3557"/>
                </a:solidFill>
              </a:rPr>
              <a:t>Situation</a:t>
            </a:r>
            <a:endParaRPr lang="en-US" sz="2000" dirty="0"/>
          </a:p>
        </p:txBody>
      </p:sp>
      <p:sp>
        <p:nvSpPr>
          <p:cNvPr id="11" name="Text 9"/>
          <p:cNvSpPr/>
          <p:nvPr/>
        </p:nvSpPr>
        <p:spPr>
          <a:xfrm>
            <a:off x="868680" y="1965960"/>
            <a:ext cx="10469880" cy="548640"/>
          </a:xfrm>
          <a:prstGeom prst="rect">
            <a:avLst/>
          </a:prstGeom>
          <a:noFill/>
          <a:ln/>
        </p:spPr>
        <p:txBody>
          <a:bodyPr wrap="square" lIns="254" tIns="254" rIns="254" bIns="254" rtlCol="0" anchor="t">
            <a:normAutofit/>
          </a:bodyPr>
          <a:lstStyle/>
          <a:p>
            <a:pPr indent="0" marL="0">
              <a:buNone/>
            </a:pPr>
            <a:r>
              <a:rPr lang="en-US" sz="2000" dirty="0">
                <a:solidFill>
                  <a:srgbClr val="374151"/>
                </a:solidFill>
              </a:rPr>
              <a:t>Pendant le shift, 3 sujets ont été observés : un outil lent entre 10h et 10h40, deux dossiers sans statut clair, et une consigne comprise différemment par plusieurs agents.</a:t>
            </a:r>
            <a:endParaRPr lang="en-US" sz="2000" dirty="0"/>
          </a:p>
        </p:txBody>
      </p:sp>
      <p:sp>
        <p:nvSpPr>
          <p:cNvPr id="12" name="Shape 10"/>
          <p:cNvSpPr/>
          <p:nvPr/>
        </p:nvSpPr>
        <p:spPr>
          <a:xfrm>
            <a:off x="731520" y="2880360"/>
            <a:ext cx="10744200" cy="2011680"/>
          </a:xfrm>
          <a:prstGeom prst="roundRect">
            <a:avLst>
              <a:gd name="adj" fmla="val 3636"/>
            </a:avLst>
          </a:prstGeom>
          <a:solidFill>
            <a:srgbClr val="E8F1FB"/>
          </a:solidFill>
          <a:ln w="12700">
            <a:solidFill>
              <a:srgbClr val="B7D0EF"/>
            </a:solidFill>
            <a:prstDash val="solid"/>
          </a:ln>
        </p:spPr>
      </p:sp>
      <p:sp>
        <p:nvSpPr>
          <p:cNvPr id="13" name="Text 11"/>
          <p:cNvSpPr/>
          <p:nvPr/>
        </p:nvSpPr>
        <p:spPr>
          <a:xfrm>
            <a:off x="868680" y="2990088"/>
            <a:ext cx="10469880" cy="256032"/>
          </a:xfrm>
          <a:prstGeom prst="rect">
            <a:avLst/>
          </a:prstGeom>
          <a:noFill/>
          <a:ln/>
        </p:spPr>
        <p:txBody>
          <a:bodyPr wrap="square" lIns="254" tIns="254" rIns="254" bIns="254" rtlCol="0" anchor="ctr">
            <a:normAutofit/>
          </a:bodyPr>
          <a:lstStyle/>
          <a:p>
            <a:pPr indent="0" marL="0">
              <a:buNone/>
            </a:pPr>
            <a:r>
              <a:rPr lang="en-US" sz="2000" b="1" dirty="0">
                <a:solidFill>
                  <a:srgbClr val="2F6DB7"/>
                </a:solidFill>
              </a:rPr>
              <a:t>Travail demandé</a:t>
            </a:r>
            <a:endParaRPr lang="en-US" sz="2000" dirty="0"/>
          </a:p>
        </p:txBody>
      </p:sp>
      <p:sp>
        <p:nvSpPr>
          <p:cNvPr id="14" name="Text 12"/>
          <p:cNvSpPr/>
          <p:nvPr/>
        </p:nvSpPr>
        <p:spPr>
          <a:xfrm>
            <a:off x="868680" y="3337560"/>
            <a:ext cx="10469880" cy="1463040"/>
          </a:xfrm>
          <a:prstGeom prst="rect">
            <a:avLst/>
          </a:prstGeom>
          <a:noFill/>
          <a:ln/>
        </p:spPr>
        <p:txBody>
          <a:bodyPr wrap="square" lIns="254" tIns="254" rIns="254" bIns="254" rtlCol="0" anchor="t">
            <a:normAutofit/>
          </a:bodyPr>
          <a:lstStyle/>
          <a:p>
            <a:pPr indent="0" marL="0">
              <a:buNone/>
            </a:pPr>
            <a:r>
              <a:rPr lang="en-US" sz="2200" dirty="0">
                <a:solidFill>
                  <a:srgbClr val="374151"/>
                </a:solidFill>
              </a:rPr>
              <a:t>Rédiger un mini-rapport quotidien en 6 lignes maximum :</a:t>
            </a:r>
            <a:endParaRPr lang="en-US" sz="2200" dirty="0"/>
          </a:p>
          <a:p>
            <a:pPr indent="0" marL="0">
              <a:buNone/>
            </a:pPr>
            <a:r>
              <a:rPr lang="en-US" sz="2200" dirty="0">
                <a:solidFill>
                  <a:srgbClr val="374151"/>
                </a:solidFill>
              </a:rPr>
              <a:t>1. activité réalisée ;</a:t>
            </a:r>
            <a:endParaRPr lang="en-US" sz="2200" dirty="0"/>
          </a:p>
          <a:p>
            <a:pPr indent="0" marL="0">
              <a:buNone/>
            </a:pPr>
            <a:r>
              <a:rPr lang="en-US" sz="2200" dirty="0">
                <a:solidFill>
                  <a:srgbClr val="374151"/>
                </a:solidFill>
              </a:rPr>
              <a:t>2. points bloquants ;</a:t>
            </a:r>
            <a:endParaRPr lang="en-US" sz="2200" dirty="0"/>
          </a:p>
          <a:p>
            <a:pPr indent="0" marL="0">
              <a:buNone/>
            </a:pPr>
            <a:r>
              <a:rPr lang="en-US" sz="2200" dirty="0">
                <a:solidFill>
                  <a:srgbClr val="374151"/>
                </a:solidFill>
              </a:rPr>
              <a:t>3. impact ;</a:t>
            </a:r>
            <a:endParaRPr lang="en-US" sz="2200" dirty="0"/>
          </a:p>
          <a:p>
            <a:pPr indent="0" marL="0">
              <a:buNone/>
            </a:pPr>
            <a:r>
              <a:rPr lang="en-US" sz="2200" dirty="0">
                <a:solidFill>
                  <a:srgbClr val="374151"/>
                </a:solidFill>
              </a:rPr>
              <a:t>4. actions déjà faites ;</a:t>
            </a:r>
            <a:endParaRPr lang="en-US" sz="2200" dirty="0"/>
          </a:p>
          <a:p>
            <a:pPr indent="0" marL="0">
              <a:buNone/>
            </a:pPr>
            <a:r>
              <a:rPr lang="en-US" sz="2200" dirty="0">
                <a:solidFill>
                  <a:srgbClr val="374151"/>
                </a:solidFill>
              </a:rPr>
              <a:t>5. besoin attendu ;</a:t>
            </a:r>
            <a:endParaRPr lang="en-US" sz="2200" dirty="0"/>
          </a:p>
          <a:p>
            <a:pPr indent="0" marL="0">
              <a:buNone/>
            </a:pPr>
            <a:r>
              <a:rPr lang="en-US" sz="2200" dirty="0">
                <a:solidFill>
                  <a:srgbClr val="374151"/>
                </a:solidFill>
              </a:rPr>
              <a:t>6. proposition d’amélioration.</a:t>
            </a:r>
            <a:endParaRPr lang="en-US" sz="2200" dirty="0"/>
          </a:p>
        </p:txBody>
      </p:sp>
      <p:sp>
        <p:nvSpPr>
          <p:cNvPr id="15" name="Shape 13"/>
          <p:cNvSpPr/>
          <p:nvPr/>
        </p:nvSpPr>
        <p:spPr>
          <a:xfrm>
            <a:off x="731520" y="5303520"/>
            <a:ext cx="10744200" cy="548640"/>
          </a:xfrm>
          <a:prstGeom prst="roundRect">
            <a:avLst>
              <a:gd name="adj" fmla="val 13333"/>
            </a:avLst>
          </a:prstGeom>
          <a:solidFill>
            <a:srgbClr val="F2EAF6"/>
          </a:solidFill>
          <a:ln w="12700">
            <a:solidFill>
              <a:srgbClr val="DCC6E6"/>
            </a:solidFill>
            <a:prstDash val="solid"/>
          </a:ln>
        </p:spPr>
      </p:sp>
      <p:sp>
        <p:nvSpPr>
          <p:cNvPr id="16" name="Text 14"/>
          <p:cNvSpPr/>
          <p:nvPr/>
        </p:nvSpPr>
        <p:spPr>
          <a:xfrm>
            <a:off x="868680" y="5413248"/>
            <a:ext cx="10469880" cy="256032"/>
          </a:xfrm>
          <a:prstGeom prst="rect">
            <a:avLst/>
          </a:prstGeom>
          <a:noFill/>
          <a:ln/>
        </p:spPr>
        <p:txBody>
          <a:bodyPr wrap="square" lIns="254" tIns="254" rIns="254" bIns="254" rtlCol="0" anchor="ctr">
            <a:normAutofit/>
          </a:bodyPr>
          <a:lstStyle/>
          <a:p>
            <a:pPr indent="0" marL="0">
              <a:buNone/>
            </a:pPr>
            <a:r>
              <a:rPr lang="en-US" sz="2000" b="1" dirty="0">
                <a:solidFill>
                  <a:srgbClr val="6B2C83"/>
                </a:solidFill>
              </a:rPr>
              <a:t>Temps</a:t>
            </a:r>
            <a:endParaRPr lang="en-US" sz="2000" dirty="0"/>
          </a:p>
        </p:txBody>
      </p:sp>
      <p:sp>
        <p:nvSpPr>
          <p:cNvPr id="17" name="Text 15"/>
          <p:cNvSpPr/>
          <p:nvPr/>
        </p:nvSpPr>
        <p:spPr>
          <a:xfrm>
            <a:off x="868680" y="5760720"/>
            <a:ext cx="10469880" cy="0"/>
          </a:xfrm>
          <a:prstGeom prst="rect">
            <a:avLst/>
          </a:prstGeom>
          <a:noFill/>
          <a:ln/>
        </p:spPr>
        <p:txBody>
          <a:bodyPr wrap="square" lIns="254" tIns="254" rIns="254" bIns="254" rtlCol="0" anchor="t">
            <a:normAutofit/>
          </a:bodyPr>
          <a:lstStyle/>
          <a:p>
            <a:pPr indent="0" marL="0">
              <a:buNone/>
            </a:pPr>
            <a:r>
              <a:rPr lang="en-US" sz="1800" dirty="0">
                <a:solidFill>
                  <a:srgbClr val="374151"/>
                </a:solidFill>
              </a:rPr>
              <a:t>8 minutes de travail + correction rapide au tableau.</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2F6DB7"/>
          </a:solidFill>
          <a:ln w="12700">
            <a:solidFill>
              <a:srgbClr val="2F6DB7"/>
            </a:solidFill>
            <a:prstDash val="solid"/>
          </a:ln>
        </p:spPr>
      </p:sp>
      <p:sp>
        <p:nvSpPr>
          <p:cNvPr id="3" name="Text 1"/>
          <p:cNvSpPr/>
          <p:nvPr/>
        </p:nvSpPr>
        <p:spPr>
          <a:xfrm>
            <a:off x="228600" y="109728"/>
            <a:ext cx="1234440" cy="23774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Séance 4</a:t>
            </a:r>
            <a:endParaRPr lang="en-US" sz="1400" dirty="0"/>
          </a:p>
        </p:txBody>
      </p:sp>
      <p:sp>
        <p:nvSpPr>
          <p:cNvPr id="4" name="Text 2"/>
          <p:cNvSpPr/>
          <p:nvPr/>
        </p:nvSpPr>
        <p:spPr>
          <a:xfrm>
            <a:off x="7315200" y="109728"/>
            <a:ext cx="4480560" cy="237744"/>
          </a:xfrm>
          <a:prstGeom prst="rect">
            <a:avLst/>
          </a:prstGeom>
          <a:noFill/>
          <a:ln/>
        </p:spPr>
        <p:txBody>
          <a:bodyPr wrap="square" lIns="0" tIns="0" rIns="0" bIns="0" rtlCol="0" anchor="ctr"/>
          <a:lstStyle/>
          <a:p>
            <a:pPr algn="r" indent="0" marL="0">
              <a:buNone/>
            </a:pPr>
            <a:r>
              <a:rPr lang="en-US" sz="1400" b="1" dirty="0">
                <a:solidFill>
                  <a:srgbClr val="FFFFFF"/>
                </a:solidFill>
                <a:latin typeface="Arial" pitchFamily="34" charset="0"/>
                <a:ea typeface="Arial" pitchFamily="34" charset="-122"/>
                <a:cs typeface="Arial" pitchFamily="34" charset="-120"/>
              </a:rPr>
              <a:t>Communication interne professionnelle</a:t>
            </a:r>
            <a:endParaRPr lang="en-US" sz="1400" dirty="0"/>
          </a:p>
        </p:txBody>
      </p:sp>
      <p:sp>
        <p:nvSpPr>
          <p:cNvPr id="5" name="Shape 3"/>
          <p:cNvSpPr/>
          <p:nvPr/>
        </p:nvSpPr>
        <p:spPr>
          <a:xfrm>
            <a:off x="0" y="6574536"/>
            <a:ext cx="12191695" cy="283464"/>
          </a:xfrm>
          <a:prstGeom prst="rect">
            <a:avLst/>
          </a:prstGeom>
          <a:solidFill>
            <a:srgbClr val="F5F7FA"/>
          </a:solidFill>
          <a:ln w="12700">
            <a:solidFill>
              <a:srgbClr val="F5F7FA"/>
            </a:solidFill>
            <a:prstDash val="solid"/>
          </a:ln>
        </p:spPr>
      </p:sp>
      <p:sp>
        <p:nvSpPr>
          <p:cNvPr id="6" name="Text 4"/>
          <p:cNvSpPr/>
          <p:nvPr/>
        </p:nvSpPr>
        <p:spPr>
          <a:xfrm>
            <a:off x="11567160" y="6629400"/>
            <a:ext cx="320040" cy="164592"/>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15</a:t>
            </a:r>
            <a:endParaRPr lang="en-US" sz="1000" dirty="0"/>
          </a:p>
        </p:txBody>
      </p:sp>
      <p:sp>
        <p:nvSpPr>
          <p:cNvPr id="7" name="Text 5"/>
          <p:cNvSpPr/>
          <p:nvPr/>
        </p:nvSpPr>
        <p:spPr>
          <a:xfrm>
            <a:off x="502920" y="749808"/>
            <a:ext cx="11201400" cy="347472"/>
          </a:xfrm>
          <a:prstGeom prst="rect">
            <a:avLst/>
          </a:prstGeom>
          <a:noFill/>
          <a:ln/>
        </p:spPr>
        <p:txBody>
          <a:bodyPr wrap="square" lIns="254" tIns="254" rIns="254" bIns="254" rtlCol="0" anchor="ctr">
            <a:normAutofit/>
          </a:bodyPr>
          <a:lstStyle/>
          <a:p>
            <a:pPr indent="0" marL="0">
              <a:buNone/>
            </a:pPr>
            <a:r>
              <a:rPr lang="en-US" sz="3000" b="1" dirty="0">
                <a:solidFill>
                  <a:srgbClr val="6B2C83"/>
                </a:solidFill>
                <a:latin typeface="Arial" pitchFamily="34" charset="0"/>
                <a:ea typeface="Arial" pitchFamily="34" charset="-122"/>
                <a:cs typeface="Arial" pitchFamily="34" charset="-120"/>
              </a:rPr>
              <a:t>Le message de suivi d’un cas en attente</a:t>
            </a:r>
            <a:endParaRPr lang="en-US" sz="3000" dirty="0"/>
          </a:p>
        </p:txBody>
      </p:sp>
      <p:sp>
        <p:nvSpPr>
          <p:cNvPr id="8" name="Text 6"/>
          <p:cNvSpPr/>
          <p:nvPr/>
        </p:nvSpPr>
        <p:spPr>
          <a:xfrm>
            <a:off x="530352" y="1161288"/>
            <a:ext cx="10789920" cy="155448"/>
          </a:xfrm>
          <a:prstGeom prst="rect">
            <a:avLst/>
          </a:prstGeom>
          <a:noFill/>
          <a:ln/>
        </p:spPr>
        <p:txBody>
          <a:bodyPr wrap="square" lIns="0" tIns="0" rIns="0" bIns="0" rtlCol="0" anchor="ctr"/>
          <a:lstStyle/>
          <a:p>
            <a:pPr indent="0" marL="0">
              <a:buNone/>
            </a:pPr>
            <a:r>
              <a:rPr lang="en-US" sz="1500" dirty="0">
                <a:solidFill>
                  <a:srgbClr val="6B7280"/>
                </a:solidFill>
                <a:latin typeface="Arial" pitchFamily="34" charset="0"/>
                <a:ea typeface="Arial" pitchFamily="34" charset="-122"/>
                <a:cs typeface="Arial" pitchFamily="34" charset="-120"/>
              </a:rPr>
              <a:t>Le suivi évite les oublis et sécurise la continuité du traitement</a:t>
            </a:r>
            <a:endParaRPr lang="en-US" sz="1500" dirty="0"/>
          </a:p>
        </p:txBody>
      </p:sp>
      <p:sp>
        <p:nvSpPr>
          <p:cNvPr id="9" name="Text 7"/>
          <p:cNvSpPr/>
          <p:nvPr/>
        </p:nvSpPr>
        <p:spPr>
          <a:xfrm>
            <a:off x="731520" y="1417320"/>
            <a:ext cx="10744200" cy="3200400"/>
          </a:xfrm>
          <a:prstGeom prst="rect">
            <a:avLst/>
          </a:prstGeom>
          <a:noFill/>
          <a:ln/>
        </p:spPr>
        <p:txBody>
          <a:bodyPr wrap="square" lIns="1016" tIns="1016" rIns="1016" bIns="1016" rtlCol="0" anchor="t">
            <a:normAutofit/>
          </a:bodyPr>
          <a:lstStyle/>
          <a:p>
            <a:r>
              <a:rPr lang="en-US" sz="2300" dirty="0">
                <a:solidFill>
                  <a:srgbClr val="374151"/>
                </a:solidFill>
                <a:latin typeface="Arial" pitchFamily="34" charset="0"/>
                <a:ea typeface="Arial" pitchFamily="34" charset="-122"/>
                <a:cs typeface="Arial" pitchFamily="34" charset="-120"/>
              </a:rPr>
              <a:t>Rappeler la référence du dossier ou du sujet.</a:t>
            </a:r>
            <a:endParaRPr lang="en-US" sz="2300" dirty="0"/>
          </a:p>
          <a:p>
            <a:r>
              <a:rPr lang="en-US" sz="2300" dirty="0">
                <a:solidFill>
                  <a:srgbClr val="374151"/>
                </a:solidFill>
                <a:latin typeface="Arial" pitchFamily="34" charset="0"/>
                <a:ea typeface="Arial" pitchFamily="34" charset="-122"/>
                <a:cs typeface="Arial" pitchFamily="34" charset="-120"/>
              </a:rPr>
              <a:t>Indiquer le dernier statut connu.</a:t>
            </a:r>
            <a:endParaRPr lang="en-US" sz="2300" dirty="0"/>
          </a:p>
          <a:p>
            <a:r>
              <a:rPr lang="en-US" sz="2300" dirty="0">
                <a:solidFill>
                  <a:srgbClr val="374151"/>
                </a:solidFill>
                <a:latin typeface="Arial" pitchFamily="34" charset="0"/>
                <a:ea typeface="Arial" pitchFamily="34" charset="-122"/>
                <a:cs typeface="Arial" pitchFamily="34" charset="-120"/>
              </a:rPr>
              <a:t>Mentionner les actions déjà réalisées.</a:t>
            </a:r>
            <a:endParaRPr lang="en-US" sz="2300" dirty="0"/>
          </a:p>
          <a:p>
            <a:r>
              <a:rPr lang="en-US" sz="2300" dirty="0">
                <a:solidFill>
                  <a:srgbClr val="374151"/>
                </a:solidFill>
                <a:latin typeface="Arial" pitchFamily="34" charset="0"/>
                <a:ea typeface="Arial" pitchFamily="34" charset="-122"/>
                <a:cs typeface="Arial" pitchFamily="34" charset="-120"/>
              </a:rPr>
              <a:t>Préciser ce qui reste à confirmer ou à traiter.</a:t>
            </a:r>
            <a:endParaRPr lang="en-US" sz="2300" dirty="0"/>
          </a:p>
          <a:p>
            <a:r>
              <a:rPr lang="en-US" sz="2300" dirty="0">
                <a:solidFill>
                  <a:srgbClr val="374151"/>
                </a:solidFill>
                <a:latin typeface="Arial" pitchFamily="34" charset="0"/>
                <a:ea typeface="Arial" pitchFamily="34" charset="-122"/>
                <a:cs typeface="Arial" pitchFamily="34" charset="-120"/>
              </a:rPr>
              <a:t>Fixer une action attendue ou un délai de retour si nécessaire.</a:t>
            </a:r>
            <a:endParaRPr lang="en-US" sz="2300" dirty="0"/>
          </a:p>
          <a:p>
            <a:r>
              <a:rPr lang="en-US" sz="2300" dirty="0">
                <a:solidFill>
                  <a:srgbClr val="374151"/>
                </a:solidFill>
                <a:latin typeface="Arial" pitchFamily="34" charset="0"/>
                <a:ea typeface="Arial" pitchFamily="34" charset="-122"/>
                <a:cs typeface="Arial" pitchFamily="34" charset="-120"/>
              </a:rPr>
              <a:t>Rester factuel, calme et professionnel.</a:t>
            </a:r>
            <a:endParaRPr lang="en-US" sz="2300" dirty="0"/>
          </a:p>
        </p:txBody>
      </p:sp>
      <p:sp>
        <p:nvSpPr>
          <p:cNvPr id="10" name="Shape 8"/>
          <p:cNvSpPr/>
          <p:nvPr/>
        </p:nvSpPr>
        <p:spPr>
          <a:xfrm>
            <a:off x="731520" y="5166360"/>
            <a:ext cx="10744200" cy="777240"/>
          </a:xfrm>
          <a:prstGeom prst="roundRect">
            <a:avLst>
              <a:gd name="adj" fmla="val 9412"/>
            </a:avLst>
          </a:prstGeom>
          <a:solidFill>
            <a:srgbClr val="F7F4FB"/>
          </a:solidFill>
          <a:ln w="12700">
            <a:solidFill>
              <a:srgbClr val="D9C7E5"/>
            </a:solidFill>
            <a:prstDash val="solid"/>
          </a:ln>
        </p:spPr>
      </p:sp>
      <p:sp>
        <p:nvSpPr>
          <p:cNvPr id="11" name="Text 9"/>
          <p:cNvSpPr/>
          <p:nvPr/>
        </p:nvSpPr>
        <p:spPr>
          <a:xfrm>
            <a:off x="868680" y="5276088"/>
            <a:ext cx="10469880" cy="256032"/>
          </a:xfrm>
          <a:prstGeom prst="rect">
            <a:avLst/>
          </a:prstGeom>
          <a:noFill/>
          <a:ln/>
        </p:spPr>
        <p:txBody>
          <a:bodyPr wrap="square" lIns="254" tIns="254" rIns="254" bIns="254" rtlCol="0" anchor="ctr">
            <a:normAutofit/>
          </a:bodyPr>
          <a:lstStyle/>
          <a:p>
            <a:pPr indent="0" marL="0">
              <a:buNone/>
            </a:pPr>
            <a:r>
              <a:rPr lang="en-US" sz="2000" b="1" dirty="0">
                <a:solidFill>
                  <a:srgbClr val="6B2C83"/>
                </a:solidFill>
              </a:rPr>
              <a:t>Phrase utile</a:t>
            </a:r>
            <a:endParaRPr lang="en-US" sz="2000" dirty="0"/>
          </a:p>
        </p:txBody>
      </p:sp>
      <p:sp>
        <p:nvSpPr>
          <p:cNvPr id="12" name="Text 10"/>
          <p:cNvSpPr/>
          <p:nvPr/>
        </p:nvSpPr>
        <p:spPr>
          <a:xfrm>
            <a:off x="868680" y="5623560"/>
            <a:ext cx="10469880" cy="228600"/>
          </a:xfrm>
          <a:prstGeom prst="rect">
            <a:avLst/>
          </a:prstGeom>
          <a:noFill/>
          <a:ln/>
        </p:spPr>
        <p:txBody>
          <a:bodyPr wrap="square" lIns="254" tIns="254" rIns="254" bIns="254" rtlCol="0" anchor="t">
            <a:normAutofit/>
          </a:bodyPr>
          <a:lstStyle/>
          <a:p>
            <a:pPr indent="0" marL="0">
              <a:buNone/>
            </a:pPr>
            <a:r>
              <a:rPr lang="en-US" sz="1800" dirty="0">
                <a:solidFill>
                  <a:srgbClr val="374151"/>
                </a:solidFill>
              </a:rPr>
              <a:t>“Je reviens vers vous concernant le dossier [référence]. À ce stade, le point restant à confirmer est [élément]. Merci de m’indiquer la marche à suivre.”</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2F6DB7"/>
          </a:solidFill>
          <a:ln w="12700">
            <a:solidFill>
              <a:srgbClr val="2F6DB7"/>
            </a:solidFill>
            <a:prstDash val="solid"/>
          </a:ln>
        </p:spPr>
      </p:sp>
      <p:sp>
        <p:nvSpPr>
          <p:cNvPr id="3" name="Text 1"/>
          <p:cNvSpPr/>
          <p:nvPr/>
        </p:nvSpPr>
        <p:spPr>
          <a:xfrm>
            <a:off x="228600" y="109728"/>
            <a:ext cx="1234440" cy="23774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Séance 4</a:t>
            </a:r>
            <a:endParaRPr lang="en-US" sz="1400" dirty="0"/>
          </a:p>
        </p:txBody>
      </p:sp>
      <p:sp>
        <p:nvSpPr>
          <p:cNvPr id="4" name="Text 2"/>
          <p:cNvSpPr/>
          <p:nvPr/>
        </p:nvSpPr>
        <p:spPr>
          <a:xfrm>
            <a:off x="7315200" y="109728"/>
            <a:ext cx="4480560" cy="237744"/>
          </a:xfrm>
          <a:prstGeom prst="rect">
            <a:avLst/>
          </a:prstGeom>
          <a:noFill/>
          <a:ln/>
        </p:spPr>
        <p:txBody>
          <a:bodyPr wrap="square" lIns="0" tIns="0" rIns="0" bIns="0" rtlCol="0" anchor="ctr"/>
          <a:lstStyle/>
          <a:p>
            <a:pPr algn="r" indent="0" marL="0">
              <a:buNone/>
            </a:pPr>
            <a:r>
              <a:rPr lang="en-US" sz="1400" b="1" dirty="0">
                <a:solidFill>
                  <a:srgbClr val="FFFFFF"/>
                </a:solidFill>
                <a:latin typeface="Arial" pitchFamily="34" charset="0"/>
                <a:ea typeface="Arial" pitchFamily="34" charset="-122"/>
                <a:cs typeface="Arial" pitchFamily="34" charset="-120"/>
              </a:rPr>
              <a:t>Communication interne professionnelle</a:t>
            </a:r>
            <a:endParaRPr lang="en-US" sz="1400" dirty="0"/>
          </a:p>
        </p:txBody>
      </p:sp>
      <p:sp>
        <p:nvSpPr>
          <p:cNvPr id="5" name="Shape 3"/>
          <p:cNvSpPr/>
          <p:nvPr/>
        </p:nvSpPr>
        <p:spPr>
          <a:xfrm>
            <a:off x="0" y="6574536"/>
            <a:ext cx="12191695" cy="283464"/>
          </a:xfrm>
          <a:prstGeom prst="rect">
            <a:avLst/>
          </a:prstGeom>
          <a:solidFill>
            <a:srgbClr val="F5F7FA"/>
          </a:solidFill>
          <a:ln w="12700">
            <a:solidFill>
              <a:srgbClr val="F5F7FA"/>
            </a:solidFill>
            <a:prstDash val="solid"/>
          </a:ln>
        </p:spPr>
      </p:sp>
      <p:sp>
        <p:nvSpPr>
          <p:cNvPr id="6" name="Text 4"/>
          <p:cNvSpPr/>
          <p:nvPr/>
        </p:nvSpPr>
        <p:spPr>
          <a:xfrm>
            <a:off x="11567160" y="6629400"/>
            <a:ext cx="320040" cy="164592"/>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16</a:t>
            </a:r>
            <a:endParaRPr lang="en-US" sz="1000" dirty="0"/>
          </a:p>
        </p:txBody>
      </p:sp>
      <p:sp>
        <p:nvSpPr>
          <p:cNvPr id="7" name="Shape 5"/>
          <p:cNvSpPr/>
          <p:nvPr/>
        </p:nvSpPr>
        <p:spPr>
          <a:xfrm>
            <a:off x="2148840" y="2011680"/>
            <a:ext cx="7863840" cy="2011680"/>
          </a:xfrm>
          <a:prstGeom prst="roundRect">
            <a:avLst>
              <a:gd name="adj" fmla="val 6818"/>
            </a:avLst>
          </a:prstGeom>
          <a:solidFill>
            <a:srgbClr val="E8F1FB"/>
          </a:solidFill>
          <a:ln w="12700">
            <a:solidFill>
              <a:srgbClr val="B7D0EF"/>
            </a:solidFill>
            <a:prstDash val="solid"/>
          </a:ln>
        </p:spPr>
      </p:sp>
      <p:sp>
        <p:nvSpPr>
          <p:cNvPr id="8" name="Text 6"/>
          <p:cNvSpPr/>
          <p:nvPr/>
        </p:nvSpPr>
        <p:spPr>
          <a:xfrm>
            <a:off x="2148840" y="2468880"/>
            <a:ext cx="7863840" cy="502920"/>
          </a:xfrm>
          <a:prstGeom prst="rect">
            <a:avLst/>
          </a:prstGeom>
          <a:noFill/>
          <a:ln/>
        </p:spPr>
        <p:txBody>
          <a:bodyPr wrap="square" lIns="0" tIns="0" rIns="0" bIns="0" rtlCol="0" anchor="ctr"/>
          <a:lstStyle/>
          <a:p>
            <a:pPr algn="ctr" indent="0" marL="0">
              <a:buNone/>
            </a:pPr>
            <a:r>
              <a:rPr lang="en-US" sz="3600" b="1" dirty="0">
                <a:solidFill>
                  <a:srgbClr val="6B2C83"/>
                </a:solidFill>
              </a:rPr>
              <a:t>Pause</a:t>
            </a:r>
            <a:endParaRPr lang="en-US" sz="3600" dirty="0"/>
          </a:p>
        </p:txBody>
      </p:sp>
      <p:sp>
        <p:nvSpPr>
          <p:cNvPr id="9" name="Text 7"/>
          <p:cNvSpPr/>
          <p:nvPr/>
        </p:nvSpPr>
        <p:spPr>
          <a:xfrm>
            <a:off x="2148840" y="3063240"/>
            <a:ext cx="7863840" cy="411480"/>
          </a:xfrm>
          <a:prstGeom prst="rect">
            <a:avLst/>
          </a:prstGeom>
          <a:noFill/>
          <a:ln/>
        </p:spPr>
        <p:txBody>
          <a:bodyPr wrap="square" lIns="0" tIns="0" rIns="0" bIns="0" rtlCol="0" anchor="ctr"/>
          <a:lstStyle/>
          <a:p>
            <a:pPr algn="ctr" indent="0" marL="0">
              <a:buNone/>
            </a:pPr>
            <a:r>
              <a:rPr lang="en-US" sz="2800" b="1" dirty="0">
                <a:solidFill>
                  <a:srgbClr val="1D3557"/>
                </a:solidFill>
              </a:rPr>
              <a:t>15 minutes</a:t>
            </a:r>
            <a:endParaRPr lang="en-US" sz="2800" dirty="0"/>
          </a:p>
        </p:txBody>
      </p:sp>
      <p:sp>
        <p:nvSpPr>
          <p:cNvPr id="10" name="Text 8"/>
          <p:cNvSpPr/>
          <p:nvPr/>
        </p:nvSpPr>
        <p:spPr>
          <a:xfrm>
            <a:off x="2148840" y="3657600"/>
            <a:ext cx="7863840" cy="256032"/>
          </a:xfrm>
          <a:prstGeom prst="rect">
            <a:avLst/>
          </a:prstGeom>
          <a:noFill/>
          <a:ln/>
        </p:spPr>
        <p:txBody>
          <a:bodyPr wrap="square" lIns="0" tIns="0" rIns="0" bIns="0" rtlCol="0" anchor="ctr"/>
          <a:lstStyle/>
          <a:p>
            <a:pPr algn="ctr" indent="0" marL="0">
              <a:buNone/>
            </a:pPr>
            <a:r>
              <a:rPr lang="en-US" sz="1800" dirty="0">
                <a:solidFill>
                  <a:srgbClr val="6B7280"/>
                </a:solidFill>
              </a:rPr>
              <a:t>À la reprise : rapport d’incident, escalade et confidentialité.</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2F6DB7"/>
          </a:solidFill>
          <a:ln w="12700">
            <a:solidFill>
              <a:srgbClr val="2F6DB7"/>
            </a:solidFill>
            <a:prstDash val="solid"/>
          </a:ln>
        </p:spPr>
      </p:sp>
      <p:sp>
        <p:nvSpPr>
          <p:cNvPr id="3" name="Text 1"/>
          <p:cNvSpPr/>
          <p:nvPr/>
        </p:nvSpPr>
        <p:spPr>
          <a:xfrm>
            <a:off x="228600" y="109728"/>
            <a:ext cx="1234440" cy="23774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Séance 4</a:t>
            </a:r>
            <a:endParaRPr lang="en-US" sz="1400" dirty="0"/>
          </a:p>
        </p:txBody>
      </p:sp>
      <p:sp>
        <p:nvSpPr>
          <p:cNvPr id="4" name="Text 2"/>
          <p:cNvSpPr/>
          <p:nvPr/>
        </p:nvSpPr>
        <p:spPr>
          <a:xfrm>
            <a:off x="7315200" y="109728"/>
            <a:ext cx="4480560" cy="237744"/>
          </a:xfrm>
          <a:prstGeom prst="rect">
            <a:avLst/>
          </a:prstGeom>
          <a:noFill/>
          <a:ln/>
        </p:spPr>
        <p:txBody>
          <a:bodyPr wrap="square" lIns="0" tIns="0" rIns="0" bIns="0" rtlCol="0" anchor="ctr"/>
          <a:lstStyle/>
          <a:p>
            <a:pPr algn="r" indent="0" marL="0">
              <a:buNone/>
            </a:pPr>
            <a:r>
              <a:rPr lang="en-US" sz="1400" b="1" dirty="0">
                <a:solidFill>
                  <a:srgbClr val="FFFFFF"/>
                </a:solidFill>
                <a:latin typeface="Arial" pitchFamily="34" charset="0"/>
                <a:ea typeface="Arial" pitchFamily="34" charset="-122"/>
                <a:cs typeface="Arial" pitchFamily="34" charset="-120"/>
              </a:rPr>
              <a:t>Communication interne professionnelle</a:t>
            </a:r>
            <a:endParaRPr lang="en-US" sz="1400" dirty="0"/>
          </a:p>
        </p:txBody>
      </p:sp>
      <p:sp>
        <p:nvSpPr>
          <p:cNvPr id="5" name="Shape 3"/>
          <p:cNvSpPr/>
          <p:nvPr/>
        </p:nvSpPr>
        <p:spPr>
          <a:xfrm>
            <a:off x="0" y="6574536"/>
            <a:ext cx="12191695" cy="283464"/>
          </a:xfrm>
          <a:prstGeom prst="rect">
            <a:avLst/>
          </a:prstGeom>
          <a:solidFill>
            <a:srgbClr val="F5F7FA"/>
          </a:solidFill>
          <a:ln w="12700">
            <a:solidFill>
              <a:srgbClr val="F5F7FA"/>
            </a:solidFill>
            <a:prstDash val="solid"/>
          </a:ln>
        </p:spPr>
      </p:sp>
      <p:sp>
        <p:nvSpPr>
          <p:cNvPr id="6" name="Text 4"/>
          <p:cNvSpPr/>
          <p:nvPr/>
        </p:nvSpPr>
        <p:spPr>
          <a:xfrm>
            <a:off x="11567160" y="6629400"/>
            <a:ext cx="320040" cy="164592"/>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17</a:t>
            </a:r>
            <a:endParaRPr lang="en-US" sz="1000" dirty="0"/>
          </a:p>
        </p:txBody>
      </p:sp>
      <p:sp>
        <p:nvSpPr>
          <p:cNvPr id="7" name="Text 5"/>
          <p:cNvSpPr/>
          <p:nvPr/>
        </p:nvSpPr>
        <p:spPr>
          <a:xfrm>
            <a:off x="502920" y="749808"/>
            <a:ext cx="11201400" cy="347472"/>
          </a:xfrm>
          <a:prstGeom prst="rect">
            <a:avLst/>
          </a:prstGeom>
          <a:noFill/>
          <a:ln/>
        </p:spPr>
        <p:txBody>
          <a:bodyPr wrap="square" lIns="254" tIns="254" rIns="254" bIns="254" rtlCol="0" anchor="ctr">
            <a:normAutofit/>
          </a:bodyPr>
          <a:lstStyle/>
          <a:p>
            <a:pPr indent="0" marL="0">
              <a:buNone/>
            </a:pPr>
            <a:r>
              <a:rPr lang="en-US" sz="3000" b="1" dirty="0">
                <a:solidFill>
                  <a:srgbClr val="6B2C83"/>
                </a:solidFill>
                <a:latin typeface="Arial" pitchFamily="34" charset="0"/>
                <a:ea typeface="Arial" pitchFamily="34" charset="-122"/>
                <a:cs typeface="Arial" pitchFamily="34" charset="-120"/>
              </a:rPr>
              <a:t>Rapport d’incident : structurer sans dramatiser</a:t>
            </a:r>
            <a:endParaRPr lang="en-US" sz="3000" dirty="0"/>
          </a:p>
        </p:txBody>
      </p:sp>
      <p:sp>
        <p:nvSpPr>
          <p:cNvPr id="8" name="Text 6"/>
          <p:cNvSpPr/>
          <p:nvPr/>
        </p:nvSpPr>
        <p:spPr>
          <a:xfrm>
            <a:off x="530352" y="1161288"/>
            <a:ext cx="10789920" cy="155448"/>
          </a:xfrm>
          <a:prstGeom prst="rect">
            <a:avLst/>
          </a:prstGeom>
          <a:noFill/>
          <a:ln/>
        </p:spPr>
        <p:txBody>
          <a:bodyPr wrap="square" lIns="0" tIns="0" rIns="0" bIns="0" rtlCol="0" anchor="ctr"/>
          <a:lstStyle/>
          <a:p>
            <a:pPr indent="0" marL="0">
              <a:buNone/>
            </a:pPr>
            <a:r>
              <a:rPr lang="en-US" sz="1500" dirty="0">
                <a:solidFill>
                  <a:srgbClr val="6B7280"/>
                </a:solidFill>
                <a:latin typeface="Arial" pitchFamily="34" charset="0"/>
                <a:ea typeface="Arial" pitchFamily="34" charset="-122"/>
                <a:cs typeface="Arial" pitchFamily="34" charset="-120"/>
              </a:rPr>
              <a:t>Un incident doit être décrit avec des faits, pas avec des impressions</a:t>
            </a:r>
            <a:endParaRPr lang="en-US" sz="1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31520" y="1417320"/>
          <a:ext cx="10744200" cy="4892040"/>
        </p:xfrm>
        <a:graphic>
          <a:graphicData uri="http://schemas.openxmlformats.org/drawingml/2006/table">
            <a:tbl>
              <a:tblPr/>
              <a:tblGrid>
                <a:gridCol w="2743200"/>
                <a:gridCol w="8001000"/>
              </a:tblGrid>
              <a:tr h="698863">
                <a:tc>
                  <a:txBody>
                    <a:bodyPr/>
                    <a:lstStyle/>
                    <a:p>
                      <a:pPr indent="0" marL="0">
                        <a:buNone/>
                      </a:pPr>
                      <a:r>
                        <a:rPr lang="en-US" sz="1900" b="1" dirty="0">
                          <a:solidFill>
                            <a:srgbClr val="FFFFFF"/>
                          </a:solidFill>
                          <a:latin typeface="Arial" pitchFamily="34" charset="0"/>
                          <a:ea typeface="Arial" pitchFamily="34" charset="-122"/>
                          <a:cs typeface="Arial" pitchFamily="34" charset="-120"/>
                        </a:rPr>
                        <a:t>Élément</a:t>
                      </a:r>
                      <a:endParaRPr lang="en-US" sz="19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2F6DB7"/>
                    </a:solidFill>
                  </a:tcPr>
                </a:tc>
                <a:tc>
                  <a:txBody>
                    <a:bodyPr/>
                    <a:lstStyle/>
                    <a:p>
                      <a:pPr indent="0" marL="0">
                        <a:buNone/>
                      </a:pPr>
                      <a:r>
                        <a:rPr lang="en-US" sz="1900" b="1" dirty="0">
                          <a:solidFill>
                            <a:srgbClr val="FFFFFF"/>
                          </a:solidFill>
                          <a:latin typeface="Arial" pitchFamily="34" charset="0"/>
                          <a:ea typeface="Arial" pitchFamily="34" charset="-122"/>
                          <a:cs typeface="Arial" pitchFamily="34" charset="-120"/>
                        </a:rPr>
                        <a:t>Question à couvrir</a:t>
                      </a:r>
                      <a:endParaRPr lang="en-US" sz="19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2F6DB7"/>
                    </a:solidFill>
                  </a:tcPr>
                </a:tc>
              </a:tr>
              <a:tr h="698863">
                <a:tc>
                  <a:txBody>
                    <a:bodyPr/>
                    <a:lstStyle/>
                    <a:p>
                      <a:pPr indent="0" marL="0">
                        <a:buNone/>
                      </a:pPr>
                      <a:r>
                        <a:rPr lang="en-US" sz="1900" dirty="0">
                          <a:solidFill>
                            <a:srgbClr val="374151"/>
                          </a:solidFill>
                          <a:latin typeface="Arial" pitchFamily="34" charset="0"/>
                          <a:ea typeface="Arial" pitchFamily="34" charset="-122"/>
                          <a:cs typeface="Arial" pitchFamily="34" charset="-120"/>
                        </a:rPr>
                        <a:t>Identification</a:t>
                      </a:r>
                      <a:endParaRPr lang="en-US" sz="19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900" dirty="0">
                          <a:solidFill>
                            <a:srgbClr val="374151"/>
                          </a:solidFill>
                          <a:latin typeface="Arial" pitchFamily="34" charset="0"/>
                          <a:ea typeface="Arial" pitchFamily="34" charset="-122"/>
                          <a:cs typeface="Arial" pitchFamily="34" charset="-120"/>
                        </a:rPr>
                        <a:t>Date, heure, service, outil, dossier ou référence.</a:t>
                      </a:r>
                      <a:endParaRPr lang="en-US" sz="19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698863">
                <a:tc>
                  <a:txBody>
                    <a:bodyPr/>
                    <a:lstStyle/>
                    <a:p>
                      <a:pPr indent="0" marL="0">
                        <a:buNone/>
                      </a:pPr>
                      <a:r>
                        <a:rPr lang="en-US" sz="1900" dirty="0">
                          <a:solidFill>
                            <a:srgbClr val="374151"/>
                          </a:solidFill>
                          <a:latin typeface="Arial" pitchFamily="34" charset="0"/>
                          <a:ea typeface="Arial" pitchFamily="34" charset="-122"/>
                          <a:cs typeface="Arial" pitchFamily="34" charset="-120"/>
                        </a:rPr>
                        <a:t>Faits</a:t>
                      </a:r>
                      <a:endParaRPr lang="en-US" sz="19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900" dirty="0">
                          <a:solidFill>
                            <a:srgbClr val="374151"/>
                          </a:solidFill>
                          <a:latin typeface="Arial" pitchFamily="34" charset="0"/>
                          <a:ea typeface="Arial" pitchFamily="34" charset="-122"/>
                          <a:cs typeface="Arial" pitchFamily="34" charset="-120"/>
                        </a:rPr>
                        <a:t>Que s’est-il passé exactement ?</a:t>
                      </a:r>
                      <a:endParaRPr lang="en-US" sz="19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698863">
                <a:tc>
                  <a:txBody>
                    <a:bodyPr/>
                    <a:lstStyle/>
                    <a:p>
                      <a:pPr indent="0" marL="0">
                        <a:buNone/>
                      </a:pPr>
                      <a:r>
                        <a:rPr lang="en-US" sz="1900" dirty="0">
                          <a:solidFill>
                            <a:srgbClr val="374151"/>
                          </a:solidFill>
                          <a:latin typeface="Arial" pitchFamily="34" charset="0"/>
                          <a:ea typeface="Arial" pitchFamily="34" charset="-122"/>
                          <a:cs typeface="Arial" pitchFamily="34" charset="-120"/>
                        </a:rPr>
                        <a:t>Impact</a:t>
                      </a:r>
                      <a:endParaRPr lang="en-US" sz="19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900" dirty="0">
                          <a:solidFill>
                            <a:srgbClr val="374151"/>
                          </a:solidFill>
                          <a:latin typeface="Arial" pitchFamily="34" charset="0"/>
                          <a:ea typeface="Arial" pitchFamily="34" charset="-122"/>
                          <a:cs typeface="Arial" pitchFamily="34" charset="-120"/>
                        </a:rPr>
                        <a:t>Qui est impacté ? Combien de dossiers ? Quel risque ?</a:t>
                      </a:r>
                      <a:endParaRPr lang="en-US" sz="19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698863">
                <a:tc>
                  <a:txBody>
                    <a:bodyPr/>
                    <a:lstStyle/>
                    <a:p>
                      <a:pPr indent="0" marL="0">
                        <a:buNone/>
                      </a:pPr>
                      <a:r>
                        <a:rPr lang="en-US" sz="1900" dirty="0">
                          <a:solidFill>
                            <a:srgbClr val="374151"/>
                          </a:solidFill>
                          <a:latin typeface="Arial" pitchFamily="34" charset="0"/>
                          <a:ea typeface="Arial" pitchFamily="34" charset="-122"/>
                          <a:cs typeface="Arial" pitchFamily="34" charset="-120"/>
                        </a:rPr>
                        <a:t>Actions immédiates</a:t>
                      </a:r>
                      <a:endParaRPr lang="en-US" sz="19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900" dirty="0">
                          <a:solidFill>
                            <a:srgbClr val="374151"/>
                          </a:solidFill>
                          <a:latin typeface="Arial" pitchFamily="34" charset="0"/>
                          <a:ea typeface="Arial" pitchFamily="34" charset="-122"/>
                          <a:cs typeface="Arial" pitchFamily="34" charset="-120"/>
                        </a:rPr>
                        <a:t>Qu’est-ce qui a été fait pour limiter l’impact ?</a:t>
                      </a:r>
                      <a:endParaRPr lang="en-US" sz="19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698863">
                <a:tc>
                  <a:txBody>
                    <a:bodyPr/>
                    <a:lstStyle/>
                    <a:p>
                      <a:pPr indent="0" marL="0">
                        <a:buNone/>
                      </a:pPr>
                      <a:r>
                        <a:rPr lang="en-US" sz="1900" dirty="0">
                          <a:solidFill>
                            <a:srgbClr val="374151"/>
                          </a:solidFill>
                          <a:latin typeface="Arial" pitchFamily="34" charset="0"/>
                          <a:ea typeface="Arial" pitchFamily="34" charset="-122"/>
                          <a:cs typeface="Arial" pitchFamily="34" charset="-120"/>
                        </a:rPr>
                        <a:t>Besoin attendu</a:t>
                      </a:r>
                      <a:endParaRPr lang="en-US" sz="19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900" dirty="0">
                          <a:solidFill>
                            <a:srgbClr val="374151"/>
                          </a:solidFill>
                          <a:latin typeface="Arial" pitchFamily="34" charset="0"/>
                          <a:ea typeface="Arial" pitchFamily="34" charset="-122"/>
                          <a:cs typeface="Arial" pitchFamily="34" charset="-120"/>
                        </a:rPr>
                        <a:t>Traitement, décision, support, validation ou escalade.</a:t>
                      </a:r>
                      <a:endParaRPr lang="en-US" sz="19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698863">
                <a:tc>
                  <a:txBody>
                    <a:bodyPr/>
                    <a:lstStyle/>
                    <a:p>
                      <a:pPr indent="0" marL="0">
                        <a:buNone/>
                      </a:pPr>
                      <a:r>
                        <a:rPr lang="en-US" sz="1900" dirty="0">
                          <a:solidFill>
                            <a:srgbClr val="374151"/>
                          </a:solidFill>
                          <a:latin typeface="Arial" pitchFamily="34" charset="0"/>
                          <a:ea typeface="Arial" pitchFamily="34" charset="-122"/>
                          <a:cs typeface="Arial" pitchFamily="34" charset="-120"/>
                        </a:rPr>
                        <a:t>Suite / amélioration</a:t>
                      </a:r>
                      <a:endParaRPr lang="en-US" sz="19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900" dirty="0">
                          <a:solidFill>
                            <a:srgbClr val="374151"/>
                          </a:solidFill>
                          <a:latin typeface="Arial" pitchFamily="34" charset="0"/>
                          <a:ea typeface="Arial" pitchFamily="34" charset="-122"/>
                          <a:cs typeface="Arial" pitchFamily="34" charset="-120"/>
                        </a:rPr>
                        <a:t>Comment éviter ou détecter plus tôt la répétition ?</a:t>
                      </a:r>
                      <a:endParaRPr lang="en-US" sz="19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2F6DB7"/>
          </a:solidFill>
          <a:ln w="12700">
            <a:solidFill>
              <a:srgbClr val="2F6DB7"/>
            </a:solidFill>
            <a:prstDash val="solid"/>
          </a:ln>
        </p:spPr>
      </p:sp>
      <p:sp>
        <p:nvSpPr>
          <p:cNvPr id="3" name="Text 1"/>
          <p:cNvSpPr/>
          <p:nvPr/>
        </p:nvSpPr>
        <p:spPr>
          <a:xfrm>
            <a:off x="228600" y="109728"/>
            <a:ext cx="1234440" cy="23774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Séance 4</a:t>
            </a:r>
            <a:endParaRPr lang="en-US" sz="1400" dirty="0"/>
          </a:p>
        </p:txBody>
      </p:sp>
      <p:sp>
        <p:nvSpPr>
          <p:cNvPr id="4" name="Text 2"/>
          <p:cNvSpPr/>
          <p:nvPr/>
        </p:nvSpPr>
        <p:spPr>
          <a:xfrm>
            <a:off x="7315200" y="109728"/>
            <a:ext cx="4480560" cy="237744"/>
          </a:xfrm>
          <a:prstGeom prst="rect">
            <a:avLst/>
          </a:prstGeom>
          <a:noFill/>
          <a:ln/>
        </p:spPr>
        <p:txBody>
          <a:bodyPr wrap="square" lIns="0" tIns="0" rIns="0" bIns="0" rtlCol="0" anchor="ctr"/>
          <a:lstStyle/>
          <a:p>
            <a:pPr algn="r" indent="0" marL="0">
              <a:buNone/>
            </a:pPr>
            <a:r>
              <a:rPr lang="en-US" sz="1400" b="1" dirty="0">
                <a:solidFill>
                  <a:srgbClr val="FFFFFF"/>
                </a:solidFill>
                <a:latin typeface="Arial" pitchFamily="34" charset="0"/>
                <a:ea typeface="Arial" pitchFamily="34" charset="-122"/>
                <a:cs typeface="Arial" pitchFamily="34" charset="-120"/>
              </a:rPr>
              <a:t>Communication interne professionnelle</a:t>
            </a:r>
            <a:endParaRPr lang="en-US" sz="1400" dirty="0"/>
          </a:p>
        </p:txBody>
      </p:sp>
      <p:sp>
        <p:nvSpPr>
          <p:cNvPr id="5" name="Shape 3"/>
          <p:cNvSpPr/>
          <p:nvPr/>
        </p:nvSpPr>
        <p:spPr>
          <a:xfrm>
            <a:off x="0" y="6574536"/>
            <a:ext cx="12191695" cy="283464"/>
          </a:xfrm>
          <a:prstGeom prst="rect">
            <a:avLst/>
          </a:prstGeom>
          <a:solidFill>
            <a:srgbClr val="F5F7FA"/>
          </a:solidFill>
          <a:ln w="12700">
            <a:solidFill>
              <a:srgbClr val="F5F7FA"/>
            </a:solidFill>
            <a:prstDash val="solid"/>
          </a:ln>
        </p:spPr>
      </p:sp>
      <p:sp>
        <p:nvSpPr>
          <p:cNvPr id="6" name="Text 4"/>
          <p:cNvSpPr/>
          <p:nvPr/>
        </p:nvSpPr>
        <p:spPr>
          <a:xfrm>
            <a:off x="11567160" y="6629400"/>
            <a:ext cx="320040" cy="164592"/>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18</a:t>
            </a:r>
            <a:endParaRPr lang="en-US" sz="1000" dirty="0"/>
          </a:p>
        </p:txBody>
      </p:sp>
      <p:sp>
        <p:nvSpPr>
          <p:cNvPr id="7" name="Text 5"/>
          <p:cNvSpPr/>
          <p:nvPr/>
        </p:nvSpPr>
        <p:spPr>
          <a:xfrm>
            <a:off x="502920" y="749808"/>
            <a:ext cx="11201400" cy="347472"/>
          </a:xfrm>
          <a:prstGeom prst="rect">
            <a:avLst/>
          </a:prstGeom>
          <a:noFill/>
          <a:ln/>
        </p:spPr>
        <p:txBody>
          <a:bodyPr wrap="square" lIns="254" tIns="254" rIns="254" bIns="254" rtlCol="0" anchor="ctr">
            <a:normAutofit/>
          </a:bodyPr>
          <a:lstStyle/>
          <a:p>
            <a:pPr indent="0" marL="0">
              <a:buNone/>
            </a:pPr>
            <a:r>
              <a:rPr lang="en-US" sz="3000" b="1" dirty="0">
                <a:solidFill>
                  <a:srgbClr val="6B2C83"/>
                </a:solidFill>
                <a:latin typeface="Arial" pitchFamily="34" charset="0"/>
                <a:ea typeface="Arial" pitchFamily="34" charset="-122"/>
                <a:cs typeface="Arial" pitchFamily="34" charset="-120"/>
              </a:rPr>
              <a:t>Rapport d’escalade : quand le niveau supérieur doit décider</a:t>
            </a:r>
            <a:endParaRPr lang="en-US" sz="3000" dirty="0"/>
          </a:p>
        </p:txBody>
      </p:sp>
      <p:sp>
        <p:nvSpPr>
          <p:cNvPr id="8" name="Text 6"/>
          <p:cNvSpPr/>
          <p:nvPr/>
        </p:nvSpPr>
        <p:spPr>
          <a:xfrm>
            <a:off x="530352" y="1161288"/>
            <a:ext cx="10789920" cy="155448"/>
          </a:xfrm>
          <a:prstGeom prst="rect">
            <a:avLst/>
          </a:prstGeom>
          <a:noFill/>
          <a:ln/>
        </p:spPr>
        <p:txBody>
          <a:bodyPr wrap="square" lIns="0" tIns="0" rIns="0" bIns="0" rtlCol="0" anchor="ctr"/>
          <a:lstStyle/>
          <a:p>
            <a:pPr indent="0" marL="0">
              <a:buNone/>
            </a:pPr>
            <a:r>
              <a:rPr lang="en-US" sz="1500" dirty="0">
                <a:solidFill>
                  <a:srgbClr val="6B7280"/>
                </a:solidFill>
                <a:latin typeface="Arial" pitchFamily="34" charset="0"/>
                <a:ea typeface="Arial" pitchFamily="34" charset="-122"/>
                <a:cs typeface="Arial" pitchFamily="34" charset="-120"/>
              </a:rPr>
              <a:t>Escalader ne veut pas dire paniquer : cela veut dire orienter au bon niveau</a:t>
            </a:r>
            <a:endParaRPr lang="en-US" sz="1500" dirty="0"/>
          </a:p>
        </p:txBody>
      </p:sp>
      <p:sp>
        <p:nvSpPr>
          <p:cNvPr id="9" name="Shape 7"/>
          <p:cNvSpPr/>
          <p:nvPr/>
        </p:nvSpPr>
        <p:spPr>
          <a:xfrm>
            <a:off x="731520" y="1463040"/>
            <a:ext cx="5257800" cy="2148840"/>
          </a:xfrm>
          <a:prstGeom prst="roundRect">
            <a:avLst>
              <a:gd name="adj" fmla="val 3404"/>
            </a:avLst>
          </a:prstGeom>
          <a:solidFill>
            <a:srgbClr val="F2EAF6"/>
          </a:solidFill>
          <a:ln w="12700">
            <a:solidFill>
              <a:srgbClr val="DCC6E6"/>
            </a:solidFill>
            <a:prstDash val="solid"/>
          </a:ln>
        </p:spPr>
      </p:sp>
      <p:sp>
        <p:nvSpPr>
          <p:cNvPr id="10" name="Text 8"/>
          <p:cNvSpPr/>
          <p:nvPr/>
        </p:nvSpPr>
        <p:spPr>
          <a:xfrm>
            <a:off x="868680" y="1572768"/>
            <a:ext cx="4983480" cy="256032"/>
          </a:xfrm>
          <a:prstGeom prst="rect">
            <a:avLst/>
          </a:prstGeom>
          <a:noFill/>
          <a:ln/>
        </p:spPr>
        <p:txBody>
          <a:bodyPr wrap="square" lIns="254" tIns="254" rIns="254" bIns="254" rtlCol="0" anchor="ctr">
            <a:normAutofit/>
          </a:bodyPr>
          <a:lstStyle/>
          <a:p>
            <a:pPr indent="0" marL="0">
              <a:buNone/>
            </a:pPr>
            <a:r>
              <a:rPr lang="en-US" sz="2000" b="1" dirty="0">
                <a:solidFill>
                  <a:srgbClr val="6B2C83"/>
                </a:solidFill>
              </a:rPr>
              <a:t>Quand escalader ?</a:t>
            </a:r>
            <a:endParaRPr lang="en-US" sz="2000" dirty="0"/>
          </a:p>
        </p:txBody>
      </p:sp>
      <p:sp>
        <p:nvSpPr>
          <p:cNvPr id="11" name="Text 9"/>
          <p:cNvSpPr/>
          <p:nvPr/>
        </p:nvSpPr>
        <p:spPr>
          <a:xfrm>
            <a:off x="868680" y="1920240"/>
            <a:ext cx="4983480" cy="1600200"/>
          </a:xfrm>
          <a:prstGeom prst="rect">
            <a:avLst/>
          </a:prstGeom>
          <a:noFill/>
          <a:ln/>
        </p:spPr>
        <p:txBody>
          <a:bodyPr wrap="square" lIns="254" tIns="254" rIns="254" bIns="254" rtlCol="0" anchor="t">
            <a:normAutofit/>
          </a:bodyPr>
          <a:lstStyle/>
          <a:p>
            <a:pPr indent="0" marL="0">
              <a:buNone/>
            </a:pPr>
            <a:r>
              <a:rPr lang="en-US" sz="2100" dirty="0">
                <a:solidFill>
                  <a:srgbClr val="374151"/>
                </a:solidFill>
              </a:rPr>
              <a:t>• Procédure non couverte</a:t>
            </a:r>
            <a:endParaRPr lang="en-US" sz="2100" dirty="0"/>
          </a:p>
          <a:p>
            <a:pPr indent="0" marL="0">
              <a:buNone/>
            </a:pPr>
            <a:r>
              <a:rPr lang="en-US" sz="2100" dirty="0">
                <a:solidFill>
                  <a:srgbClr val="374151"/>
                </a:solidFill>
              </a:rPr>
              <a:t>• Risque client ou qualité important</a:t>
            </a:r>
            <a:endParaRPr lang="en-US" sz="2100" dirty="0"/>
          </a:p>
          <a:p>
            <a:pPr indent="0" marL="0">
              <a:buNone/>
            </a:pPr>
            <a:r>
              <a:rPr lang="en-US" sz="2100" dirty="0">
                <a:solidFill>
                  <a:srgbClr val="374151"/>
                </a:solidFill>
              </a:rPr>
              <a:t>• Délai dépassé avec impact</a:t>
            </a:r>
            <a:endParaRPr lang="en-US" sz="2100" dirty="0"/>
          </a:p>
          <a:p>
            <a:pPr indent="0" marL="0">
              <a:buNone/>
            </a:pPr>
            <a:r>
              <a:rPr lang="en-US" sz="2100" dirty="0">
                <a:solidFill>
                  <a:srgbClr val="374151"/>
                </a:solidFill>
              </a:rPr>
              <a:t>• Décision hors niveau de responsabilité</a:t>
            </a:r>
            <a:endParaRPr lang="en-US" sz="2100" dirty="0"/>
          </a:p>
          <a:p>
            <a:pPr indent="0" marL="0">
              <a:buNone/>
            </a:pPr>
            <a:r>
              <a:rPr lang="en-US" sz="2100" dirty="0">
                <a:solidFill>
                  <a:srgbClr val="374151"/>
                </a:solidFill>
              </a:rPr>
              <a:t>• Incident répété sans solution</a:t>
            </a:r>
            <a:endParaRPr lang="en-US" sz="2100" dirty="0"/>
          </a:p>
        </p:txBody>
      </p:sp>
      <p:sp>
        <p:nvSpPr>
          <p:cNvPr id="12" name="Shape 10"/>
          <p:cNvSpPr/>
          <p:nvPr/>
        </p:nvSpPr>
        <p:spPr>
          <a:xfrm>
            <a:off x="6217920" y="1463040"/>
            <a:ext cx="5257800" cy="2148840"/>
          </a:xfrm>
          <a:prstGeom prst="roundRect">
            <a:avLst>
              <a:gd name="adj" fmla="val 3404"/>
            </a:avLst>
          </a:prstGeom>
          <a:solidFill>
            <a:srgbClr val="E8F1FB"/>
          </a:solidFill>
          <a:ln w="12700">
            <a:solidFill>
              <a:srgbClr val="B7D0EF"/>
            </a:solidFill>
            <a:prstDash val="solid"/>
          </a:ln>
        </p:spPr>
      </p:sp>
      <p:sp>
        <p:nvSpPr>
          <p:cNvPr id="13" name="Text 11"/>
          <p:cNvSpPr/>
          <p:nvPr/>
        </p:nvSpPr>
        <p:spPr>
          <a:xfrm>
            <a:off x="6355080" y="1572768"/>
            <a:ext cx="4983480" cy="256032"/>
          </a:xfrm>
          <a:prstGeom prst="rect">
            <a:avLst/>
          </a:prstGeom>
          <a:noFill/>
          <a:ln/>
        </p:spPr>
        <p:txBody>
          <a:bodyPr wrap="square" lIns="254" tIns="254" rIns="254" bIns="254" rtlCol="0" anchor="ctr">
            <a:normAutofit/>
          </a:bodyPr>
          <a:lstStyle/>
          <a:p>
            <a:pPr indent="0" marL="0">
              <a:buNone/>
            </a:pPr>
            <a:r>
              <a:rPr lang="en-US" sz="2000" b="1" dirty="0">
                <a:solidFill>
                  <a:srgbClr val="2F6DB7"/>
                </a:solidFill>
              </a:rPr>
              <a:t>Ce que l’escalade doit contenir</a:t>
            </a:r>
            <a:endParaRPr lang="en-US" sz="2000" dirty="0"/>
          </a:p>
        </p:txBody>
      </p:sp>
      <p:sp>
        <p:nvSpPr>
          <p:cNvPr id="14" name="Text 12"/>
          <p:cNvSpPr/>
          <p:nvPr/>
        </p:nvSpPr>
        <p:spPr>
          <a:xfrm>
            <a:off x="6355080" y="1920240"/>
            <a:ext cx="4983480" cy="1600200"/>
          </a:xfrm>
          <a:prstGeom prst="rect">
            <a:avLst/>
          </a:prstGeom>
          <a:noFill/>
          <a:ln/>
        </p:spPr>
        <p:txBody>
          <a:bodyPr wrap="square" lIns="254" tIns="254" rIns="254" bIns="254" rtlCol="0" anchor="t">
            <a:normAutofit/>
          </a:bodyPr>
          <a:lstStyle/>
          <a:p>
            <a:pPr indent="0" marL="0">
              <a:buNone/>
            </a:pPr>
            <a:r>
              <a:rPr lang="en-US" sz="2100" dirty="0">
                <a:solidFill>
                  <a:srgbClr val="374151"/>
                </a:solidFill>
              </a:rPr>
              <a:t>• Faits précis</a:t>
            </a:r>
            <a:endParaRPr lang="en-US" sz="2100" dirty="0"/>
          </a:p>
          <a:p>
            <a:pPr indent="0" marL="0">
              <a:buNone/>
            </a:pPr>
            <a:r>
              <a:rPr lang="en-US" sz="2100" dirty="0">
                <a:solidFill>
                  <a:srgbClr val="374151"/>
                </a:solidFill>
              </a:rPr>
              <a:t>• Impact réel ou potentiel</a:t>
            </a:r>
            <a:endParaRPr lang="en-US" sz="2100" dirty="0"/>
          </a:p>
          <a:p>
            <a:pPr indent="0" marL="0">
              <a:buNone/>
            </a:pPr>
            <a:r>
              <a:rPr lang="en-US" sz="2100" dirty="0">
                <a:solidFill>
                  <a:srgbClr val="374151"/>
                </a:solidFill>
              </a:rPr>
              <a:t>• Actions déjà réalisées</a:t>
            </a:r>
            <a:endParaRPr lang="en-US" sz="2100" dirty="0"/>
          </a:p>
          <a:p>
            <a:pPr indent="0" marL="0">
              <a:buNone/>
            </a:pPr>
            <a:r>
              <a:rPr lang="en-US" sz="2100" dirty="0">
                <a:solidFill>
                  <a:srgbClr val="374151"/>
                </a:solidFill>
              </a:rPr>
              <a:t>• Options possibles si connues</a:t>
            </a:r>
            <a:endParaRPr lang="en-US" sz="2100" dirty="0"/>
          </a:p>
          <a:p>
            <a:pPr indent="0" marL="0">
              <a:buNone/>
            </a:pPr>
            <a:r>
              <a:rPr lang="en-US" sz="2100" dirty="0">
                <a:solidFill>
                  <a:srgbClr val="374151"/>
                </a:solidFill>
              </a:rPr>
              <a:t>• Décision attendue</a:t>
            </a:r>
            <a:endParaRPr lang="en-US" sz="2100" dirty="0"/>
          </a:p>
          <a:p>
            <a:pPr indent="0" marL="0">
              <a:buNone/>
            </a:pPr>
            <a:r>
              <a:rPr lang="en-US" sz="2100" dirty="0">
                <a:solidFill>
                  <a:srgbClr val="374151"/>
                </a:solidFill>
              </a:rPr>
              <a:t>• Délai souhaité</a:t>
            </a:r>
            <a:endParaRPr lang="en-US" sz="2100" dirty="0"/>
          </a:p>
        </p:txBody>
      </p:sp>
      <p:sp>
        <p:nvSpPr>
          <p:cNvPr id="15" name="Shape 13"/>
          <p:cNvSpPr/>
          <p:nvPr/>
        </p:nvSpPr>
        <p:spPr>
          <a:xfrm>
            <a:off x="731520" y="4069080"/>
            <a:ext cx="10744200" cy="685800"/>
          </a:xfrm>
          <a:prstGeom prst="roundRect">
            <a:avLst>
              <a:gd name="adj" fmla="val 10667"/>
            </a:avLst>
          </a:prstGeom>
          <a:solidFill>
            <a:srgbClr val="FFFFFF"/>
          </a:solidFill>
          <a:ln w="12700">
            <a:solidFill>
              <a:srgbClr val="D1D5DB"/>
            </a:solidFill>
            <a:prstDash val="solid"/>
          </a:ln>
        </p:spPr>
      </p:sp>
      <p:sp>
        <p:nvSpPr>
          <p:cNvPr id="16" name="Text 14"/>
          <p:cNvSpPr/>
          <p:nvPr/>
        </p:nvSpPr>
        <p:spPr>
          <a:xfrm>
            <a:off x="868680" y="4178808"/>
            <a:ext cx="10469880" cy="256032"/>
          </a:xfrm>
          <a:prstGeom prst="rect">
            <a:avLst/>
          </a:prstGeom>
          <a:noFill/>
          <a:ln/>
        </p:spPr>
        <p:txBody>
          <a:bodyPr wrap="square" lIns="254" tIns="254" rIns="254" bIns="254" rtlCol="0" anchor="ctr">
            <a:normAutofit/>
          </a:bodyPr>
          <a:lstStyle/>
          <a:p>
            <a:pPr indent="0" marL="0">
              <a:buNone/>
            </a:pPr>
            <a:r>
              <a:rPr lang="en-US" sz="2000" b="1" dirty="0">
                <a:solidFill>
                  <a:srgbClr val="C0392B"/>
                </a:solidFill>
              </a:rPr>
              <a:t>Erreur à éviter</a:t>
            </a:r>
            <a:endParaRPr lang="en-US" sz="2000" dirty="0"/>
          </a:p>
        </p:txBody>
      </p:sp>
      <p:sp>
        <p:nvSpPr>
          <p:cNvPr id="17" name="Text 15"/>
          <p:cNvSpPr/>
          <p:nvPr/>
        </p:nvSpPr>
        <p:spPr>
          <a:xfrm>
            <a:off x="868680" y="4526280"/>
            <a:ext cx="10469880" cy="137160"/>
          </a:xfrm>
          <a:prstGeom prst="rect">
            <a:avLst/>
          </a:prstGeom>
          <a:noFill/>
          <a:ln/>
        </p:spPr>
        <p:txBody>
          <a:bodyPr wrap="square" lIns="254" tIns="254" rIns="254" bIns="254" rtlCol="0" anchor="t">
            <a:normAutofit/>
          </a:bodyPr>
          <a:lstStyle/>
          <a:p>
            <a:pPr indent="0" marL="0">
              <a:buNone/>
            </a:pPr>
            <a:r>
              <a:rPr lang="en-US" sz="2000" dirty="0">
                <a:solidFill>
                  <a:srgbClr val="374151"/>
                </a:solidFill>
              </a:rPr>
              <a:t>Escalader avec un message vague : “C’est urgent, merci de faire le nécessaire.”</a:t>
            </a:r>
            <a:endParaRPr lang="en-US" sz="2000" dirty="0"/>
          </a:p>
        </p:txBody>
      </p:sp>
      <p:sp>
        <p:nvSpPr>
          <p:cNvPr id="18" name="Shape 16"/>
          <p:cNvSpPr/>
          <p:nvPr/>
        </p:nvSpPr>
        <p:spPr>
          <a:xfrm>
            <a:off x="731520" y="4983480"/>
            <a:ext cx="10744200" cy="685800"/>
          </a:xfrm>
          <a:prstGeom prst="roundRect">
            <a:avLst>
              <a:gd name="adj" fmla="val 10667"/>
            </a:avLst>
          </a:prstGeom>
          <a:solidFill>
            <a:srgbClr val="FFFFFF"/>
          </a:solidFill>
          <a:ln w="12700">
            <a:solidFill>
              <a:srgbClr val="D1D5DB"/>
            </a:solidFill>
            <a:prstDash val="solid"/>
          </a:ln>
        </p:spPr>
      </p:sp>
      <p:sp>
        <p:nvSpPr>
          <p:cNvPr id="19" name="Text 17"/>
          <p:cNvSpPr/>
          <p:nvPr/>
        </p:nvSpPr>
        <p:spPr>
          <a:xfrm>
            <a:off x="868680" y="5093208"/>
            <a:ext cx="10469880" cy="256032"/>
          </a:xfrm>
          <a:prstGeom prst="rect">
            <a:avLst/>
          </a:prstGeom>
          <a:noFill/>
          <a:ln/>
        </p:spPr>
        <p:txBody>
          <a:bodyPr wrap="square" lIns="254" tIns="254" rIns="254" bIns="254" rtlCol="0" anchor="ctr">
            <a:normAutofit/>
          </a:bodyPr>
          <a:lstStyle/>
          <a:p>
            <a:pPr indent="0" marL="0">
              <a:buNone/>
            </a:pPr>
            <a:r>
              <a:rPr lang="en-US" sz="2000" b="1" dirty="0">
                <a:solidFill>
                  <a:srgbClr val="2E7D32"/>
                </a:solidFill>
              </a:rPr>
              <a:t>Bonne logique</a:t>
            </a:r>
            <a:endParaRPr lang="en-US" sz="2000" dirty="0"/>
          </a:p>
        </p:txBody>
      </p:sp>
      <p:sp>
        <p:nvSpPr>
          <p:cNvPr id="20" name="Text 18"/>
          <p:cNvSpPr/>
          <p:nvPr/>
        </p:nvSpPr>
        <p:spPr>
          <a:xfrm>
            <a:off x="868680" y="5440680"/>
            <a:ext cx="10469880" cy="137160"/>
          </a:xfrm>
          <a:prstGeom prst="rect">
            <a:avLst/>
          </a:prstGeom>
          <a:noFill/>
          <a:ln/>
        </p:spPr>
        <p:txBody>
          <a:bodyPr wrap="square" lIns="254" tIns="254" rIns="254" bIns="254" rtlCol="0" anchor="t">
            <a:normAutofit/>
          </a:bodyPr>
          <a:lstStyle/>
          <a:p>
            <a:pPr indent="0" marL="0">
              <a:buNone/>
            </a:pPr>
            <a:r>
              <a:rPr lang="en-US" sz="2000" dirty="0">
                <a:solidFill>
                  <a:srgbClr val="374151"/>
                </a:solidFill>
              </a:rPr>
              <a:t>“Voici les faits, l’impact, ce qui a été fait, et la décision attendue.”</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2F6DB7"/>
          </a:solidFill>
          <a:ln w="12700">
            <a:solidFill>
              <a:srgbClr val="2F6DB7"/>
            </a:solidFill>
            <a:prstDash val="solid"/>
          </a:ln>
        </p:spPr>
      </p:sp>
      <p:sp>
        <p:nvSpPr>
          <p:cNvPr id="3" name="Text 1"/>
          <p:cNvSpPr/>
          <p:nvPr/>
        </p:nvSpPr>
        <p:spPr>
          <a:xfrm>
            <a:off x="228600" y="109728"/>
            <a:ext cx="1234440" cy="23774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Séance 4</a:t>
            </a:r>
            <a:endParaRPr lang="en-US" sz="1400" dirty="0"/>
          </a:p>
        </p:txBody>
      </p:sp>
      <p:sp>
        <p:nvSpPr>
          <p:cNvPr id="4" name="Text 2"/>
          <p:cNvSpPr/>
          <p:nvPr/>
        </p:nvSpPr>
        <p:spPr>
          <a:xfrm>
            <a:off x="7315200" y="109728"/>
            <a:ext cx="4480560" cy="237744"/>
          </a:xfrm>
          <a:prstGeom prst="rect">
            <a:avLst/>
          </a:prstGeom>
          <a:noFill/>
          <a:ln/>
        </p:spPr>
        <p:txBody>
          <a:bodyPr wrap="square" lIns="0" tIns="0" rIns="0" bIns="0" rtlCol="0" anchor="ctr"/>
          <a:lstStyle/>
          <a:p>
            <a:pPr algn="r" indent="0" marL="0">
              <a:buNone/>
            </a:pPr>
            <a:r>
              <a:rPr lang="en-US" sz="1400" b="1" dirty="0">
                <a:solidFill>
                  <a:srgbClr val="FFFFFF"/>
                </a:solidFill>
                <a:latin typeface="Arial" pitchFamily="34" charset="0"/>
                <a:ea typeface="Arial" pitchFamily="34" charset="-122"/>
                <a:cs typeface="Arial" pitchFamily="34" charset="-120"/>
              </a:rPr>
              <a:t>Communication interne professionnelle</a:t>
            </a:r>
            <a:endParaRPr lang="en-US" sz="1400" dirty="0"/>
          </a:p>
        </p:txBody>
      </p:sp>
      <p:sp>
        <p:nvSpPr>
          <p:cNvPr id="5" name="Shape 3"/>
          <p:cNvSpPr/>
          <p:nvPr/>
        </p:nvSpPr>
        <p:spPr>
          <a:xfrm>
            <a:off x="0" y="6574536"/>
            <a:ext cx="12191695" cy="283464"/>
          </a:xfrm>
          <a:prstGeom prst="rect">
            <a:avLst/>
          </a:prstGeom>
          <a:solidFill>
            <a:srgbClr val="F5F7FA"/>
          </a:solidFill>
          <a:ln w="12700">
            <a:solidFill>
              <a:srgbClr val="F5F7FA"/>
            </a:solidFill>
            <a:prstDash val="solid"/>
          </a:ln>
        </p:spPr>
      </p:sp>
      <p:sp>
        <p:nvSpPr>
          <p:cNvPr id="6" name="Text 4"/>
          <p:cNvSpPr/>
          <p:nvPr/>
        </p:nvSpPr>
        <p:spPr>
          <a:xfrm>
            <a:off x="11567160" y="6629400"/>
            <a:ext cx="320040" cy="164592"/>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19</a:t>
            </a:r>
            <a:endParaRPr lang="en-US" sz="1000" dirty="0"/>
          </a:p>
        </p:txBody>
      </p:sp>
      <p:sp>
        <p:nvSpPr>
          <p:cNvPr id="7" name="Text 5"/>
          <p:cNvSpPr/>
          <p:nvPr/>
        </p:nvSpPr>
        <p:spPr>
          <a:xfrm>
            <a:off x="502920" y="749808"/>
            <a:ext cx="11201400" cy="347472"/>
          </a:xfrm>
          <a:prstGeom prst="rect">
            <a:avLst/>
          </a:prstGeom>
          <a:noFill/>
          <a:ln/>
        </p:spPr>
        <p:txBody>
          <a:bodyPr wrap="square" lIns="254" tIns="254" rIns="254" bIns="254" rtlCol="0" anchor="ctr">
            <a:normAutofit/>
          </a:bodyPr>
          <a:lstStyle/>
          <a:p>
            <a:pPr indent="0" marL="0">
              <a:buNone/>
            </a:pPr>
            <a:r>
              <a:rPr lang="en-US" sz="3000" b="1" dirty="0">
                <a:solidFill>
                  <a:srgbClr val="6B2C83"/>
                </a:solidFill>
                <a:latin typeface="Arial" pitchFamily="34" charset="0"/>
                <a:ea typeface="Arial" pitchFamily="34" charset="-122"/>
                <a:cs typeface="Arial" pitchFamily="34" charset="-120"/>
              </a:rPr>
              <a:t>Atelier 4 : incident ou escalade ?</a:t>
            </a:r>
            <a:endParaRPr lang="en-US" sz="3000" dirty="0"/>
          </a:p>
        </p:txBody>
      </p:sp>
      <p:sp>
        <p:nvSpPr>
          <p:cNvPr id="8" name="Text 6"/>
          <p:cNvSpPr/>
          <p:nvPr/>
        </p:nvSpPr>
        <p:spPr>
          <a:xfrm>
            <a:off x="530352" y="1161288"/>
            <a:ext cx="10789920" cy="155448"/>
          </a:xfrm>
          <a:prstGeom prst="rect">
            <a:avLst/>
          </a:prstGeom>
          <a:noFill/>
          <a:ln/>
        </p:spPr>
        <p:txBody>
          <a:bodyPr wrap="square" lIns="0" tIns="0" rIns="0" bIns="0" rtlCol="0" anchor="ctr"/>
          <a:lstStyle/>
          <a:p>
            <a:pPr indent="0" marL="0">
              <a:buNone/>
            </a:pPr>
            <a:r>
              <a:rPr lang="en-US" sz="1500" dirty="0">
                <a:solidFill>
                  <a:srgbClr val="6B7280"/>
                </a:solidFill>
                <a:latin typeface="Arial" pitchFamily="34" charset="0"/>
                <a:ea typeface="Arial" pitchFamily="34" charset="-122"/>
                <a:cs typeface="Arial" pitchFamily="34" charset="-120"/>
              </a:rPr>
              <a:t>Classer, puis rédiger</a:t>
            </a:r>
            <a:endParaRPr lang="en-US" sz="1500" dirty="0"/>
          </a:p>
        </p:txBody>
      </p:sp>
      <p:sp>
        <p:nvSpPr>
          <p:cNvPr id="9" name="Shape 7"/>
          <p:cNvSpPr/>
          <p:nvPr/>
        </p:nvSpPr>
        <p:spPr>
          <a:xfrm>
            <a:off x="731520" y="1417320"/>
            <a:ext cx="5257800" cy="1234440"/>
          </a:xfrm>
          <a:prstGeom prst="roundRect">
            <a:avLst>
              <a:gd name="adj" fmla="val 5926"/>
            </a:avLst>
          </a:prstGeom>
          <a:solidFill>
            <a:srgbClr val="E8F1FB"/>
          </a:solidFill>
          <a:ln w="12700">
            <a:solidFill>
              <a:srgbClr val="B7D0EF"/>
            </a:solidFill>
            <a:prstDash val="solid"/>
          </a:ln>
        </p:spPr>
      </p:sp>
      <p:sp>
        <p:nvSpPr>
          <p:cNvPr id="10" name="Text 8"/>
          <p:cNvSpPr/>
          <p:nvPr/>
        </p:nvSpPr>
        <p:spPr>
          <a:xfrm>
            <a:off x="868680" y="1527048"/>
            <a:ext cx="4983480" cy="256032"/>
          </a:xfrm>
          <a:prstGeom prst="rect">
            <a:avLst/>
          </a:prstGeom>
          <a:noFill/>
          <a:ln/>
        </p:spPr>
        <p:txBody>
          <a:bodyPr wrap="square" lIns="254" tIns="254" rIns="254" bIns="254" rtlCol="0" anchor="ctr">
            <a:normAutofit/>
          </a:bodyPr>
          <a:lstStyle/>
          <a:p>
            <a:pPr indent="0" marL="0">
              <a:buNone/>
            </a:pPr>
            <a:r>
              <a:rPr lang="en-US" sz="2000" b="1" dirty="0">
                <a:solidFill>
                  <a:srgbClr val="2F6DB7"/>
                </a:solidFill>
              </a:rPr>
              <a:t>Situation A</a:t>
            </a:r>
            <a:endParaRPr lang="en-US" sz="2000" dirty="0"/>
          </a:p>
        </p:txBody>
      </p:sp>
      <p:sp>
        <p:nvSpPr>
          <p:cNvPr id="11" name="Text 9"/>
          <p:cNvSpPr/>
          <p:nvPr/>
        </p:nvSpPr>
        <p:spPr>
          <a:xfrm>
            <a:off x="868680" y="1874520"/>
            <a:ext cx="4983480" cy="685800"/>
          </a:xfrm>
          <a:prstGeom prst="rect">
            <a:avLst/>
          </a:prstGeom>
          <a:noFill/>
          <a:ln/>
        </p:spPr>
        <p:txBody>
          <a:bodyPr wrap="square" lIns="254" tIns="254" rIns="254" bIns="254" rtlCol="0" anchor="t">
            <a:normAutofit/>
          </a:bodyPr>
          <a:lstStyle/>
          <a:p>
            <a:pPr indent="0" marL="0">
              <a:buNone/>
            </a:pPr>
            <a:r>
              <a:rPr lang="en-US" sz="1900" dirty="0">
                <a:solidFill>
                  <a:srgbClr val="374151"/>
                </a:solidFill>
              </a:rPr>
              <a:t>L’outil principal est indisponible depuis 25 minutes. 12 dossiers sont bloqués. Un ticket a été créé mais aucune réponse n’est encore reçue.</a:t>
            </a:r>
            <a:endParaRPr lang="en-US" sz="1900" dirty="0"/>
          </a:p>
        </p:txBody>
      </p:sp>
      <p:sp>
        <p:nvSpPr>
          <p:cNvPr id="12" name="Shape 10"/>
          <p:cNvSpPr/>
          <p:nvPr/>
        </p:nvSpPr>
        <p:spPr>
          <a:xfrm>
            <a:off x="6217920" y="1417320"/>
            <a:ext cx="5257800" cy="1234440"/>
          </a:xfrm>
          <a:prstGeom prst="roundRect">
            <a:avLst>
              <a:gd name="adj" fmla="val 5926"/>
            </a:avLst>
          </a:prstGeom>
          <a:solidFill>
            <a:srgbClr val="F2EAF6"/>
          </a:solidFill>
          <a:ln w="12700">
            <a:solidFill>
              <a:srgbClr val="DCC6E6"/>
            </a:solidFill>
            <a:prstDash val="solid"/>
          </a:ln>
        </p:spPr>
      </p:sp>
      <p:sp>
        <p:nvSpPr>
          <p:cNvPr id="13" name="Text 11"/>
          <p:cNvSpPr/>
          <p:nvPr/>
        </p:nvSpPr>
        <p:spPr>
          <a:xfrm>
            <a:off x="6355080" y="1527048"/>
            <a:ext cx="4983480" cy="256032"/>
          </a:xfrm>
          <a:prstGeom prst="rect">
            <a:avLst/>
          </a:prstGeom>
          <a:noFill/>
          <a:ln/>
        </p:spPr>
        <p:txBody>
          <a:bodyPr wrap="square" lIns="254" tIns="254" rIns="254" bIns="254" rtlCol="0" anchor="ctr">
            <a:normAutofit/>
          </a:bodyPr>
          <a:lstStyle/>
          <a:p>
            <a:pPr indent="0" marL="0">
              <a:buNone/>
            </a:pPr>
            <a:r>
              <a:rPr lang="en-US" sz="2000" b="1" dirty="0">
                <a:solidFill>
                  <a:srgbClr val="6B2C83"/>
                </a:solidFill>
              </a:rPr>
              <a:t>Situation B</a:t>
            </a:r>
            <a:endParaRPr lang="en-US" sz="2000" dirty="0"/>
          </a:p>
        </p:txBody>
      </p:sp>
      <p:sp>
        <p:nvSpPr>
          <p:cNvPr id="14" name="Text 12"/>
          <p:cNvSpPr/>
          <p:nvPr/>
        </p:nvSpPr>
        <p:spPr>
          <a:xfrm>
            <a:off x="6355080" y="1874520"/>
            <a:ext cx="4983480" cy="685800"/>
          </a:xfrm>
          <a:prstGeom prst="rect">
            <a:avLst/>
          </a:prstGeom>
          <a:noFill/>
          <a:ln/>
        </p:spPr>
        <p:txBody>
          <a:bodyPr wrap="square" lIns="254" tIns="254" rIns="254" bIns="254" rtlCol="0" anchor="t">
            <a:normAutofit/>
          </a:bodyPr>
          <a:lstStyle/>
          <a:p>
            <a:pPr indent="0" marL="0">
              <a:buNone/>
            </a:pPr>
            <a:r>
              <a:rPr lang="en-US" sz="1900" dirty="0">
                <a:solidFill>
                  <a:srgbClr val="374151"/>
                </a:solidFill>
              </a:rPr>
              <a:t>La procédure ne précise pas comment traiter un cas particulier. Le client attend une réponse, mais l’agent ne peut pas décider seul.</a:t>
            </a:r>
            <a:endParaRPr lang="en-US" sz="1900" dirty="0"/>
          </a:p>
        </p:txBody>
      </p:sp>
      <p:sp>
        <p:nvSpPr>
          <p:cNvPr id="15" name="Shape 13"/>
          <p:cNvSpPr/>
          <p:nvPr/>
        </p:nvSpPr>
        <p:spPr>
          <a:xfrm>
            <a:off x="731520" y="3154680"/>
            <a:ext cx="10744200" cy="1600200"/>
          </a:xfrm>
          <a:prstGeom prst="roundRect">
            <a:avLst>
              <a:gd name="adj" fmla="val 4571"/>
            </a:avLst>
          </a:prstGeom>
          <a:solidFill>
            <a:srgbClr val="FFFFFF"/>
          </a:solidFill>
          <a:ln w="12700">
            <a:solidFill>
              <a:srgbClr val="D1D5DB"/>
            </a:solidFill>
            <a:prstDash val="solid"/>
          </a:ln>
        </p:spPr>
      </p:sp>
      <p:sp>
        <p:nvSpPr>
          <p:cNvPr id="16" name="Text 14"/>
          <p:cNvSpPr/>
          <p:nvPr/>
        </p:nvSpPr>
        <p:spPr>
          <a:xfrm>
            <a:off x="868680" y="3264408"/>
            <a:ext cx="10469880" cy="256032"/>
          </a:xfrm>
          <a:prstGeom prst="rect">
            <a:avLst/>
          </a:prstGeom>
          <a:noFill/>
          <a:ln/>
        </p:spPr>
        <p:txBody>
          <a:bodyPr wrap="square" lIns="254" tIns="254" rIns="254" bIns="254" rtlCol="0" anchor="ctr">
            <a:normAutofit/>
          </a:bodyPr>
          <a:lstStyle/>
          <a:p>
            <a:pPr indent="0" marL="0">
              <a:buNone/>
            </a:pPr>
            <a:r>
              <a:rPr lang="en-US" sz="2000" b="1" dirty="0">
                <a:solidFill>
                  <a:srgbClr val="1D3557"/>
                </a:solidFill>
              </a:rPr>
              <a:t>Travail demandé</a:t>
            </a:r>
            <a:endParaRPr lang="en-US" sz="2000" dirty="0"/>
          </a:p>
        </p:txBody>
      </p:sp>
      <p:sp>
        <p:nvSpPr>
          <p:cNvPr id="17" name="Text 15"/>
          <p:cNvSpPr/>
          <p:nvPr/>
        </p:nvSpPr>
        <p:spPr>
          <a:xfrm>
            <a:off x="868680" y="3611880"/>
            <a:ext cx="10469880" cy="1051560"/>
          </a:xfrm>
          <a:prstGeom prst="rect">
            <a:avLst/>
          </a:prstGeom>
          <a:noFill/>
          <a:ln/>
        </p:spPr>
        <p:txBody>
          <a:bodyPr wrap="square" lIns="254" tIns="254" rIns="254" bIns="254" rtlCol="0" anchor="t">
            <a:normAutofit/>
          </a:bodyPr>
          <a:lstStyle/>
          <a:p>
            <a:pPr indent="0" marL="0">
              <a:buNone/>
            </a:pPr>
            <a:r>
              <a:rPr lang="en-US" sz="2200" dirty="0">
                <a:solidFill>
                  <a:srgbClr val="374151"/>
                </a:solidFill>
              </a:rPr>
              <a:t>1. Choisir : rapport d’incident ou rapport d’escalade.</a:t>
            </a:r>
            <a:endParaRPr lang="en-US" sz="2200" dirty="0"/>
          </a:p>
          <a:p>
            <a:pPr indent="0" marL="0">
              <a:buNone/>
            </a:pPr>
            <a:r>
              <a:rPr lang="en-US" sz="2200" dirty="0">
                <a:solidFill>
                  <a:srgbClr val="374151"/>
                </a:solidFill>
              </a:rPr>
              <a:t>2. Rédiger 5 lignes avec FIAB.</a:t>
            </a:r>
            <a:endParaRPr lang="en-US" sz="2200" dirty="0"/>
          </a:p>
          <a:p>
            <a:pPr indent="0" marL="0">
              <a:buNone/>
            </a:pPr>
            <a:r>
              <a:rPr lang="en-US" sz="2200" dirty="0">
                <a:solidFill>
                  <a:srgbClr val="374151"/>
                </a:solidFill>
              </a:rPr>
              <a:t>3. Indiquer À, CC et action attendue.</a:t>
            </a:r>
            <a:endParaRPr lang="en-US" sz="2200" dirty="0"/>
          </a:p>
          <a:p>
            <a:pPr indent="0" marL="0">
              <a:buNone/>
            </a:pPr>
            <a:r>
              <a:rPr lang="en-US" sz="2200" dirty="0">
                <a:solidFill>
                  <a:srgbClr val="374151"/>
                </a:solidFill>
              </a:rPr>
              <a:t>4. Ajouter une proposition d’amélioration selon PDCA.</a:t>
            </a:r>
            <a:endParaRPr lang="en-US" sz="2200" dirty="0"/>
          </a:p>
        </p:txBody>
      </p:sp>
      <p:sp>
        <p:nvSpPr>
          <p:cNvPr id="18" name="Shape 16"/>
          <p:cNvSpPr/>
          <p:nvPr/>
        </p:nvSpPr>
        <p:spPr>
          <a:xfrm>
            <a:off x="731520" y="5257800"/>
            <a:ext cx="10744200" cy="548640"/>
          </a:xfrm>
          <a:prstGeom prst="roundRect">
            <a:avLst>
              <a:gd name="adj" fmla="val 13333"/>
            </a:avLst>
          </a:prstGeom>
          <a:solidFill>
            <a:srgbClr val="F7F4FB"/>
          </a:solidFill>
          <a:ln w="12700">
            <a:solidFill>
              <a:srgbClr val="D9C7E5"/>
            </a:solidFill>
            <a:prstDash val="solid"/>
          </a:ln>
        </p:spPr>
      </p:sp>
      <p:sp>
        <p:nvSpPr>
          <p:cNvPr id="19" name="Text 17"/>
          <p:cNvSpPr/>
          <p:nvPr/>
        </p:nvSpPr>
        <p:spPr>
          <a:xfrm>
            <a:off x="868680" y="5367528"/>
            <a:ext cx="10469880" cy="256032"/>
          </a:xfrm>
          <a:prstGeom prst="rect">
            <a:avLst/>
          </a:prstGeom>
          <a:noFill/>
          <a:ln/>
        </p:spPr>
        <p:txBody>
          <a:bodyPr wrap="square" lIns="254" tIns="254" rIns="254" bIns="254" rtlCol="0" anchor="ctr">
            <a:normAutofit/>
          </a:bodyPr>
          <a:lstStyle/>
          <a:p>
            <a:pPr indent="0" marL="0">
              <a:buNone/>
            </a:pPr>
            <a:r>
              <a:rPr lang="en-US" sz="2000" b="1" dirty="0">
                <a:solidFill>
                  <a:srgbClr val="6B2C83"/>
                </a:solidFill>
              </a:rPr>
              <a:t>Temps</a:t>
            </a:r>
            <a:endParaRPr lang="en-US" sz="2000" dirty="0"/>
          </a:p>
        </p:txBody>
      </p:sp>
      <p:sp>
        <p:nvSpPr>
          <p:cNvPr id="20" name="Text 18"/>
          <p:cNvSpPr/>
          <p:nvPr/>
        </p:nvSpPr>
        <p:spPr>
          <a:xfrm>
            <a:off x="868680" y="5715000"/>
            <a:ext cx="10469880" cy="0"/>
          </a:xfrm>
          <a:prstGeom prst="rect">
            <a:avLst/>
          </a:prstGeom>
          <a:noFill/>
          <a:ln/>
        </p:spPr>
        <p:txBody>
          <a:bodyPr wrap="square" lIns="254" tIns="254" rIns="254" bIns="254" rtlCol="0" anchor="t">
            <a:normAutofit/>
          </a:bodyPr>
          <a:lstStyle/>
          <a:p>
            <a:pPr indent="0" marL="0">
              <a:buNone/>
            </a:pPr>
            <a:r>
              <a:rPr lang="en-US" sz="1800" dirty="0">
                <a:solidFill>
                  <a:srgbClr val="374151"/>
                </a:solidFill>
              </a:rPr>
              <a:t>10 minutes en groupes de 3 + correction collective.</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2F6DB7"/>
          </a:solidFill>
          <a:ln w="12700">
            <a:solidFill>
              <a:srgbClr val="2F6DB7"/>
            </a:solidFill>
            <a:prstDash val="solid"/>
          </a:ln>
        </p:spPr>
      </p:sp>
      <p:sp>
        <p:nvSpPr>
          <p:cNvPr id="3" name="Text 1"/>
          <p:cNvSpPr/>
          <p:nvPr/>
        </p:nvSpPr>
        <p:spPr>
          <a:xfrm>
            <a:off x="228600" y="109728"/>
            <a:ext cx="1234440" cy="23774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Séance 4</a:t>
            </a:r>
            <a:endParaRPr lang="en-US" sz="1400" dirty="0"/>
          </a:p>
        </p:txBody>
      </p:sp>
      <p:sp>
        <p:nvSpPr>
          <p:cNvPr id="4" name="Text 2"/>
          <p:cNvSpPr/>
          <p:nvPr/>
        </p:nvSpPr>
        <p:spPr>
          <a:xfrm>
            <a:off x="7315200" y="109728"/>
            <a:ext cx="4480560" cy="237744"/>
          </a:xfrm>
          <a:prstGeom prst="rect">
            <a:avLst/>
          </a:prstGeom>
          <a:noFill/>
          <a:ln/>
        </p:spPr>
        <p:txBody>
          <a:bodyPr wrap="square" lIns="0" tIns="0" rIns="0" bIns="0" rtlCol="0" anchor="ctr"/>
          <a:lstStyle/>
          <a:p>
            <a:pPr algn="r" indent="0" marL="0">
              <a:buNone/>
            </a:pPr>
            <a:r>
              <a:rPr lang="en-US" sz="1400" b="1" dirty="0">
                <a:solidFill>
                  <a:srgbClr val="FFFFFF"/>
                </a:solidFill>
                <a:latin typeface="Arial" pitchFamily="34" charset="0"/>
                <a:ea typeface="Arial" pitchFamily="34" charset="-122"/>
                <a:cs typeface="Arial" pitchFamily="34" charset="-120"/>
              </a:rPr>
              <a:t>Communication interne professionnelle</a:t>
            </a:r>
            <a:endParaRPr lang="en-US" sz="1400" dirty="0"/>
          </a:p>
        </p:txBody>
      </p:sp>
      <p:sp>
        <p:nvSpPr>
          <p:cNvPr id="5" name="Shape 3"/>
          <p:cNvSpPr/>
          <p:nvPr/>
        </p:nvSpPr>
        <p:spPr>
          <a:xfrm>
            <a:off x="0" y="6574536"/>
            <a:ext cx="12191695" cy="283464"/>
          </a:xfrm>
          <a:prstGeom prst="rect">
            <a:avLst/>
          </a:prstGeom>
          <a:solidFill>
            <a:srgbClr val="F5F7FA"/>
          </a:solidFill>
          <a:ln w="12700">
            <a:solidFill>
              <a:srgbClr val="F5F7FA"/>
            </a:solidFill>
            <a:prstDash val="solid"/>
          </a:ln>
        </p:spPr>
      </p:sp>
      <p:sp>
        <p:nvSpPr>
          <p:cNvPr id="6" name="Text 4"/>
          <p:cNvSpPr/>
          <p:nvPr/>
        </p:nvSpPr>
        <p:spPr>
          <a:xfrm>
            <a:off x="11567160" y="6629400"/>
            <a:ext cx="320040" cy="164592"/>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20</a:t>
            </a:r>
            <a:endParaRPr lang="en-US" sz="1000" dirty="0"/>
          </a:p>
        </p:txBody>
      </p:sp>
      <p:sp>
        <p:nvSpPr>
          <p:cNvPr id="7" name="Text 5"/>
          <p:cNvSpPr/>
          <p:nvPr/>
        </p:nvSpPr>
        <p:spPr>
          <a:xfrm>
            <a:off x="502920" y="749808"/>
            <a:ext cx="11201400" cy="347472"/>
          </a:xfrm>
          <a:prstGeom prst="rect">
            <a:avLst/>
          </a:prstGeom>
          <a:noFill/>
          <a:ln/>
        </p:spPr>
        <p:txBody>
          <a:bodyPr wrap="square" lIns="254" tIns="254" rIns="254" bIns="254" rtlCol="0" anchor="ctr">
            <a:normAutofit/>
          </a:bodyPr>
          <a:lstStyle/>
          <a:p>
            <a:pPr indent="0" marL="0">
              <a:buNone/>
            </a:pPr>
            <a:r>
              <a:rPr lang="en-US" sz="3000" b="1" dirty="0">
                <a:solidFill>
                  <a:srgbClr val="6B2C83"/>
                </a:solidFill>
                <a:latin typeface="Arial" pitchFamily="34" charset="0"/>
                <a:ea typeface="Arial" pitchFamily="34" charset="-122"/>
                <a:cs typeface="Arial" pitchFamily="34" charset="-120"/>
              </a:rPr>
              <a:t>Confidentialité : communiquer sans exposer inutilement</a:t>
            </a:r>
            <a:endParaRPr lang="en-US" sz="3000" dirty="0"/>
          </a:p>
        </p:txBody>
      </p:sp>
      <p:sp>
        <p:nvSpPr>
          <p:cNvPr id="8" name="Text 6"/>
          <p:cNvSpPr/>
          <p:nvPr/>
        </p:nvSpPr>
        <p:spPr>
          <a:xfrm>
            <a:off x="530352" y="1161288"/>
            <a:ext cx="10789920" cy="155448"/>
          </a:xfrm>
          <a:prstGeom prst="rect">
            <a:avLst/>
          </a:prstGeom>
          <a:noFill/>
          <a:ln/>
        </p:spPr>
        <p:txBody>
          <a:bodyPr wrap="square" lIns="0" tIns="0" rIns="0" bIns="0" rtlCol="0" anchor="ctr"/>
          <a:lstStyle/>
          <a:p>
            <a:pPr indent="0" marL="0">
              <a:buNone/>
            </a:pPr>
            <a:r>
              <a:rPr lang="en-US" sz="1500" dirty="0">
                <a:solidFill>
                  <a:srgbClr val="6B7280"/>
                </a:solidFill>
                <a:latin typeface="Arial" pitchFamily="34" charset="0"/>
                <a:ea typeface="Arial" pitchFamily="34" charset="-122"/>
                <a:cs typeface="Arial" pitchFamily="34" charset="-120"/>
              </a:rPr>
              <a:t>La qualité d’un écrit dépend aussi de ce qu’on évite de partager</a:t>
            </a:r>
            <a:endParaRPr lang="en-US" sz="1500" dirty="0"/>
          </a:p>
        </p:txBody>
      </p:sp>
      <p:sp>
        <p:nvSpPr>
          <p:cNvPr id="9" name="Shape 7"/>
          <p:cNvSpPr/>
          <p:nvPr/>
        </p:nvSpPr>
        <p:spPr>
          <a:xfrm>
            <a:off x="731520" y="1417320"/>
            <a:ext cx="5257800" cy="1188720"/>
          </a:xfrm>
          <a:prstGeom prst="roundRect">
            <a:avLst>
              <a:gd name="adj" fmla="val 6154"/>
            </a:avLst>
          </a:prstGeom>
          <a:solidFill>
            <a:srgbClr val="E8F1FB"/>
          </a:solidFill>
          <a:ln w="12700">
            <a:solidFill>
              <a:srgbClr val="B7D0EF"/>
            </a:solidFill>
            <a:prstDash val="solid"/>
          </a:ln>
        </p:spPr>
      </p:sp>
      <p:sp>
        <p:nvSpPr>
          <p:cNvPr id="10" name="Text 8"/>
          <p:cNvSpPr/>
          <p:nvPr/>
        </p:nvSpPr>
        <p:spPr>
          <a:xfrm>
            <a:off x="868680" y="1527048"/>
            <a:ext cx="4983480" cy="256032"/>
          </a:xfrm>
          <a:prstGeom prst="rect">
            <a:avLst/>
          </a:prstGeom>
          <a:noFill/>
          <a:ln/>
        </p:spPr>
        <p:txBody>
          <a:bodyPr wrap="square" lIns="254" tIns="254" rIns="254" bIns="254" rtlCol="0" anchor="ctr">
            <a:normAutofit/>
          </a:bodyPr>
          <a:lstStyle/>
          <a:p>
            <a:pPr indent="0" marL="0">
              <a:buNone/>
            </a:pPr>
            <a:r>
              <a:rPr lang="en-US" sz="2000" b="1" dirty="0">
                <a:solidFill>
                  <a:srgbClr val="2F6DB7"/>
                </a:solidFill>
              </a:rPr>
              <a:t>Données clients</a:t>
            </a:r>
            <a:endParaRPr lang="en-US" sz="2000" dirty="0"/>
          </a:p>
        </p:txBody>
      </p:sp>
      <p:sp>
        <p:nvSpPr>
          <p:cNvPr id="11" name="Text 9"/>
          <p:cNvSpPr/>
          <p:nvPr/>
        </p:nvSpPr>
        <p:spPr>
          <a:xfrm>
            <a:off x="868680" y="1874520"/>
            <a:ext cx="4983480" cy="640080"/>
          </a:xfrm>
          <a:prstGeom prst="rect">
            <a:avLst/>
          </a:prstGeom>
          <a:noFill/>
          <a:ln/>
        </p:spPr>
        <p:txBody>
          <a:bodyPr wrap="square" lIns="254" tIns="254" rIns="254" bIns="254" rtlCol="0" anchor="t">
            <a:normAutofit/>
          </a:bodyPr>
          <a:lstStyle/>
          <a:p>
            <a:pPr indent="0" marL="0">
              <a:buNone/>
            </a:pPr>
            <a:r>
              <a:rPr lang="en-US" sz="2000" dirty="0">
                <a:solidFill>
                  <a:srgbClr val="374151"/>
                </a:solidFill>
              </a:rPr>
              <a:t>Limiter les informations personnelles. Utiliser référence ou identifiant lorsque c’est suffisant.</a:t>
            </a:r>
            <a:endParaRPr lang="en-US" sz="2000" dirty="0"/>
          </a:p>
        </p:txBody>
      </p:sp>
      <p:sp>
        <p:nvSpPr>
          <p:cNvPr id="12" name="Shape 10"/>
          <p:cNvSpPr/>
          <p:nvPr/>
        </p:nvSpPr>
        <p:spPr>
          <a:xfrm>
            <a:off x="6217920" y="1417320"/>
            <a:ext cx="5257800" cy="1188720"/>
          </a:xfrm>
          <a:prstGeom prst="roundRect">
            <a:avLst>
              <a:gd name="adj" fmla="val 6154"/>
            </a:avLst>
          </a:prstGeom>
          <a:solidFill>
            <a:srgbClr val="F2EAF6"/>
          </a:solidFill>
          <a:ln w="12700">
            <a:solidFill>
              <a:srgbClr val="DCC6E6"/>
            </a:solidFill>
            <a:prstDash val="solid"/>
          </a:ln>
        </p:spPr>
      </p:sp>
      <p:sp>
        <p:nvSpPr>
          <p:cNvPr id="13" name="Text 11"/>
          <p:cNvSpPr/>
          <p:nvPr/>
        </p:nvSpPr>
        <p:spPr>
          <a:xfrm>
            <a:off x="6355080" y="1527048"/>
            <a:ext cx="4983480" cy="256032"/>
          </a:xfrm>
          <a:prstGeom prst="rect">
            <a:avLst/>
          </a:prstGeom>
          <a:noFill/>
          <a:ln/>
        </p:spPr>
        <p:txBody>
          <a:bodyPr wrap="square" lIns="254" tIns="254" rIns="254" bIns="254" rtlCol="0" anchor="ctr">
            <a:normAutofit/>
          </a:bodyPr>
          <a:lstStyle/>
          <a:p>
            <a:pPr indent="0" marL="0">
              <a:buNone/>
            </a:pPr>
            <a:r>
              <a:rPr lang="en-US" sz="2000" b="1" dirty="0">
                <a:solidFill>
                  <a:srgbClr val="6B2C83"/>
                </a:solidFill>
              </a:rPr>
              <a:t>Captures d’écran</a:t>
            </a:r>
            <a:endParaRPr lang="en-US" sz="2000" dirty="0"/>
          </a:p>
        </p:txBody>
      </p:sp>
      <p:sp>
        <p:nvSpPr>
          <p:cNvPr id="14" name="Text 12"/>
          <p:cNvSpPr/>
          <p:nvPr/>
        </p:nvSpPr>
        <p:spPr>
          <a:xfrm>
            <a:off x="6355080" y="1874520"/>
            <a:ext cx="4983480" cy="640080"/>
          </a:xfrm>
          <a:prstGeom prst="rect">
            <a:avLst/>
          </a:prstGeom>
          <a:noFill/>
          <a:ln/>
        </p:spPr>
        <p:txBody>
          <a:bodyPr wrap="square" lIns="254" tIns="254" rIns="254" bIns="254" rtlCol="0" anchor="t">
            <a:normAutofit/>
          </a:bodyPr>
          <a:lstStyle/>
          <a:p>
            <a:pPr indent="0" marL="0">
              <a:buNone/>
            </a:pPr>
            <a:r>
              <a:rPr lang="en-US" sz="2000" dirty="0">
                <a:solidFill>
                  <a:srgbClr val="374151"/>
                </a:solidFill>
              </a:rPr>
              <a:t>Joindre uniquement si autorisé. Masquer les données non nécessaires.</a:t>
            </a:r>
            <a:endParaRPr lang="en-US" sz="2000" dirty="0"/>
          </a:p>
        </p:txBody>
      </p:sp>
      <p:sp>
        <p:nvSpPr>
          <p:cNvPr id="15" name="Shape 13"/>
          <p:cNvSpPr/>
          <p:nvPr/>
        </p:nvSpPr>
        <p:spPr>
          <a:xfrm>
            <a:off x="731520" y="2971800"/>
            <a:ext cx="5257800" cy="1188720"/>
          </a:xfrm>
          <a:prstGeom prst="roundRect">
            <a:avLst>
              <a:gd name="adj" fmla="val 6154"/>
            </a:avLst>
          </a:prstGeom>
          <a:solidFill>
            <a:srgbClr val="F2EAF6"/>
          </a:solidFill>
          <a:ln w="12700">
            <a:solidFill>
              <a:srgbClr val="DCC6E6"/>
            </a:solidFill>
            <a:prstDash val="solid"/>
          </a:ln>
        </p:spPr>
      </p:sp>
      <p:sp>
        <p:nvSpPr>
          <p:cNvPr id="16" name="Text 14"/>
          <p:cNvSpPr/>
          <p:nvPr/>
        </p:nvSpPr>
        <p:spPr>
          <a:xfrm>
            <a:off x="868680" y="3081528"/>
            <a:ext cx="4983480" cy="256032"/>
          </a:xfrm>
          <a:prstGeom prst="rect">
            <a:avLst/>
          </a:prstGeom>
          <a:noFill/>
          <a:ln/>
        </p:spPr>
        <p:txBody>
          <a:bodyPr wrap="square" lIns="254" tIns="254" rIns="254" bIns="254" rtlCol="0" anchor="ctr">
            <a:normAutofit/>
          </a:bodyPr>
          <a:lstStyle/>
          <a:p>
            <a:pPr indent="0" marL="0">
              <a:buNone/>
            </a:pPr>
            <a:r>
              <a:rPr lang="en-US" sz="2000" b="1" dirty="0">
                <a:solidFill>
                  <a:srgbClr val="6B2C83"/>
                </a:solidFill>
              </a:rPr>
              <a:t>Pièces jointes</a:t>
            </a:r>
            <a:endParaRPr lang="en-US" sz="2000" dirty="0"/>
          </a:p>
        </p:txBody>
      </p:sp>
      <p:sp>
        <p:nvSpPr>
          <p:cNvPr id="17" name="Text 15"/>
          <p:cNvSpPr/>
          <p:nvPr/>
        </p:nvSpPr>
        <p:spPr>
          <a:xfrm>
            <a:off x="868680" y="3429000"/>
            <a:ext cx="4983480" cy="640080"/>
          </a:xfrm>
          <a:prstGeom prst="rect">
            <a:avLst/>
          </a:prstGeom>
          <a:noFill/>
          <a:ln/>
        </p:spPr>
        <p:txBody>
          <a:bodyPr wrap="square" lIns="254" tIns="254" rIns="254" bIns="254" rtlCol="0" anchor="t">
            <a:normAutofit/>
          </a:bodyPr>
          <a:lstStyle/>
          <a:p>
            <a:pPr indent="0" marL="0">
              <a:buNone/>
            </a:pPr>
            <a:r>
              <a:rPr lang="en-US" sz="2000" dirty="0">
                <a:solidFill>
                  <a:srgbClr val="374151"/>
                </a:solidFill>
              </a:rPr>
              <a:t>Vérifier la bonne version, le bon destinataire et l’utilité réelle du fichier.</a:t>
            </a:r>
            <a:endParaRPr lang="en-US" sz="2000" dirty="0"/>
          </a:p>
        </p:txBody>
      </p:sp>
      <p:sp>
        <p:nvSpPr>
          <p:cNvPr id="18" name="Shape 16"/>
          <p:cNvSpPr/>
          <p:nvPr/>
        </p:nvSpPr>
        <p:spPr>
          <a:xfrm>
            <a:off x="6217920" y="2971800"/>
            <a:ext cx="5257800" cy="1188720"/>
          </a:xfrm>
          <a:prstGeom prst="roundRect">
            <a:avLst>
              <a:gd name="adj" fmla="val 6154"/>
            </a:avLst>
          </a:prstGeom>
          <a:solidFill>
            <a:srgbClr val="E8F1FB"/>
          </a:solidFill>
          <a:ln w="12700">
            <a:solidFill>
              <a:srgbClr val="B7D0EF"/>
            </a:solidFill>
            <a:prstDash val="solid"/>
          </a:ln>
        </p:spPr>
      </p:sp>
      <p:sp>
        <p:nvSpPr>
          <p:cNvPr id="19" name="Text 17"/>
          <p:cNvSpPr/>
          <p:nvPr/>
        </p:nvSpPr>
        <p:spPr>
          <a:xfrm>
            <a:off x="6355080" y="3081528"/>
            <a:ext cx="4983480" cy="256032"/>
          </a:xfrm>
          <a:prstGeom prst="rect">
            <a:avLst/>
          </a:prstGeom>
          <a:noFill/>
          <a:ln/>
        </p:spPr>
        <p:txBody>
          <a:bodyPr wrap="square" lIns="254" tIns="254" rIns="254" bIns="254" rtlCol="0" anchor="ctr">
            <a:normAutofit/>
          </a:bodyPr>
          <a:lstStyle/>
          <a:p>
            <a:pPr indent="0" marL="0">
              <a:buNone/>
            </a:pPr>
            <a:r>
              <a:rPr lang="en-US" sz="2000" b="1" dirty="0">
                <a:solidFill>
                  <a:srgbClr val="2F6DB7"/>
                </a:solidFill>
              </a:rPr>
              <a:t>Transfert d’emails</a:t>
            </a:r>
            <a:endParaRPr lang="en-US" sz="2000" dirty="0"/>
          </a:p>
        </p:txBody>
      </p:sp>
      <p:sp>
        <p:nvSpPr>
          <p:cNvPr id="20" name="Text 18"/>
          <p:cNvSpPr/>
          <p:nvPr/>
        </p:nvSpPr>
        <p:spPr>
          <a:xfrm>
            <a:off x="6355080" y="3429000"/>
            <a:ext cx="4983480" cy="640080"/>
          </a:xfrm>
          <a:prstGeom prst="rect">
            <a:avLst/>
          </a:prstGeom>
          <a:noFill/>
          <a:ln/>
        </p:spPr>
        <p:txBody>
          <a:bodyPr wrap="square" lIns="254" tIns="254" rIns="254" bIns="254" rtlCol="0" anchor="t">
            <a:normAutofit/>
          </a:bodyPr>
          <a:lstStyle/>
          <a:p>
            <a:pPr indent="0" marL="0">
              <a:buNone/>
            </a:pPr>
            <a:r>
              <a:rPr lang="en-US" sz="2000" dirty="0">
                <a:solidFill>
                  <a:srgbClr val="374151"/>
                </a:solidFill>
              </a:rPr>
              <a:t>Avant transfert : ajouter le contexte et supprimer ce qui n’est pas nécessaire si la confidentialité l’exige.</a:t>
            </a:r>
            <a:endParaRPr lang="en-US" sz="2000" dirty="0"/>
          </a:p>
        </p:txBody>
      </p:sp>
      <p:sp>
        <p:nvSpPr>
          <p:cNvPr id="21" name="Shape 19"/>
          <p:cNvSpPr/>
          <p:nvPr/>
        </p:nvSpPr>
        <p:spPr>
          <a:xfrm>
            <a:off x="731520" y="5074920"/>
            <a:ext cx="10744200" cy="685800"/>
          </a:xfrm>
          <a:prstGeom prst="roundRect">
            <a:avLst>
              <a:gd name="adj" fmla="val 10667"/>
            </a:avLst>
          </a:prstGeom>
          <a:solidFill>
            <a:srgbClr val="FFFFFF"/>
          </a:solidFill>
          <a:ln w="12700">
            <a:solidFill>
              <a:srgbClr val="D1D5DB"/>
            </a:solidFill>
            <a:prstDash val="solid"/>
          </a:ln>
        </p:spPr>
      </p:sp>
      <p:sp>
        <p:nvSpPr>
          <p:cNvPr id="22" name="Text 20"/>
          <p:cNvSpPr/>
          <p:nvPr/>
        </p:nvSpPr>
        <p:spPr>
          <a:xfrm>
            <a:off x="868680" y="5184648"/>
            <a:ext cx="10469880" cy="256032"/>
          </a:xfrm>
          <a:prstGeom prst="rect">
            <a:avLst/>
          </a:prstGeom>
          <a:noFill/>
          <a:ln/>
        </p:spPr>
        <p:txBody>
          <a:bodyPr wrap="square" lIns="254" tIns="254" rIns="254" bIns="254" rtlCol="0" anchor="ctr">
            <a:normAutofit/>
          </a:bodyPr>
          <a:lstStyle/>
          <a:p>
            <a:pPr indent="0" marL="0">
              <a:buNone/>
            </a:pPr>
            <a:r>
              <a:rPr lang="en-US" sz="2000" b="1" dirty="0">
                <a:solidFill>
                  <a:srgbClr val="1D3557"/>
                </a:solidFill>
              </a:rPr>
              <a:t>Règle pratique</a:t>
            </a:r>
            <a:endParaRPr lang="en-US" sz="2000" dirty="0"/>
          </a:p>
        </p:txBody>
      </p:sp>
      <p:sp>
        <p:nvSpPr>
          <p:cNvPr id="23" name="Text 21"/>
          <p:cNvSpPr/>
          <p:nvPr/>
        </p:nvSpPr>
        <p:spPr>
          <a:xfrm>
            <a:off x="868680" y="5532120"/>
            <a:ext cx="10469880" cy="137160"/>
          </a:xfrm>
          <a:prstGeom prst="rect">
            <a:avLst/>
          </a:prstGeom>
          <a:noFill/>
          <a:ln/>
        </p:spPr>
        <p:txBody>
          <a:bodyPr wrap="square" lIns="254" tIns="254" rIns="254" bIns="254" rtlCol="0" anchor="t">
            <a:normAutofit/>
          </a:bodyPr>
          <a:lstStyle/>
          <a:p>
            <a:pPr indent="0" marL="0">
              <a:buNone/>
            </a:pPr>
            <a:r>
              <a:rPr lang="en-US" sz="2000" dirty="0">
                <a:solidFill>
                  <a:srgbClr val="374151"/>
                </a:solidFill>
              </a:rPr>
              <a:t>Partager l’information utile au traitement, pas toute l’information disponible.</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2F6DB7"/>
          </a:solidFill>
          <a:ln w="12700">
            <a:solidFill>
              <a:srgbClr val="2F6DB7"/>
            </a:solidFill>
            <a:prstDash val="solid"/>
          </a:ln>
        </p:spPr>
      </p:sp>
      <p:sp>
        <p:nvSpPr>
          <p:cNvPr id="3" name="Text 1"/>
          <p:cNvSpPr/>
          <p:nvPr/>
        </p:nvSpPr>
        <p:spPr>
          <a:xfrm>
            <a:off x="228600" y="109728"/>
            <a:ext cx="1234440" cy="23774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Séance 4</a:t>
            </a:r>
            <a:endParaRPr lang="en-US" sz="1400" dirty="0"/>
          </a:p>
        </p:txBody>
      </p:sp>
      <p:sp>
        <p:nvSpPr>
          <p:cNvPr id="4" name="Text 2"/>
          <p:cNvSpPr/>
          <p:nvPr/>
        </p:nvSpPr>
        <p:spPr>
          <a:xfrm>
            <a:off x="7315200" y="109728"/>
            <a:ext cx="4480560" cy="237744"/>
          </a:xfrm>
          <a:prstGeom prst="rect">
            <a:avLst/>
          </a:prstGeom>
          <a:noFill/>
          <a:ln/>
        </p:spPr>
        <p:txBody>
          <a:bodyPr wrap="square" lIns="0" tIns="0" rIns="0" bIns="0" rtlCol="0" anchor="ctr"/>
          <a:lstStyle/>
          <a:p>
            <a:pPr algn="r" indent="0" marL="0">
              <a:buNone/>
            </a:pPr>
            <a:r>
              <a:rPr lang="en-US" sz="1400" b="1" dirty="0">
                <a:solidFill>
                  <a:srgbClr val="FFFFFF"/>
                </a:solidFill>
                <a:latin typeface="Arial" pitchFamily="34" charset="0"/>
                <a:ea typeface="Arial" pitchFamily="34" charset="-122"/>
                <a:cs typeface="Arial" pitchFamily="34" charset="-120"/>
              </a:rPr>
              <a:t>Communication interne professionnelle</a:t>
            </a:r>
            <a:endParaRPr lang="en-US" sz="1400" dirty="0"/>
          </a:p>
        </p:txBody>
      </p:sp>
      <p:sp>
        <p:nvSpPr>
          <p:cNvPr id="5" name="Shape 3"/>
          <p:cNvSpPr/>
          <p:nvPr/>
        </p:nvSpPr>
        <p:spPr>
          <a:xfrm>
            <a:off x="0" y="6574536"/>
            <a:ext cx="12191695" cy="283464"/>
          </a:xfrm>
          <a:prstGeom prst="rect">
            <a:avLst/>
          </a:prstGeom>
          <a:solidFill>
            <a:srgbClr val="F5F7FA"/>
          </a:solidFill>
          <a:ln w="12700">
            <a:solidFill>
              <a:srgbClr val="F5F7FA"/>
            </a:solidFill>
            <a:prstDash val="solid"/>
          </a:ln>
        </p:spPr>
      </p:sp>
      <p:sp>
        <p:nvSpPr>
          <p:cNvPr id="6" name="Text 4"/>
          <p:cNvSpPr/>
          <p:nvPr/>
        </p:nvSpPr>
        <p:spPr>
          <a:xfrm>
            <a:off x="11567160" y="6629400"/>
            <a:ext cx="320040" cy="164592"/>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21</a:t>
            </a:r>
            <a:endParaRPr lang="en-US" sz="1000" dirty="0"/>
          </a:p>
        </p:txBody>
      </p:sp>
      <p:sp>
        <p:nvSpPr>
          <p:cNvPr id="7" name="Text 5"/>
          <p:cNvSpPr/>
          <p:nvPr/>
        </p:nvSpPr>
        <p:spPr>
          <a:xfrm>
            <a:off x="502920" y="749808"/>
            <a:ext cx="11201400" cy="347472"/>
          </a:xfrm>
          <a:prstGeom prst="rect">
            <a:avLst/>
          </a:prstGeom>
          <a:noFill/>
          <a:ln/>
        </p:spPr>
        <p:txBody>
          <a:bodyPr wrap="square" lIns="254" tIns="254" rIns="254" bIns="254" rtlCol="0" anchor="ctr">
            <a:normAutofit/>
          </a:bodyPr>
          <a:lstStyle/>
          <a:p>
            <a:pPr indent="0" marL="0">
              <a:buNone/>
            </a:pPr>
            <a:r>
              <a:rPr lang="en-US" sz="3000" b="1" dirty="0">
                <a:solidFill>
                  <a:srgbClr val="6B2C83"/>
                </a:solidFill>
                <a:latin typeface="Arial" pitchFamily="34" charset="0"/>
                <a:ea typeface="Arial" pitchFamily="34" charset="-122"/>
                <a:cs typeface="Arial" pitchFamily="34" charset="-120"/>
              </a:rPr>
              <a:t>Mini-cas : que peut-on écrire ou joindre ?</a:t>
            </a:r>
            <a:endParaRPr lang="en-US" sz="3000" dirty="0"/>
          </a:p>
        </p:txBody>
      </p:sp>
      <p:sp>
        <p:nvSpPr>
          <p:cNvPr id="8" name="Text 6"/>
          <p:cNvSpPr/>
          <p:nvPr/>
        </p:nvSpPr>
        <p:spPr>
          <a:xfrm>
            <a:off x="530352" y="1161288"/>
            <a:ext cx="10789920" cy="155448"/>
          </a:xfrm>
          <a:prstGeom prst="rect">
            <a:avLst/>
          </a:prstGeom>
          <a:noFill/>
          <a:ln/>
        </p:spPr>
        <p:txBody>
          <a:bodyPr wrap="square" lIns="0" tIns="0" rIns="0" bIns="0" rtlCol="0" anchor="ctr"/>
          <a:lstStyle/>
          <a:p>
            <a:pPr indent="0" marL="0">
              <a:buNone/>
            </a:pPr>
            <a:r>
              <a:rPr lang="en-US" sz="1500" dirty="0">
                <a:solidFill>
                  <a:srgbClr val="6B7280"/>
                </a:solidFill>
                <a:latin typeface="Arial" pitchFamily="34" charset="0"/>
                <a:ea typeface="Arial" pitchFamily="34" charset="-122"/>
                <a:cs typeface="Arial" pitchFamily="34" charset="-120"/>
              </a:rPr>
              <a:t>Décider avant d’envoyer</a:t>
            </a:r>
            <a:endParaRPr lang="en-US" sz="15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731520" y="1508760"/>
          <a:ext cx="10744200" cy="3931920"/>
        </p:xfrm>
        <a:graphic>
          <a:graphicData uri="http://schemas.openxmlformats.org/drawingml/2006/table">
            <a:tbl>
              <a:tblPr/>
              <a:tblGrid>
                <a:gridCol w="4983480"/>
                <a:gridCol w="5760720"/>
              </a:tblGrid>
              <a:tr h="786384">
                <a:tc>
                  <a:txBody>
                    <a:bodyPr/>
                    <a:lstStyle/>
                    <a:p>
                      <a:pPr indent="0" marL="0">
                        <a:buNone/>
                      </a:pPr>
                      <a:r>
                        <a:rPr lang="en-US" sz="1900" b="1" dirty="0">
                          <a:solidFill>
                            <a:srgbClr val="FFFFFF"/>
                          </a:solidFill>
                          <a:latin typeface="Arial" pitchFamily="34" charset="0"/>
                          <a:ea typeface="Arial" pitchFamily="34" charset="-122"/>
                          <a:cs typeface="Arial" pitchFamily="34" charset="-120"/>
                        </a:rPr>
                        <a:t>Cas</a:t>
                      </a:r>
                      <a:endParaRPr lang="en-US" sz="19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2F6DB7"/>
                    </a:solidFill>
                  </a:tcPr>
                </a:tc>
                <a:tc>
                  <a:txBody>
                    <a:bodyPr/>
                    <a:lstStyle/>
                    <a:p>
                      <a:pPr indent="0" marL="0">
                        <a:buNone/>
                      </a:pPr>
                      <a:r>
                        <a:rPr lang="en-US" sz="1900" b="1" dirty="0">
                          <a:solidFill>
                            <a:srgbClr val="FFFFFF"/>
                          </a:solidFill>
                          <a:latin typeface="Arial" pitchFamily="34" charset="0"/>
                          <a:ea typeface="Arial" pitchFamily="34" charset="-122"/>
                          <a:cs typeface="Arial" pitchFamily="34" charset="-120"/>
                        </a:rPr>
                        <a:t>Décision attendue</a:t>
                      </a:r>
                      <a:endParaRPr lang="en-US" sz="19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2F6DB7"/>
                    </a:solidFill>
                  </a:tcPr>
                </a:tc>
              </a:tr>
              <a:tr h="786384">
                <a:tc>
                  <a:txBody>
                    <a:bodyPr/>
                    <a:lstStyle/>
                    <a:p>
                      <a:pPr indent="0" marL="0">
                        <a:buNone/>
                      </a:pPr>
                      <a:r>
                        <a:rPr lang="en-US" sz="1900" dirty="0">
                          <a:solidFill>
                            <a:srgbClr val="374151"/>
                          </a:solidFill>
                          <a:latin typeface="Arial" pitchFamily="34" charset="0"/>
                          <a:ea typeface="Arial" pitchFamily="34" charset="-122"/>
                          <a:cs typeface="Arial" pitchFamily="34" charset="-120"/>
                        </a:rPr>
                        <a:t>Une capture contient nom complet + téléphone + information sensible.</a:t>
                      </a:r>
                      <a:endParaRPr lang="en-US" sz="19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900" dirty="0">
                          <a:solidFill>
                            <a:srgbClr val="374151"/>
                          </a:solidFill>
                          <a:latin typeface="Arial" pitchFamily="34" charset="0"/>
                          <a:ea typeface="Arial" pitchFamily="34" charset="-122"/>
                          <a:cs typeface="Arial" pitchFamily="34" charset="-120"/>
                        </a:rPr>
                        <a:t>Masquer les données non utiles ou ne pas joindre si non autorisé.</a:t>
                      </a:r>
                      <a:endParaRPr lang="en-US" sz="19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786384">
                <a:tc>
                  <a:txBody>
                    <a:bodyPr/>
                    <a:lstStyle/>
                    <a:p>
                      <a:pPr indent="0" marL="0">
                        <a:buNone/>
                      </a:pPr>
                      <a:r>
                        <a:rPr lang="en-US" sz="1900" dirty="0">
                          <a:solidFill>
                            <a:srgbClr val="374151"/>
                          </a:solidFill>
                          <a:latin typeface="Arial" pitchFamily="34" charset="0"/>
                          <a:ea typeface="Arial" pitchFamily="34" charset="-122"/>
                          <a:cs typeface="Arial" pitchFamily="34" charset="-120"/>
                        </a:rPr>
                        <a:t>Un email long doit être transféré au support.</a:t>
                      </a:r>
                      <a:endParaRPr lang="en-US" sz="19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900" dirty="0">
                          <a:solidFill>
                            <a:srgbClr val="374151"/>
                          </a:solidFill>
                          <a:latin typeface="Arial" pitchFamily="34" charset="0"/>
                          <a:ea typeface="Arial" pitchFamily="34" charset="-122"/>
                          <a:cs typeface="Arial" pitchFamily="34" charset="-120"/>
                        </a:rPr>
                        <a:t>Ajouter le contexte et garder seulement les éléments nécessaires.</a:t>
                      </a:r>
                      <a:endParaRPr lang="en-US" sz="19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786384">
                <a:tc>
                  <a:txBody>
                    <a:bodyPr/>
                    <a:lstStyle/>
                    <a:p>
                      <a:pPr indent="0" marL="0">
                        <a:buNone/>
                      </a:pPr>
                      <a:r>
                        <a:rPr lang="en-US" sz="1900" dirty="0">
                          <a:solidFill>
                            <a:srgbClr val="374151"/>
                          </a:solidFill>
                          <a:latin typeface="Arial" pitchFamily="34" charset="0"/>
                          <a:ea typeface="Arial" pitchFamily="34" charset="-122"/>
                          <a:cs typeface="Arial" pitchFamily="34" charset="-120"/>
                        </a:rPr>
                        <a:t>Un collègue demande le détail complet du dossier client.</a:t>
                      </a:r>
                      <a:endParaRPr lang="en-US" sz="19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900" dirty="0">
                          <a:solidFill>
                            <a:srgbClr val="374151"/>
                          </a:solidFill>
                          <a:latin typeface="Arial" pitchFamily="34" charset="0"/>
                          <a:ea typeface="Arial" pitchFamily="34" charset="-122"/>
                          <a:cs typeface="Arial" pitchFamily="34" charset="-120"/>
                        </a:rPr>
                        <a:t>Partager uniquement ce qui est nécessaire selon son rôle.</a:t>
                      </a:r>
                      <a:endParaRPr lang="en-US" sz="19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786384">
                <a:tc>
                  <a:txBody>
                    <a:bodyPr/>
                    <a:lstStyle/>
                    <a:p>
                      <a:pPr indent="0" marL="0">
                        <a:buNone/>
                      </a:pPr>
                      <a:r>
                        <a:rPr lang="en-US" sz="1900" dirty="0">
                          <a:solidFill>
                            <a:srgbClr val="374151"/>
                          </a:solidFill>
                          <a:latin typeface="Arial" pitchFamily="34" charset="0"/>
                          <a:ea typeface="Arial" pitchFamily="34" charset="-122"/>
                          <a:cs typeface="Arial" pitchFamily="34" charset="-120"/>
                        </a:rPr>
                        <a:t>Une PJ est prête mais la version n’est pas certaine.</a:t>
                      </a:r>
                      <a:endParaRPr lang="en-US" sz="19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900" dirty="0">
                          <a:solidFill>
                            <a:srgbClr val="374151"/>
                          </a:solidFill>
                          <a:latin typeface="Arial" pitchFamily="34" charset="0"/>
                          <a:ea typeface="Arial" pitchFamily="34" charset="-122"/>
                          <a:cs typeface="Arial" pitchFamily="34" charset="-120"/>
                        </a:rPr>
                        <a:t>Vérifier avant envoi, ne pas envoyer “pour aller vite”.</a:t>
                      </a:r>
                      <a:endParaRPr lang="en-US" sz="19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bl>
          </a:graphicData>
        </a:graphic>
      </p:graphicFrame>
      <p:sp>
        <p:nvSpPr>
          <p:cNvPr id="10" name="Shape 7"/>
          <p:cNvSpPr/>
          <p:nvPr/>
        </p:nvSpPr>
        <p:spPr>
          <a:xfrm>
            <a:off x="731520" y="5623560"/>
            <a:ext cx="10744200" cy="548640"/>
          </a:xfrm>
          <a:prstGeom prst="roundRect">
            <a:avLst>
              <a:gd name="adj" fmla="val 13333"/>
            </a:avLst>
          </a:prstGeom>
          <a:solidFill>
            <a:srgbClr val="F7F4FB"/>
          </a:solidFill>
          <a:ln w="12700">
            <a:solidFill>
              <a:srgbClr val="D9C7E5"/>
            </a:solidFill>
            <a:prstDash val="solid"/>
          </a:ln>
        </p:spPr>
      </p:sp>
      <p:sp>
        <p:nvSpPr>
          <p:cNvPr id="11" name="Text 8"/>
          <p:cNvSpPr/>
          <p:nvPr/>
        </p:nvSpPr>
        <p:spPr>
          <a:xfrm>
            <a:off x="868680" y="5733288"/>
            <a:ext cx="10469880" cy="256032"/>
          </a:xfrm>
          <a:prstGeom prst="rect">
            <a:avLst/>
          </a:prstGeom>
          <a:noFill/>
          <a:ln/>
        </p:spPr>
        <p:txBody>
          <a:bodyPr wrap="square" lIns="254" tIns="254" rIns="254" bIns="254" rtlCol="0" anchor="ctr">
            <a:normAutofit/>
          </a:bodyPr>
          <a:lstStyle/>
          <a:p>
            <a:pPr indent="0" marL="0">
              <a:buNone/>
            </a:pPr>
            <a:r>
              <a:rPr lang="en-US" sz="2000" b="1" dirty="0">
                <a:solidFill>
                  <a:srgbClr val="6B2C83"/>
                </a:solidFill>
              </a:rPr>
              <a:t>Question de contrôle</a:t>
            </a:r>
            <a:endParaRPr lang="en-US" sz="2000" dirty="0"/>
          </a:p>
        </p:txBody>
      </p:sp>
      <p:sp>
        <p:nvSpPr>
          <p:cNvPr id="12" name="Text 9"/>
          <p:cNvSpPr/>
          <p:nvPr/>
        </p:nvSpPr>
        <p:spPr>
          <a:xfrm>
            <a:off x="868680" y="6080760"/>
            <a:ext cx="10469880" cy="0"/>
          </a:xfrm>
          <a:prstGeom prst="rect">
            <a:avLst/>
          </a:prstGeom>
          <a:noFill/>
          <a:ln/>
        </p:spPr>
        <p:txBody>
          <a:bodyPr wrap="square" lIns="254" tIns="254" rIns="254" bIns="254" rtlCol="0" anchor="t">
            <a:normAutofit/>
          </a:bodyPr>
          <a:lstStyle/>
          <a:p>
            <a:pPr indent="0" marL="0">
              <a:buNone/>
            </a:pPr>
            <a:r>
              <a:rPr lang="en-US" sz="1800" dirty="0">
                <a:solidFill>
                  <a:srgbClr val="374151"/>
                </a:solidFill>
              </a:rPr>
              <a:t>Cette information est-elle nécessaire, autorisée et utile pour l’action attendue ?</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2F6DB7"/>
          </a:solidFill>
          <a:ln w="12700">
            <a:solidFill>
              <a:srgbClr val="2F6DB7"/>
            </a:solidFill>
            <a:prstDash val="solid"/>
          </a:ln>
        </p:spPr>
      </p:sp>
      <p:sp>
        <p:nvSpPr>
          <p:cNvPr id="3" name="Text 1"/>
          <p:cNvSpPr/>
          <p:nvPr/>
        </p:nvSpPr>
        <p:spPr>
          <a:xfrm>
            <a:off x="228600" y="109728"/>
            <a:ext cx="1234440" cy="23774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Séance 4</a:t>
            </a:r>
            <a:endParaRPr lang="en-US" sz="1400" dirty="0"/>
          </a:p>
        </p:txBody>
      </p:sp>
      <p:sp>
        <p:nvSpPr>
          <p:cNvPr id="4" name="Text 2"/>
          <p:cNvSpPr/>
          <p:nvPr/>
        </p:nvSpPr>
        <p:spPr>
          <a:xfrm>
            <a:off x="7315200" y="109728"/>
            <a:ext cx="4480560" cy="237744"/>
          </a:xfrm>
          <a:prstGeom prst="rect">
            <a:avLst/>
          </a:prstGeom>
          <a:noFill/>
          <a:ln/>
        </p:spPr>
        <p:txBody>
          <a:bodyPr wrap="square" lIns="0" tIns="0" rIns="0" bIns="0" rtlCol="0" anchor="ctr"/>
          <a:lstStyle/>
          <a:p>
            <a:pPr algn="r" indent="0" marL="0">
              <a:buNone/>
            </a:pPr>
            <a:r>
              <a:rPr lang="en-US" sz="1400" b="1" dirty="0">
                <a:solidFill>
                  <a:srgbClr val="FFFFFF"/>
                </a:solidFill>
                <a:latin typeface="Arial" pitchFamily="34" charset="0"/>
                <a:ea typeface="Arial" pitchFamily="34" charset="-122"/>
                <a:cs typeface="Arial" pitchFamily="34" charset="-120"/>
              </a:rPr>
              <a:t>Communication interne professionnelle</a:t>
            </a:r>
            <a:endParaRPr lang="en-US" sz="1400" dirty="0"/>
          </a:p>
        </p:txBody>
      </p:sp>
      <p:sp>
        <p:nvSpPr>
          <p:cNvPr id="5" name="Shape 3"/>
          <p:cNvSpPr/>
          <p:nvPr/>
        </p:nvSpPr>
        <p:spPr>
          <a:xfrm>
            <a:off x="0" y="6574536"/>
            <a:ext cx="12191695" cy="283464"/>
          </a:xfrm>
          <a:prstGeom prst="rect">
            <a:avLst/>
          </a:prstGeom>
          <a:solidFill>
            <a:srgbClr val="F5F7FA"/>
          </a:solidFill>
          <a:ln w="12700">
            <a:solidFill>
              <a:srgbClr val="F5F7FA"/>
            </a:solidFill>
            <a:prstDash val="solid"/>
          </a:ln>
        </p:spPr>
      </p:sp>
      <p:sp>
        <p:nvSpPr>
          <p:cNvPr id="6" name="Text 4"/>
          <p:cNvSpPr/>
          <p:nvPr/>
        </p:nvSpPr>
        <p:spPr>
          <a:xfrm>
            <a:off x="11567160" y="6629400"/>
            <a:ext cx="320040" cy="164592"/>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22</a:t>
            </a:r>
            <a:endParaRPr lang="en-US" sz="1000" dirty="0"/>
          </a:p>
        </p:txBody>
      </p:sp>
      <p:sp>
        <p:nvSpPr>
          <p:cNvPr id="7" name="Text 5"/>
          <p:cNvSpPr/>
          <p:nvPr/>
        </p:nvSpPr>
        <p:spPr>
          <a:xfrm>
            <a:off x="502920" y="749808"/>
            <a:ext cx="11201400" cy="347472"/>
          </a:xfrm>
          <a:prstGeom prst="rect">
            <a:avLst/>
          </a:prstGeom>
          <a:noFill/>
          <a:ln/>
        </p:spPr>
        <p:txBody>
          <a:bodyPr wrap="square" lIns="254" tIns="254" rIns="254" bIns="254" rtlCol="0" anchor="ctr">
            <a:normAutofit/>
          </a:bodyPr>
          <a:lstStyle/>
          <a:p>
            <a:pPr indent="0" marL="0">
              <a:buNone/>
            </a:pPr>
            <a:r>
              <a:rPr lang="en-US" sz="3000" b="1" dirty="0">
                <a:solidFill>
                  <a:srgbClr val="6B2C83"/>
                </a:solidFill>
                <a:latin typeface="Arial" pitchFamily="34" charset="0"/>
                <a:ea typeface="Arial" pitchFamily="34" charset="-122"/>
                <a:cs typeface="Arial" pitchFamily="34" charset="-120"/>
              </a:rPr>
              <a:t>Phrases professionnelles utiles</a:t>
            </a:r>
            <a:endParaRPr lang="en-US" sz="3000" dirty="0"/>
          </a:p>
        </p:txBody>
      </p:sp>
      <p:sp>
        <p:nvSpPr>
          <p:cNvPr id="8" name="Text 6"/>
          <p:cNvSpPr/>
          <p:nvPr/>
        </p:nvSpPr>
        <p:spPr>
          <a:xfrm>
            <a:off x="530352" y="1161288"/>
            <a:ext cx="10789920" cy="155448"/>
          </a:xfrm>
          <a:prstGeom prst="rect">
            <a:avLst/>
          </a:prstGeom>
          <a:noFill/>
          <a:ln/>
        </p:spPr>
        <p:txBody>
          <a:bodyPr wrap="square" lIns="0" tIns="0" rIns="0" bIns="0" rtlCol="0" anchor="ctr"/>
          <a:lstStyle/>
          <a:p>
            <a:pPr indent="0" marL="0">
              <a:buNone/>
            </a:pPr>
            <a:r>
              <a:rPr lang="en-US" sz="1500" dirty="0">
                <a:solidFill>
                  <a:srgbClr val="6B7280"/>
                </a:solidFill>
                <a:latin typeface="Arial" pitchFamily="34" charset="0"/>
                <a:ea typeface="Arial" pitchFamily="34" charset="-122"/>
                <a:cs typeface="Arial" pitchFamily="34" charset="-120"/>
              </a:rPr>
              <a:t>Formules simples pour emails, rapports et suivis</a:t>
            </a:r>
            <a:endParaRPr lang="en-US" sz="15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731520" y="1325880"/>
          <a:ext cx="10744200" cy="5166360"/>
        </p:xfrm>
        <a:graphic>
          <a:graphicData uri="http://schemas.openxmlformats.org/drawingml/2006/table">
            <a:tbl>
              <a:tblPr/>
              <a:tblGrid>
                <a:gridCol w="2834640"/>
                <a:gridCol w="7909560"/>
              </a:tblGrid>
              <a:tr h="645795">
                <a:tc>
                  <a:txBody>
                    <a:bodyPr/>
                    <a:lstStyle/>
                    <a:p>
                      <a:pPr indent="0" marL="0">
                        <a:buNone/>
                      </a:pPr>
                      <a:r>
                        <a:rPr lang="en-US" sz="1800" b="1" dirty="0">
                          <a:solidFill>
                            <a:srgbClr val="FFFFFF"/>
                          </a:solidFill>
                          <a:latin typeface="Arial" pitchFamily="34" charset="0"/>
                          <a:ea typeface="Arial" pitchFamily="34" charset="-122"/>
                          <a:cs typeface="Arial" pitchFamily="34" charset="-120"/>
                        </a:rPr>
                        <a:t>Besoin</a:t>
                      </a:r>
                      <a:endParaRPr lang="en-US" sz="18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2F6DB7"/>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Formulation possible</a:t>
                      </a:r>
                      <a:endParaRPr lang="en-US" sz="18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2F6DB7"/>
                    </a:solidFill>
                  </a:tcPr>
                </a:tc>
              </a:tr>
              <a:tr h="645795">
                <a:tc>
                  <a:txBody>
                    <a:bodyPr/>
                    <a:lstStyle/>
                    <a:p>
                      <a:pPr indent="0" marL="0">
                        <a:buNone/>
                      </a:pPr>
                      <a:r>
                        <a:rPr lang="en-US" sz="1800" dirty="0">
                          <a:solidFill>
                            <a:srgbClr val="374151"/>
                          </a:solidFill>
                          <a:latin typeface="Arial" pitchFamily="34" charset="0"/>
                          <a:ea typeface="Arial" pitchFamily="34" charset="-122"/>
                          <a:cs typeface="Arial" pitchFamily="34" charset="-120"/>
                        </a:rPr>
                        <a:t>Informer</a:t>
                      </a:r>
                      <a:endParaRPr lang="en-US" sz="18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800" dirty="0">
                          <a:solidFill>
                            <a:srgbClr val="374151"/>
                          </a:solidFill>
                          <a:latin typeface="Arial" pitchFamily="34" charset="0"/>
                          <a:ea typeface="Arial" pitchFamily="34" charset="-122"/>
                          <a:cs typeface="Arial" pitchFamily="34" charset="-120"/>
                        </a:rPr>
                        <a:t>Je vous informe que…</a:t>
                      </a:r>
                      <a:endParaRPr lang="en-US" sz="18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645795">
                <a:tc>
                  <a:txBody>
                    <a:bodyPr/>
                    <a:lstStyle/>
                    <a:p>
                      <a:pPr indent="0" marL="0">
                        <a:buNone/>
                      </a:pPr>
                      <a:r>
                        <a:rPr lang="en-US" sz="1800" dirty="0">
                          <a:solidFill>
                            <a:srgbClr val="374151"/>
                          </a:solidFill>
                          <a:latin typeface="Arial" pitchFamily="34" charset="0"/>
                          <a:ea typeface="Arial" pitchFamily="34" charset="-122"/>
                          <a:cs typeface="Arial" pitchFamily="34" charset="-120"/>
                        </a:rPr>
                        <a:t>Demander</a:t>
                      </a:r>
                      <a:endParaRPr lang="en-US" sz="18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800" dirty="0">
                          <a:solidFill>
                            <a:srgbClr val="374151"/>
                          </a:solidFill>
                          <a:latin typeface="Arial" pitchFamily="34" charset="0"/>
                          <a:ea typeface="Arial" pitchFamily="34" charset="-122"/>
                          <a:cs typeface="Arial" pitchFamily="34" charset="-120"/>
                        </a:rPr>
                        <a:t>Merci de bien vouloir confirmer / valider…</a:t>
                      </a:r>
                      <a:endParaRPr lang="en-US" sz="18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645795">
                <a:tc>
                  <a:txBody>
                    <a:bodyPr/>
                    <a:lstStyle/>
                    <a:p>
                      <a:pPr indent="0" marL="0">
                        <a:buNone/>
                      </a:pPr>
                      <a:r>
                        <a:rPr lang="en-US" sz="1800" dirty="0">
                          <a:solidFill>
                            <a:srgbClr val="374151"/>
                          </a:solidFill>
                          <a:latin typeface="Arial" pitchFamily="34" charset="0"/>
                          <a:ea typeface="Arial" pitchFamily="34" charset="-122"/>
                          <a:cs typeface="Arial" pitchFamily="34" charset="-120"/>
                        </a:rPr>
                        <a:t>Alerter</a:t>
                      </a:r>
                      <a:endParaRPr lang="en-US" sz="18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800" dirty="0">
                          <a:solidFill>
                            <a:srgbClr val="374151"/>
                          </a:solidFill>
                          <a:latin typeface="Arial" pitchFamily="34" charset="0"/>
                          <a:ea typeface="Arial" pitchFamily="34" charset="-122"/>
                          <a:cs typeface="Arial" pitchFamily="34" charset="-120"/>
                        </a:rPr>
                        <a:t>Je souhaite vous signaler une situation pouvant impacter…</a:t>
                      </a:r>
                      <a:endParaRPr lang="en-US" sz="18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645795">
                <a:tc>
                  <a:txBody>
                    <a:bodyPr/>
                    <a:lstStyle/>
                    <a:p>
                      <a:pPr indent="0" marL="0">
                        <a:buNone/>
                      </a:pPr>
                      <a:r>
                        <a:rPr lang="en-US" sz="1800" dirty="0">
                          <a:solidFill>
                            <a:srgbClr val="374151"/>
                          </a:solidFill>
                          <a:latin typeface="Arial" pitchFamily="34" charset="0"/>
                          <a:ea typeface="Arial" pitchFamily="34" charset="-122"/>
                          <a:cs typeface="Arial" pitchFamily="34" charset="-120"/>
                        </a:rPr>
                        <a:t>Escalader</a:t>
                      </a:r>
                      <a:endParaRPr lang="en-US" sz="18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800" dirty="0">
                          <a:solidFill>
                            <a:srgbClr val="374151"/>
                          </a:solidFill>
                          <a:latin typeface="Arial" pitchFamily="34" charset="0"/>
                          <a:ea typeface="Arial" pitchFamily="34" charset="-122"/>
                          <a:cs typeface="Arial" pitchFamily="34" charset="-120"/>
                        </a:rPr>
                        <a:t>La situation nécessite un arbitrage car…</a:t>
                      </a:r>
                      <a:endParaRPr lang="en-US" sz="18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645795">
                <a:tc>
                  <a:txBody>
                    <a:bodyPr/>
                    <a:lstStyle/>
                    <a:p>
                      <a:pPr indent="0" marL="0">
                        <a:buNone/>
                      </a:pPr>
                      <a:r>
                        <a:rPr lang="en-US" sz="1800" dirty="0">
                          <a:solidFill>
                            <a:srgbClr val="374151"/>
                          </a:solidFill>
                          <a:latin typeface="Arial" pitchFamily="34" charset="0"/>
                          <a:ea typeface="Arial" pitchFamily="34" charset="-122"/>
                          <a:cs typeface="Arial" pitchFamily="34" charset="-120"/>
                        </a:rPr>
                        <a:t>Suivre</a:t>
                      </a:r>
                      <a:endParaRPr lang="en-US" sz="18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800" dirty="0">
                          <a:solidFill>
                            <a:srgbClr val="374151"/>
                          </a:solidFill>
                          <a:latin typeface="Arial" pitchFamily="34" charset="0"/>
                          <a:ea typeface="Arial" pitchFamily="34" charset="-122"/>
                          <a:cs typeface="Arial" pitchFamily="34" charset="-120"/>
                        </a:rPr>
                        <a:t>Je reviens vers vous concernant le dossier…</a:t>
                      </a:r>
                      <a:endParaRPr lang="en-US" sz="18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645795">
                <a:tc>
                  <a:txBody>
                    <a:bodyPr/>
                    <a:lstStyle/>
                    <a:p>
                      <a:pPr indent="0" marL="0">
                        <a:buNone/>
                      </a:pPr>
                      <a:r>
                        <a:rPr lang="en-US" sz="1800" dirty="0">
                          <a:solidFill>
                            <a:srgbClr val="374151"/>
                          </a:solidFill>
                          <a:latin typeface="Arial" pitchFamily="34" charset="0"/>
                          <a:ea typeface="Arial" pitchFamily="34" charset="-122"/>
                          <a:cs typeface="Arial" pitchFamily="34" charset="-120"/>
                        </a:rPr>
                        <a:t>Relancer</a:t>
                      </a:r>
                      <a:endParaRPr lang="en-US" sz="18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800" dirty="0">
                          <a:solidFill>
                            <a:srgbClr val="374151"/>
                          </a:solidFill>
                          <a:latin typeface="Arial" pitchFamily="34" charset="0"/>
                          <a:ea typeface="Arial" pitchFamily="34" charset="-122"/>
                          <a:cs typeface="Arial" pitchFamily="34" charset="-120"/>
                        </a:rPr>
                        <a:t>Sauf erreur de ma part, je n’ai pas encore reçu de retour concernant…</a:t>
                      </a:r>
                      <a:endParaRPr lang="en-US" sz="18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645795">
                <a:tc>
                  <a:txBody>
                    <a:bodyPr/>
                    <a:lstStyle/>
                    <a:p>
                      <a:pPr indent="0" marL="0">
                        <a:buNone/>
                      </a:pPr>
                      <a:r>
                        <a:rPr lang="en-US" sz="1800" dirty="0">
                          <a:solidFill>
                            <a:srgbClr val="374151"/>
                          </a:solidFill>
                          <a:latin typeface="Arial" pitchFamily="34" charset="0"/>
                          <a:ea typeface="Arial" pitchFamily="34" charset="-122"/>
                          <a:cs typeface="Arial" pitchFamily="34" charset="-120"/>
                        </a:rPr>
                        <a:t>Clôturer</a:t>
                      </a:r>
                      <a:endParaRPr lang="en-US" sz="18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800" dirty="0">
                          <a:solidFill>
                            <a:srgbClr val="374151"/>
                          </a:solidFill>
                          <a:latin typeface="Arial" pitchFamily="34" charset="0"/>
                          <a:ea typeface="Arial" pitchFamily="34" charset="-122"/>
                          <a:cs typeface="Arial" pitchFamily="34" charset="-120"/>
                        </a:rPr>
                        <a:t>Merci pour votre retour. Le suivi est désormais clôturé / en attente de…</a:t>
                      </a:r>
                      <a:endParaRPr lang="en-US" sz="18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2F6DB7"/>
          </a:solidFill>
          <a:ln w="12700">
            <a:solidFill>
              <a:srgbClr val="2F6DB7"/>
            </a:solidFill>
            <a:prstDash val="solid"/>
          </a:ln>
        </p:spPr>
      </p:sp>
      <p:sp>
        <p:nvSpPr>
          <p:cNvPr id="3" name="Text 1"/>
          <p:cNvSpPr/>
          <p:nvPr/>
        </p:nvSpPr>
        <p:spPr>
          <a:xfrm>
            <a:off x="228600" y="109728"/>
            <a:ext cx="1234440" cy="23774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Séance 4</a:t>
            </a:r>
            <a:endParaRPr lang="en-US" sz="1400" dirty="0"/>
          </a:p>
        </p:txBody>
      </p:sp>
      <p:sp>
        <p:nvSpPr>
          <p:cNvPr id="4" name="Text 2"/>
          <p:cNvSpPr/>
          <p:nvPr/>
        </p:nvSpPr>
        <p:spPr>
          <a:xfrm>
            <a:off x="7315200" y="109728"/>
            <a:ext cx="4480560" cy="237744"/>
          </a:xfrm>
          <a:prstGeom prst="rect">
            <a:avLst/>
          </a:prstGeom>
          <a:noFill/>
          <a:ln/>
        </p:spPr>
        <p:txBody>
          <a:bodyPr wrap="square" lIns="0" tIns="0" rIns="0" bIns="0" rtlCol="0" anchor="ctr"/>
          <a:lstStyle/>
          <a:p>
            <a:pPr algn="r" indent="0" marL="0">
              <a:buNone/>
            </a:pPr>
            <a:r>
              <a:rPr lang="en-US" sz="1400" b="1" dirty="0">
                <a:solidFill>
                  <a:srgbClr val="FFFFFF"/>
                </a:solidFill>
                <a:latin typeface="Arial" pitchFamily="34" charset="0"/>
                <a:ea typeface="Arial" pitchFamily="34" charset="-122"/>
                <a:cs typeface="Arial" pitchFamily="34" charset="-120"/>
              </a:rPr>
              <a:t>Communication interne professionnelle</a:t>
            </a:r>
            <a:endParaRPr lang="en-US" sz="1400" dirty="0"/>
          </a:p>
        </p:txBody>
      </p:sp>
      <p:sp>
        <p:nvSpPr>
          <p:cNvPr id="5" name="Shape 3"/>
          <p:cNvSpPr/>
          <p:nvPr/>
        </p:nvSpPr>
        <p:spPr>
          <a:xfrm>
            <a:off x="0" y="6574536"/>
            <a:ext cx="12191695" cy="283464"/>
          </a:xfrm>
          <a:prstGeom prst="rect">
            <a:avLst/>
          </a:prstGeom>
          <a:solidFill>
            <a:srgbClr val="F5F7FA"/>
          </a:solidFill>
          <a:ln w="12700">
            <a:solidFill>
              <a:srgbClr val="F5F7FA"/>
            </a:solidFill>
            <a:prstDash val="solid"/>
          </a:ln>
        </p:spPr>
      </p:sp>
      <p:sp>
        <p:nvSpPr>
          <p:cNvPr id="6" name="Text 4"/>
          <p:cNvSpPr/>
          <p:nvPr/>
        </p:nvSpPr>
        <p:spPr>
          <a:xfrm>
            <a:off x="11567160" y="6629400"/>
            <a:ext cx="320040" cy="164592"/>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23</a:t>
            </a:r>
            <a:endParaRPr lang="en-US" sz="1000" dirty="0"/>
          </a:p>
        </p:txBody>
      </p:sp>
      <p:sp>
        <p:nvSpPr>
          <p:cNvPr id="7" name="Text 5"/>
          <p:cNvSpPr/>
          <p:nvPr/>
        </p:nvSpPr>
        <p:spPr>
          <a:xfrm>
            <a:off x="502920" y="749808"/>
            <a:ext cx="11201400" cy="347472"/>
          </a:xfrm>
          <a:prstGeom prst="rect">
            <a:avLst/>
          </a:prstGeom>
          <a:noFill/>
          <a:ln/>
        </p:spPr>
        <p:txBody>
          <a:bodyPr wrap="square" lIns="254" tIns="254" rIns="254" bIns="254" rtlCol="0" anchor="ctr">
            <a:normAutofit/>
          </a:bodyPr>
          <a:lstStyle/>
          <a:p>
            <a:pPr indent="0" marL="0">
              <a:buNone/>
            </a:pPr>
            <a:r>
              <a:rPr lang="en-US" sz="3000" b="1" dirty="0">
                <a:solidFill>
                  <a:srgbClr val="6B2C83"/>
                </a:solidFill>
                <a:latin typeface="Arial" pitchFamily="34" charset="0"/>
                <a:ea typeface="Arial" pitchFamily="34" charset="-122"/>
                <a:cs typeface="Arial" pitchFamily="34" charset="-120"/>
              </a:rPr>
              <a:t>Grille de vérification : email ou rapport</a:t>
            </a:r>
            <a:endParaRPr lang="en-US" sz="3000" dirty="0"/>
          </a:p>
        </p:txBody>
      </p:sp>
      <p:sp>
        <p:nvSpPr>
          <p:cNvPr id="8" name="Text 6"/>
          <p:cNvSpPr/>
          <p:nvPr/>
        </p:nvSpPr>
        <p:spPr>
          <a:xfrm>
            <a:off x="530352" y="1161288"/>
            <a:ext cx="10789920" cy="155448"/>
          </a:xfrm>
          <a:prstGeom prst="rect">
            <a:avLst/>
          </a:prstGeom>
          <a:noFill/>
          <a:ln/>
        </p:spPr>
        <p:txBody>
          <a:bodyPr wrap="square" lIns="0" tIns="0" rIns="0" bIns="0" rtlCol="0" anchor="ctr"/>
          <a:lstStyle/>
          <a:p>
            <a:pPr indent="0" marL="0">
              <a:buNone/>
            </a:pPr>
            <a:r>
              <a:rPr lang="en-US" sz="1500" dirty="0">
                <a:solidFill>
                  <a:srgbClr val="6B7280"/>
                </a:solidFill>
                <a:latin typeface="Arial" pitchFamily="34" charset="0"/>
                <a:ea typeface="Arial" pitchFamily="34" charset="-122"/>
                <a:cs typeface="Arial" pitchFamily="34" charset="-120"/>
              </a:rPr>
              <a:t>Avant envoi ou partage</a:t>
            </a:r>
            <a:endParaRPr lang="en-US" sz="1500" dirty="0"/>
          </a:p>
        </p:txBody>
      </p:sp>
      <p:sp>
        <p:nvSpPr>
          <p:cNvPr id="9" name="Text 7"/>
          <p:cNvSpPr/>
          <p:nvPr/>
        </p:nvSpPr>
        <p:spPr>
          <a:xfrm>
            <a:off x="822960" y="1371600"/>
            <a:ext cx="10561320" cy="4434840"/>
          </a:xfrm>
          <a:prstGeom prst="rect">
            <a:avLst/>
          </a:prstGeom>
          <a:noFill/>
          <a:ln/>
        </p:spPr>
        <p:txBody>
          <a:bodyPr wrap="square" lIns="1016" tIns="1016" rIns="1016" bIns="1016" rtlCol="0" anchor="t">
            <a:normAutofit/>
          </a:bodyPr>
          <a:lstStyle/>
          <a:p>
            <a:r>
              <a:rPr lang="en-US" sz="2200" dirty="0">
                <a:solidFill>
                  <a:srgbClr val="374151"/>
                </a:solidFill>
                <a:latin typeface="Arial" pitchFamily="34" charset="0"/>
                <a:ea typeface="Arial" pitchFamily="34" charset="-122"/>
                <a:cs typeface="Arial" pitchFamily="34" charset="-120"/>
              </a:rPr>
              <a:t>L’objectif est clair : informer, demander, alerter ou escalader.</a:t>
            </a:r>
            <a:endParaRPr lang="en-US" sz="2200" dirty="0"/>
          </a:p>
          <a:p>
            <a:r>
              <a:rPr lang="en-US" sz="2200" dirty="0">
                <a:solidFill>
                  <a:srgbClr val="374151"/>
                </a:solidFill>
                <a:latin typeface="Arial" pitchFamily="34" charset="0"/>
                <a:ea typeface="Arial" pitchFamily="34" charset="-122"/>
                <a:cs typeface="Arial" pitchFamily="34" charset="-120"/>
              </a:rPr>
              <a:t>Le bon destinataire est choisi et les CC sont justifiés.</a:t>
            </a:r>
            <a:endParaRPr lang="en-US" sz="2200" dirty="0"/>
          </a:p>
          <a:p>
            <a:r>
              <a:rPr lang="en-US" sz="2200" dirty="0">
                <a:solidFill>
                  <a:srgbClr val="374151"/>
                </a:solidFill>
                <a:latin typeface="Arial" pitchFamily="34" charset="0"/>
                <a:ea typeface="Arial" pitchFamily="34" charset="-122"/>
                <a:cs typeface="Arial" pitchFamily="34" charset="-120"/>
              </a:rPr>
              <a:t>Les faits sont précis : quoi, quand, dossier, outil, contexte.</a:t>
            </a:r>
            <a:endParaRPr lang="en-US" sz="2200" dirty="0"/>
          </a:p>
          <a:p>
            <a:r>
              <a:rPr lang="en-US" sz="2200" dirty="0">
                <a:solidFill>
                  <a:srgbClr val="374151"/>
                </a:solidFill>
                <a:latin typeface="Arial" pitchFamily="34" charset="0"/>
                <a:ea typeface="Arial" pitchFamily="34" charset="-122"/>
                <a:cs typeface="Arial" pitchFamily="34" charset="-120"/>
              </a:rPr>
              <a:t>L’impact est expliqué sans exagération.</a:t>
            </a:r>
            <a:endParaRPr lang="en-US" sz="2200" dirty="0"/>
          </a:p>
          <a:p>
            <a:r>
              <a:rPr lang="en-US" sz="2200" dirty="0">
                <a:solidFill>
                  <a:srgbClr val="374151"/>
                </a:solidFill>
                <a:latin typeface="Arial" pitchFamily="34" charset="0"/>
                <a:ea typeface="Arial" pitchFamily="34" charset="-122"/>
                <a:cs typeface="Arial" pitchFamily="34" charset="-120"/>
              </a:rPr>
              <a:t>L’action déjà faite et le besoin attendu sont visibles.</a:t>
            </a:r>
            <a:endParaRPr lang="en-US" sz="2200" dirty="0"/>
          </a:p>
          <a:p>
            <a:r>
              <a:rPr lang="en-US" sz="2200" dirty="0">
                <a:solidFill>
                  <a:srgbClr val="374151"/>
                </a:solidFill>
                <a:latin typeface="Arial" pitchFamily="34" charset="0"/>
                <a:ea typeface="Arial" pitchFamily="34" charset="-122"/>
                <a:cs typeface="Arial" pitchFamily="34" charset="-120"/>
              </a:rPr>
              <a:t>Les informations confidentielles sont limitées et maîtrisées.</a:t>
            </a:r>
            <a:endParaRPr lang="en-US" sz="2200" dirty="0"/>
          </a:p>
          <a:p>
            <a:r>
              <a:rPr lang="en-US" sz="2200" dirty="0">
                <a:solidFill>
                  <a:srgbClr val="374151"/>
                </a:solidFill>
                <a:latin typeface="Arial" pitchFamily="34" charset="0"/>
                <a:ea typeface="Arial" pitchFamily="34" charset="-122"/>
                <a:cs typeface="Arial" pitchFamily="34" charset="-120"/>
              </a:rPr>
              <a:t>La forme est lisible : espaces, paragraphes, objet clair, ton professionnel.</a:t>
            </a:r>
            <a:endParaRPr lang="en-US" sz="2200" dirty="0"/>
          </a:p>
          <a:p>
            <a:r>
              <a:rPr lang="en-US" sz="2200" dirty="0">
                <a:solidFill>
                  <a:srgbClr val="374151"/>
                </a:solidFill>
                <a:latin typeface="Arial" pitchFamily="34" charset="0"/>
                <a:ea typeface="Arial" pitchFamily="34" charset="-122"/>
                <a:cs typeface="Arial" pitchFamily="34" charset="-120"/>
              </a:rPr>
              <a:t>Une amélioration possible est proposée si le problème est récurrent.</a:t>
            </a:r>
            <a:endParaRPr lang="en-US" sz="2200" dirty="0"/>
          </a:p>
        </p:txBody>
      </p:sp>
      <p:sp>
        <p:nvSpPr>
          <p:cNvPr id="10" name="Shape 8"/>
          <p:cNvSpPr/>
          <p:nvPr/>
        </p:nvSpPr>
        <p:spPr>
          <a:xfrm>
            <a:off x="731520" y="5806440"/>
            <a:ext cx="10744200" cy="502920"/>
          </a:xfrm>
          <a:prstGeom prst="roundRect">
            <a:avLst>
              <a:gd name="adj" fmla="val 14545"/>
            </a:avLst>
          </a:prstGeom>
          <a:solidFill>
            <a:srgbClr val="E8F1FB"/>
          </a:solidFill>
          <a:ln w="12700">
            <a:solidFill>
              <a:srgbClr val="B7D0EF"/>
            </a:solidFill>
            <a:prstDash val="solid"/>
          </a:ln>
        </p:spPr>
      </p:sp>
      <p:sp>
        <p:nvSpPr>
          <p:cNvPr id="11" name="Text 9"/>
          <p:cNvSpPr/>
          <p:nvPr/>
        </p:nvSpPr>
        <p:spPr>
          <a:xfrm>
            <a:off x="868680" y="5916168"/>
            <a:ext cx="10469880" cy="256032"/>
          </a:xfrm>
          <a:prstGeom prst="rect">
            <a:avLst/>
          </a:prstGeom>
          <a:noFill/>
          <a:ln/>
        </p:spPr>
        <p:txBody>
          <a:bodyPr wrap="square" lIns="254" tIns="254" rIns="254" bIns="254" rtlCol="0" anchor="ctr">
            <a:normAutofit/>
          </a:bodyPr>
          <a:lstStyle/>
          <a:p>
            <a:pPr indent="0" marL="0">
              <a:buNone/>
            </a:pPr>
            <a:r>
              <a:rPr lang="en-US" sz="2000" b="1" dirty="0">
                <a:solidFill>
                  <a:srgbClr val="2F6DB7"/>
                </a:solidFill>
              </a:rPr>
              <a:t>Lien PDCA</a:t>
            </a:r>
            <a:endParaRPr lang="en-US" sz="2000" dirty="0"/>
          </a:p>
        </p:txBody>
      </p:sp>
      <p:sp>
        <p:nvSpPr>
          <p:cNvPr id="12" name="Text 10"/>
          <p:cNvSpPr/>
          <p:nvPr/>
        </p:nvSpPr>
        <p:spPr>
          <a:xfrm>
            <a:off x="868680" y="6263640"/>
            <a:ext cx="10469880" cy="-45720"/>
          </a:xfrm>
          <a:prstGeom prst="rect">
            <a:avLst/>
          </a:prstGeom>
          <a:noFill/>
          <a:ln/>
        </p:spPr>
        <p:txBody>
          <a:bodyPr wrap="square" lIns="254" tIns="254" rIns="254" bIns="254" rtlCol="0" anchor="t">
            <a:normAutofit/>
          </a:bodyPr>
          <a:lstStyle/>
          <a:p>
            <a:pPr indent="0" marL="0">
              <a:buNone/>
            </a:pPr>
            <a:r>
              <a:rPr lang="en-US" sz="1700" dirty="0">
                <a:solidFill>
                  <a:srgbClr val="374151"/>
                </a:solidFill>
              </a:rPr>
              <a:t>Cette grille correspond surtout à l’étape C : Contrôler. Elle prépare aussi l’étape A : Améliorer.</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2F6DB7"/>
          </a:solidFill>
          <a:ln w="12700">
            <a:solidFill>
              <a:srgbClr val="2F6DB7"/>
            </a:solidFill>
            <a:prstDash val="solid"/>
          </a:ln>
        </p:spPr>
      </p:sp>
      <p:sp>
        <p:nvSpPr>
          <p:cNvPr id="3" name="Text 1"/>
          <p:cNvSpPr/>
          <p:nvPr/>
        </p:nvSpPr>
        <p:spPr>
          <a:xfrm>
            <a:off x="228600" y="109728"/>
            <a:ext cx="1234440" cy="23774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Séance 4</a:t>
            </a:r>
            <a:endParaRPr lang="en-US" sz="1400" dirty="0"/>
          </a:p>
        </p:txBody>
      </p:sp>
      <p:sp>
        <p:nvSpPr>
          <p:cNvPr id="4" name="Text 2"/>
          <p:cNvSpPr/>
          <p:nvPr/>
        </p:nvSpPr>
        <p:spPr>
          <a:xfrm>
            <a:off x="7315200" y="109728"/>
            <a:ext cx="4480560" cy="237744"/>
          </a:xfrm>
          <a:prstGeom prst="rect">
            <a:avLst/>
          </a:prstGeom>
          <a:noFill/>
          <a:ln/>
        </p:spPr>
        <p:txBody>
          <a:bodyPr wrap="square" lIns="0" tIns="0" rIns="0" bIns="0" rtlCol="0" anchor="ctr"/>
          <a:lstStyle/>
          <a:p>
            <a:pPr algn="r" indent="0" marL="0">
              <a:buNone/>
            </a:pPr>
            <a:r>
              <a:rPr lang="en-US" sz="1400" b="1" dirty="0">
                <a:solidFill>
                  <a:srgbClr val="FFFFFF"/>
                </a:solidFill>
                <a:latin typeface="Arial" pitchFamily="34" charset="0"/>
                <a:ea typeface="Arial" pitchFamily="34" charset="-122"/>
                <a:cs typeface="Arial" pitchFamily="34" charset="-120"/>
              </a:rPr>
              <a:t>Communication interne professionnelle</a:t>
            </a:r>
            <a:endParaRPr lang="en-US" sz="1400" dirty="0"/>
          </a:p>
        </p:txBody>
      </p:sp>
      <p:sp>
        <p:nvSpPr>
          <p:cNvPr id="5" name="Shape 3"/>
          <p:cNvSpPr/>
          <p:nvPr/>
        </p:nvSpPr>
        <p:spPr>
          <a:xfrm>
            <a:off x="0" y="6574536"/>
            <a:ext cx="12191695" cy="283464"/>
          </a:xfrm>
          <a:prstGeom prst="rect">
            <a:avLst/>
          </a:prstGeom>
          <a:solidFill>
            <a:srgbClr val="F5F7FA"/>
          </a:solidFill>
          <a:ln w="12700">
            <a:solidFill>
              <a:srgbClr val="F5F7FA"/>
            </a:solidFill>
            <a:prstDash val="solid"/>
          </a:ln>
        </p:spPr>
      </p:sp>
      <p:sp>
        <p:nvSpPr>
          <p:cNvPr id="6" name="Text 4"/>
          <p:cNvSpPr/>
          <p:nvPr/>
        </p:nvSpPr>
        <p:spPr>
          <a:xfrm>
            <a:off x="11567160" y="6629400"/>
            <a:ext cx="320040" cy="164592"/>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24</a:t>
            </a:r>
            <a:endParaRPr lang="en-US" sz="1000" dirty="0"/>
          </a:p>
        </p:txBody>
      </p:sp>
      <p:sp>
        <p:nvSpPr>
          <p:cNvPr id="7" name="Text 5"/>
          <p:cNvSpPr/>
          <p:nvPr/>
        </p:nvSpPr>
        <p:spPr>
          <a:xfrm>
            <a:off x="502920" y="749808"/>
            <a:ext cx="11201400" cy="347472"/>
          </a:xfrm>
          <a:prstGeom prst="rect">
            <a:avLst/>
          </a:prstGeom>
          <a:noFill/>
          <a:ln/>
        </p:spPr>
        <p:txBody>
          <a:bodyPr wrap="square" lIns="254" tIns="254" rIns="254" bIns="254" rtlCol="0" anchor="ctr">
            <a:normAutofit/>
          </a:bodyPr>
          <a:lstStyle/>
          <a:p>
            <a:pPr indent="0" marL="0">
              <a:buNone/>
            </a:pPr>
            <a:r>
              <a:rPr lang="en-US" sz="3000" b="1" dirty="0">
                <a:solidFill>
                  <a:srgbClr val="6B2C83"/>
                </a:solidFill>
                <a:latin typeface="Arial" pitchFamily="34" charset="0"/>
                <a:ea typeface="Arial" pitchFamily="34" charset="-122"/>
                <a:cs typeface="Arial" pitchFamily="34" charset="-120"/>
              </a:rPr>
              <a:t>Atelier final : situation complète</a:t>
            </a:r>
            <a:endParaRPr lang="en-US" sz="3000" dirty="0"/>
          </a:p>
        </p:txBody>
      </p:sp>
      <p:sp>
        <p:nvSpPr>
          <p:cNvPr id="8" name="Text 6"/>
          <p:cNvSpPr/>
          <p:nvPr/>
        </p:nvSpPr>
        <p:spPr>
          <a:xfrm>
            <a:off x="530352" y="1161288"/>
            <a:ext cx="10789920" cy="155448"/>
          </a:xfrm>
          <a:prstGeom prst="rect">
            <a:avLst/>
          </a:prstGeom>
          <a:noFill/>
          <a:ln/>
        </p:spPr>
        <p:txBody>
          <a:bodyPr wrap="square" lIns="0" tIns="0" rIns="0" bIns="0" rtlCol="0" anchor="ctr"/>
          <a:lstStyle/>
          <a:p>
            <a:pPr indent="0" marL="0">
              <a:buNone/>
            </a:pPr>
            <a:r>
              <a:rPr lang="en-US" sz="1500" dirty="0">
                <a:solidFill>
                  <a:srgbClr val="6B7280"/>
                </a:solidFill>
                <a:latin typeface="Arial" pitchFamily="34" charset="0"/>
                <a:ea typeface="Arial" pitchFamily="34" charset="-122"/>
                <a:cs typeface="Arial" pitchFamily="34" charset="-120"/>
              </a:rPr>
              <a:t>Produire un email + un mini-rapport</a:t>
            </a:r>
            <a:endParaRPr lang="en-US" sz="1500" dirty="0"/>
          </a:p>
        </p:txBody>
      </p:sp>
      <p:sp>
        <p:nvSpPr>
          <p:cNvPr id="9" name="Shape 7"/>
          <p:cNvSpPr/>
          <p:nvPr/>
        </p:nvSpPr>
        <p:spPr>
          <a:xfrm>
            <a:off x="731520" y="1463040"/>
            <a:ext cx="10744200" cy="1143000"/>
          </a:xfrm>
          <a:prstGeom prst="roundRect">
            <a:avLst>
              <a:gd name="adj" fmla="val 6400"/>
            </a:avLst>
          </a:prstGeom>
          <a:solidFill>
            <a:srgbClr val="FFFFFF"/>
          </a:solidFill>
          <a:ln w="12700">
            <a:solidFill>
              <a:srgbClr val="CBD5E1"/>
            </a:solidFill>
            <a:prstDash val="solid"/>
          </a:ln>
        </p:spPr>
      </p:sp>
      <p:sp>
        <p:nvSpPr>
          <p:cNvPr id="10" name="Text 8"/>
          <p:cNvSpPr/>
          <p:nvPr/>
        </p:nvSpPr>
        <p:spPr>
          <a:xfrm>
            <a:off x="868680" y="1572768"/>
            <a:ext cx="10469880" cy="256032"/>
          </a:xfrm>
          <a:prstGeom prst="rect">
            <a:avLst/>
          </a:prstGeom>
          <a:noFill/>
          <a:ln/>
        </p:spPr>
        <p:txBody>
          <a:bodyPr wrap="square" lIns="254" tIns="254" rIns="254" bIns="254" rtlCol="0" anchor="ctr">
            <a:normAutofit/>
          </a:bodyPr>
          <a:lstStyle/>
          <a:p>
            <a:pPr indent="0" marL="0">
              <a:buNone/>
            </a:pPr>
            <a:r>
              <a:rPr lang="en-US" sz="2000" b="1" dirty="0">
                <a:solidFill>
                  <a:srgbClr val="1D3557"/>
                </a:solidFill>
              </a:rPr>
              <a:t>Situation complète</a:t>
            </a:r>
            <a:endParaRPr lang="en-US" sz="2000" dirty="0"/>
          </a:p>
        </p:txBody>
      </p:sp>
      <p:sp>
        <p:nvSpPr>
          <p:cNvPr id="11" name="Text 9"/>
          <p:cNvSpPr/>
          <p:nvPr/>
        </p:nvSpPr>
        <p:spPr>
          <a:xfrm>
            <a:off x="868680" y="1920240"/>
            <a:ext cx="10469880" cy="594360"/>
          </a:xfrm>
          <a:prstGeom prst="rect">
            <a:avLst/>
          </a:prstGeom>
          <a:noFill/>
          <a:ln/>
        </p:spPr>
        <p:txBody>
          <a:bodyPr wrap="square" lIns="254" tIns="254" rIns="254" bIns="254" rtlCol="0" anchor="t">
            <a:normAutofit/>
          </a:bodyPr>
          <a:lstStyle/>
          <a:p>
            <a:pPr indent="0" marL="0">
              <a:buNone/>
            </a:pPr>
            <a:r>
              <a:rPr lang="en-US" sz="2000" dirty="0">
                <a:solidFill>
                  <a:srgbClr val="374151"/>
                </a:solidFill>
              </a:rPr>
              <a:t>Un outil interne a été lent pendant 40 minutes. 9 dossiers sont restés en attente. Deux clients ont rappelé. Un ticket support a été créé. Le problème semble déjà s’être produit hier, mais aucune synthèse n’a été transmise.</a:t>
            </a:r>
            <a:endParaRPr lang="en-US" sz="2000" dirty="0"/>
          </a:p>
        </p:txBody>
      </p:sp>
      <p:sp>
        <p:nvSpPr>
          <p:cNvPr id="12" name="Shape 10"/>
          <p:cNvSpPr/>
          <p:nvPr/>
        </p:nvSpPr>
        <p:spPr>
          <a:xfrm>
            <a:off x="731520" y="2971800"/>
            <a:ext cx="5257800" cy="1234440"/>
          </a:xfrm>
          <a:prstGeom prst="roundRect">
            <a:avLst>
              <a:gd name="adj" fmla="val 5926"/>
            </a:avLst>
          </a:prstGeom>
          <a:solidFill>
            <a:srgbClr val="E8F1FB"/>
          </a:solidFill>
          <a:ln w="12700">
            <a:solidFill>
              <a:srgbClr val="B7D0EF"/>
            </a:solidFill>
            <a:prstDash val="solid"/>
          </a:ln>
        </p:spPr>
      </p:sp>
      <p:sp>
        <p:nvSpPr>
          <p:cNvPr id="13" name="Text 11"/>
          <p:cNvSpPr/>
          <p:nvPr/>
        </p:nvSpPr>
        <p:spPr>
          <a:xfrm>
            <a:off x="868680" y="3081528"/>
            <a:ext cx="4983480" cy="256032"/>
          </a:xfrm>
          <a:prstGeom prst="rect">
            <a:avLst/>
          </a:prstGeom>
          <a:noFill/>
          <a:ln/>
        </p:spPr>
        <p:txBody>
          <a:bodyPr wrap="square" lIns="254" tIns="254" rIns="254" bIns="254" rtlCol="0" anchor="ctr">
            <a:normAutofit/>
          </a:bodyPr>
          <a:lstStyle/>
          <a:p>
            <a:pPr indent="0" marL="0">
              <a:buNone/>
            </a:pPr>
            <a:r>
              <a:rPr lang="en-US" sz="2000" b="1" dirty="0">
                <a:solidFill>
                  <a:srgbClr val="2F6DB7"/>
                </a:solidFill>
              </a:rPr>
              <a:t>Livrable 1 : email</a:t>
            </a:r>
            <a:endParaRPr lang="en-US" sz="2000" dirty="0"/>
          </a:p>
        </p:txBody>
      </p:sp>
      <p:sp>
        <p:nvSpPr>
          <p:cNvPr id="14" name="Text 12"/>
          <p:cNvSpPr/>
          <p:nvPr/>
        </p:nvSpPr>
        <p:spPr>
          <a:xfrm>
            <a:off x="868680" y="3429000"/>
            <a:ext cx="4983480" cy="685800"/>
          </a:xfrm>
          <a:prstGeom prst="rect">
            <a:avLst/>
          </a:prstGeom>
          <a:noFill/>
          <a:ln/>
        </p:spPr>
        <p:txBody>
          <a:bodyPr wrap="square" lIns="254" tIns="254" rIns="254" bIns="254" rtlCol="0" anchor="t">
            <a:normAutofit/>
          </a:bodyPr>
          <a:lstStyle/>
          <a:p>
            <a:pPr indent="0" marL="0">
              <a:buNone/>
            </a:pPr>
            <a:r>
              <a:rPr lang="en-US" sz="2000" dirty="0">
                <a:solidFill>
                  <a:srgbClr val="374151"/>
                </a:solidFill>
              </a:rPr>
              <a:t>Rédiger un email au superviseur avec objet, À/CC, FIAB, action attendue et confidentialité.</a:t>
            </a:r>
            <a:endParaRPr lang="en-US" sz="2000" dirty="0"/>
          </a:p>
        </p:txBody>
      </p:sp>
      <p:sp>
        <p:nvSpPr>
          <p:cNvPr id="15" name="Shape 13"/>
          <p:cNvSpPr/>
          <p:nvPr/>
        </p:nvSpPr>
        <p:spPr>
          <a:xfrm>
            <a:off x="6217920" y="2971800"/>
            <a:ext cx="5257800" cy="1234440"/>
          </a:xfrm>
          <a:prstGeom prst="roundRect">
            <a:avLst>
              <a:gd name="adj" fmla="val 5926"/>
            </a:avLst>
          </a:prstGeom>
          <a:solidFill>
            <a:srgbClr val="F2EAF6"/>
          </a:solidFill>
          <a:ln w="12700">
            <a:solidFill>
              <a:srgbClr val="DCC6E6"/>
            </a:solidFill>
            <a:prstDash val="solid"/>
          </a:ln>
        </p:spPr>
      </p:sp>
      <p:sp>
        <p:nvSpPr>
          <p:cNvPr id="16" name="Text 14"/>
          <p:cNvSpPr/>
          <p:nvPr/>
        </p:nvSpPr>
        <p:spPr>
          <a:xfrm>
            <a:off x="6355080" y="3081528"/>
            <a:ext cx="4983480" cy="256032"/>
          </a:xfrm>
          <a:prstGeom prst="rect">
            <a:avLst/>
          </a:prstGeom>
          <a:noFill/>
          <a:ln/>
        </p:spPr>
        <p:txBody>
          <a:bodyPr wrap="square" lIns="254" tIns="254" rIns="254" bIns="254" rtlCol="0" anchor="ctr">
            <a:normAutofit/>
          </a:bodyPr>
          <a:lstStyle/>
          <a:p>
            <a:pPr indent="0" marL="0">
              <a:buNone/>
            </a:pPr>
            <a:r>
              <a:rPr lang="en-US" sz="2000" b="1" dirty="0">
                <a:solidFill>
                  <a:srgbClr val="6B2C83"/>
                </a:solidFill>
              </a:rPr>
              <a:t>Livrable 2 : mini-rapport</a:t>
            </a:r>
            <a:endParaRPr lang="en-US" sz="2000" dirty="0"/>
          </a:p>
        </p:txBody>
      </p:sp>
      <p:sp>
        <p:nvSpPr>
          <p:cNvPr id="17" name="Text 15"/>
          <p:cNvSpPr/>
          <p:nvPr/>
        </p:nvSpPr>
        <p:spPr>
          <a:xfrm>
            <a:off x="6355080" y="3429000"/>
            <a:ext cx="4983480" cy="685800"/>
          </a:xfrm>
          <a:prstGeom prst="rect">
            <a:avLst/>
          </a:prstGeom>
          <a:noFill/>
          <a:ln/>
        </p:spPr>
        <p:txBody>
          <a:bodyPr wrap="square" lIns="254" tIns="254" rIns="254" bIns="254" rtlCol="0" anchor="t">
            <a:normAutofit/>
          </a:bodyPr>
          <a:lstStyle/>
          <a:p>
            <a:pPr indent="0" marL="0">
              <a:buNone/>
            </a:pPr>
            <a:r>
              <a:rPr lang="en-US" sz="2000" dirty="0">
                <a:solidFill>
                  <a:srgbClr val="374151"/>
                </a:solidFill>
              </a:rPr>
              <a:t>Rédiger une synthèse courte : faits, impact, actions, besoin, proposition d’amélioration PDCA.</a:t>
            </a:r>
            <a:endParaRPr lang="en-US" sz="2000" dirty="0"/>
          </a:p>
        </p:txBody>
      </p:sp>
      <p:sp>
        <p:nvSpPr>
          <p:cNvPr id="18" name="Shape 16"/>
          <p:cNvSpPr/>
          <p:nvPr/>
        </p:nvSpPr>
        <p:spPr>
          <a:xfrm>
            <a:off x="731520" y="5074920"/>
            <a:ext cx="10744200" cy="594360"/>
          </a:xfrm>
          <a:prstGeom prst="roundRect">
            <a:avLst>
              <a:gd name="adj" fmla="val 12308"/>
            </a:avLst>
          </a:prstGeom>
          <a:solidFill>
            <a:srgbClr val="FFFFFF"/>
          </a:solidFill>
          <a:ln w="12700">
            <a:solidFill>
              <a:srgbClr val="D1D5DB"/>
            </a:solidFill>
            <a:prstDash val="solid"/>
          </a:ln>
        </p:spPr>
      </p:sp>
      <p:sp>
        <p:nvSpPr>
          <p:cNvPr id="19" name="Text 17"/>
          <p:cNvSpPr/>
          <p:nvPr/>
        </p:nvSpPr>
        <p:spPr>
          <a:xfrm>
            <a:off x="868680" y="5184648"/>
            <a:ext cx="10469880" cy="256032"/>
          </a:xfrm>
          <a:prstGeom prst="rect">
            <a:avLst/>
          </a:prstGeom>
          <a:noFill/>
          <a:ln/>
        </p:spPr>
        <p:txBody>
          <a:bodyPr wrap="square" lIns="254" tIns="254" rIns="254" bIns="254" rtlCol="0" anchor="ctr">
            <a:normAutofit/>
          </a:bodyPr>
          <a:lstStyle/>
          <a:p>
            <a:pPr indent="0" marL="0">
              <a:buNone/>
            </a:pPr>
            <a:r>
              <a:rPr lang="en-US" sz="2000" b="1" dirty="0">
                <a:solidFill>
                  <a:srgbClr val="1D3557"/>
                </a:solidFill>
              </a:rPr>
              <a:t>Temps</a:t>
            </a:r>
            <a:endParaRPr lang="en-US" sz="2000" dirty="0"/>
          </a:p>
        </p:txBody>
      </p:sp>
      <p:sp>
        <p:nvSpPr>
          <p:cNvPr id="20" name="Text 18"/>
          <p:cNvSpPr/>
          <p:nvPr/>
        </p:nvSpPr>
        <p:spPr>
          <a:xfrm>
            <a:off x="868680" y="5532120"/>
            <a:ext cx="10469880" cy="45720"/>
          </a:xfrm>
          <a:prstGeom prst="rect">
            <a:avLst/>
          </a:prstGeom>
          <a:noFill/>
          <a:ln/>
        </p:spPr>
        <p:txBody>
          <a:bodyPr wrap="square" lIns="254" tIns="254" rIns="254" bIns="254" rtlCol="0" anchor="t">
            <a:normAutofit/>
          </a:bodyPr>
          <a:lstStyle/>
          <a:p>
            <a:pPr indent="0" marL="0">
              <a:buNone/>
            </a:pPr>
            <a:r>
              <a:rPr lang="en-US" sz="1900" dirty="0">
                <a:solidFill>
                  <a:srgbClr val="374151"/>
                </a:solidFill>
              </a:rPr>
              <a:t>15 minutes de production + 10 minutes de correction collective.</a:t>
            </a:r>
            <a:endParaRPr lang="en-US" sz="1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2F6DB7"/>
          </a:solidFill>
          <a:ln w="12700">
            <a:solidFill>
              <a:srgbClr val="2F6DB7"/>
            </a:solidFill>
            <a:prstDash val="solid"/>
          </a:ln>
        </p:spPr>
      </p:sp>
      <p:sp>
        <p:nvSpPr>
          <p:cNvPr id="3" name="Text 1"/>
          <p:cNvSpPr/>
          <p:nvPr/>
        </p:nvSpPr>
        <p:spPr>
          <a:xfrm>
            <a:off x="228600" y="109728"/>
            <a:ext cx="1234440" cy="23774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Séance 4</a:t>
            </a:r>
            <a:endParaRPr lang="en-US" sz="1400" dirty="0"/>
          </a:p>
        </p:txBody>
      </p:sp>
      <p:sp>
        <p:nvSpPr>
          <p:cNvPr id="4" name="Text 2"/>
          <p:cNvSpPr/>
          <p:nvPr/>
        </p:nvSpPr>
        <p:spPr>
          <a:xfrm>
            <a:off x="7315200" y="109728"/>
            <a:ext cx="4480560" cy="237744"/>
          </a:xfrm>
          <a:prstGeom prst="rect">
            <a:avLst/>
          </a:prstGeom>
          <a:noFill/>
          <a:ln/>
        </p:spPr>
        <p:txBody>
          <a:bodyPr wrap="square" lIns="0" tIns="0" rIns="0" bIns="0" rtlCol="0" anchor="ctr"/>
          <a:lstStyle/>
          <a:p>
            <a:pPr algn="r" indent="0" marL="0">
              <a:buNone/>
            </a:pPr>
            <a:r>
              <a:rPr lang="en-US" sz="1400" b="1" dirty="0">
                <a:solidFill>
                  <a:srgbClr val="FFFFFF"/>
                </a:solidFill>
                <a:latin typeface="Arial" pitchFamily="34" charset="0"/>
                <a:ea typeface="Arial" pitchFamily="34" charset="-122"/>
                <a:cs typeface="Arial" pitchFamily="34" charset="-120"/>
              </a:rPr>
              <a:t>Communication interne professionnelle</a:t>
            </a:r>
            <a:endParaRPr lang="en-US" sz="1400" dirty="0"/>
          </a:p>
        </p:txBody>
      </p:sp>
      <p:sp>
        <p:nvSpPr>
          <p:cNvPr id="5" name="Shape 3"/>
          <p:cNvSpPr/>
          <p:nvPr/>
        </p:nvSpPr>
        <p:spPr>
          <a:xfrm>
            <a:off x="0" y="6574536"/>
            <a:ext cx="12191695" cy="283464"/>
          </a:xfrm>
          <a:prstGeom prst="rect">
            <a:avLst/>
          </a:prstGeom>
          <a:solidFill>
            <a:srgbClr val="F5F7FA"/>
          </a:solidFill>
          <a:ln w="12700">
            <a:solidFill>
              <a:srgbClr val="F5F7FA"/>
            </a:solidFill>
            <a:prstDash val="solid"/>
          </a:ln>
        </p:spPr>
      </p:sp>
      <p:sp>
        <p:nvSpPr>
          <p:cNvPr id="6" name="Text 4"/>
          <p:cNvSpPr/>
          <p:nvPr/>
        </p:nvSpPr>
        <p:spPr>
          <a:xfrm>
            <a:off x="11567160" y="6629400"/>
            <a:ext cx="320040" cy="164592"/>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25</a:t>
            </a:r>
            <a:endParaRPr lang="en-US" sz="1000" dirty="0"/>
          </a:p>
        </p:txBody>
      </p:sp>
      <p:sp>
        <p:nvSpPr>
          <p:cNvPr id="7" name="Text 5"/>
          <p:cNvSpPr/>
          <p:nvPr/>
        </p:nvSpPr>
        <p:spPr>
          <a:xfrm>
            <a:off x="502920" y="749808"/>
            <a:ext cx="11201400" cy="347472"/>
          </a:xfrm>
          <a:prstGeom prst="rect">
            <a:avLst/>
          </a:prstGeom>
          <a:noFill/>
          <a:ln/>
        </p:spPr>
        <p:txBody>
          <a:bodyPr wrap="square" lIns="254" tIns="254" rIns="254" bIns="254" rtlCol="0" anchor="ctr">
            <a:normAutofit/>
          </a:bodyPr>
          <a:lstStyle/>
          <a:p>
            <a:pPr indent="0" marL="0">
              <a:buNone/>
            </a:pPr>
            <a:r>
              <a:rPr lang="en-US" sz="3000" b="1" dirty="0">
                <a:solidFill>
                  <a:srgbClr val="6B2C83"/>
                </a:solidFill>
                <a:latin typeface="Arial" pitchFamily="34" charset="0"/>
                <a:ea typeface="Arial" pitchFamily="34" charset="-122"/>
                <a:cs typeface="Arial" pitchFamily="34" charset="-120"/>
              </a:rPr>
              <a:t>Correction collective : critères simples</a:t>
            </a:r>
            <a:endParaRPr lang="en-US" sz="3000" dirty="0"/>
          </a:p>
        </p:txBody>
      </p:sp>
      <p:sp>
        <p:nvSpPr>
          <p:cNvPr id="8" name="Text 6"/>
          <p:cNvSpPr/>
          <p:nvPr/>
        </p:nvSpPr>
        <p:spPr>
          <a:xfrm>
            <a:off x="530352" y="1161288"/>
            <a:ext cx="10789920" cy="155448"/>
          </a:xfrm>
          <a:prstGeom prst="rect">
            <a:avLst/>
          </a:prstGeom>
          <a:noFill/>
          <a:ln/>
        </p:spPr>
        <p:txBody>
          <a:bodyPr wrap="square" lIns="0" tIns="0" rIns="0" bIns="0" rtlCol="0" anchor="ctr"/>
          <a:lstStyle/>
          <a:p>
            <a:pPr indent="0" marL="0">
              <a:buNone/>
            </a:pPr>
            <a:r>
              <a:rPr lang="en-US" sz="1500" dirty="0">
                <a:solidFill>
                  <a:srgbClr val="6B7280"/>
                </a:solidFill>
                <a:latin typeface="Arial" pitchFamily="34" charset="0"/>
                <a:ea typeface="Arial" pitchFamily="34" charset="-122"/>
                <a:cs typeface="Arial" pitchFamily="34" charset="-120"/>
              </a:rPr>
              <a:t>On corrige le fond, la forme et l’amélioration</a:t>
            </a:r>
            <a:endParaRPr lang="en-US" sz="15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731520" y="1508760"/>
          <a:ext cx="10744200" cy="4251960"/>
        </p:xfrm>
        <a:graphic>
          <a:graphicData uri="http://schemas.openxmlformats.org/drawingml/2006/table">
            <a:tbl>
              <a:tblPr/>
              <a:tblGrid>
                <a:gridCol w="2743200"/>
                <a:gridCol w="8001000"/>
              </a:tblGrid>
              <a:tr h="708660">
                <a:tc>
                  <a:txBody>
                    <a:bodyPr/>
                    <a:lstStyle/>
                    <a:p>
                      <a:pPr indent="0" marL="0">
                        <a:buNone/>
                      </a:pPr>
                      <a:r>
                        <a:rPr lang="en-US" sz="2000" b="1" dirty="0">
                          <a:solidFill>
                            <a:srgbClr val="FFFFFF"/>
                          </a:solidFill>
                          <a:latin typeface="Arial" pitchFamily="34" charset="0"/>
                          <a:ea typeface="Arial" pitchFamily="34" charset="-122"/>
                          <a:cs typeface="Arial" pitchFamily="34" charset="-120"/>
                        </a:rPr>
                        <a:t>Critère</a:t>
                      </a:r>
                      <a:endParaRPr lang="en-US" sz="20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2F6DB7"/>
                    </a:solidFill>
                  </a:tcPr>
                </a:tc>
                <a:tc>
                  <a:txBody>
                    <a:bodyPr/>
                    <a:lstStyle/>
                    <a:p>
                      <a:pPr indent="0" marL="0">
                        <a:buNone/>
                      </a:pPr>
                      <a:r>
                        <a:rPr lang="en-US" sz="2000" b="1" dirty="0">
                          <a:solidFill>
                            <a:srgbClr val="FFFFFF"/>
                          </a:solidFill>
                          <a:latin typeface="Arial" pitchFamily="34" charset="0"/>
                          <a:ea typeface="Arial" pitchFamily="34" charset="-122"/>
                          <a:cs typeface="Arial" pitchFamily="34" charset="-120"/>
                        </a:rPr>
                        <a:t>Question de correction</a:t>
                      </a:r>
                      <a:endParaRPr lang="en-US" sz="20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2F6DB7"/>
                    </a:solidFill>
                  </a:tcPr>
                </a:tc>
              </a:tr>
              <a:tr h="708660">
                <a:tc>
                  <a:txBody>
                    <a:bodyPr/>
                    <a:lstStyle/>
                    <a:p>
                      <a:pPr indent="0" marL="0">
                        <a:buNone/>
                      </a:pPr>
                      <a:r>
                        <a:rPr lang="en-US" sz="2000" dirty="0">
                          <a:solidFill>
                            <a:srgbClr val="374151"/>
                          </a:solidFill>
                          <a:latin typeface="Arial" pitchFamily="34" charset="0"/>
                          <a:ea typeface="Arial" pitchFamily="34" charset="-122"/>
                          <a:cs typeface="Arial" pitchFamily="34" charset="-120"/>
                        </a:rPr>
                        <a:t>Fond</a:t>
                      </a:r>
                      <a:endParaRPr lang="en-US" sz="20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2000" dirty="0">
                          <a:solidFill>
                            <a:srgbClr val="374151"/>
                          </a:solidFill>
                          <a:latin typeface="Arial" pitchFamily="34" charset="0"/>
                          <a:ea typeface="Arial" pitchFamily="34" charset="-122"/>
                          <a:cs typeface="Arial" pitchFamily="34" charset="-120"/>
                        </a:rPr>
                        <a:t>Les faits, l’impact, l’action faite et le besoin sont-ils clairs ?</a:t>
                      </a:r>
                      <a:endParaRPr lang="en-US" sz="20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708660">
                <a:tc>
                  <a:txBody>
                    <a:bodyPr/>
                    <a:lstStyle/>
                    <a:p>
                      <a:pPr indent="0" marL="0">
                        <a:buNone/>
                      </a:pPr>
                      <a:r>
                        <a:rPr lang="en-US" sz="2000" dirty="0">
                          <a:solidFill>
                            <a:srgbClr val="374151"/>
                          </a:solidFill>
                          <a:latin typeface="Arial" pitchFamily="34" charset="0"/>
                          <a:ea typeface="Arial" pitchFamily="34" charset="-122"/>
                          <a:cs typeface="Arial" pitchFamily="34" charset="-120"/>
                        </a:rPr>
                        <a:t>Destinataires</a:t>
                      </a:r>
                      <a:endParaRPr lang="en-US" sz="20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2000" dirty="0">
                          <a:solidFill>
                            <a:srgbClr val="374151"/>
                          </a:solidFill>
                          <a:latin typeface="Arial" pitchFamily="34" charset="0"/>
                          <a:ea typeface="Arial" pitchFamily="34" charset="-122"/>
                          <a:cs typeface="Arial" pitchFamily="34" charset="-120"/>
                        </a:rPr>
                        <a:t>Le bon interlocuteur est-il dans À ? Les CC sont-ils justifiés ?</a:t>
                      </a:r>
                      <a:endParaRPr lang="en-US" sz="20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708660">
                <a:tc>
                  <a:txBody>
                    <a:bodyPr/>
                    <a:lstStyle/>
                    <a:p>
                      <a:pPr indent="0" marL="0">
                        <a:buNone/>
                      </a:pPr>
                      <a:r>
                        <a:rPr lang="en-US" sz="2000" dirty="0">
                          <a:solidFill>
                            <a:srgbClr val="374151"/>
                          </a:solidFill>
                          <a:latin typeface="Arial" pitchFamily="34" charset="0"/>
                          <a:ea typeface="Arial" pitchFamily="34" charset="-122"/>
                          <a:cs typeface="Arial" pitchFamily="34" charset="-120"/>
                        </a:rPr>
                        <a:t>Forme</a:t>
                      </a:r>
                      <a:endParaRPr lang="en-US" sz="20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2000" dirty="0">
                          <a:solidFill>
                            <a:srgbClr val="374151"/>
                          </a:solidFill>
                          <a:latin typeface="Arial" pitchFamily="34" charset="0"/>
                          <a:ea typeface="Arial" pitchFamily="34" charset="-122"/>
                          <a:cs typeface="Arial" pitchFamily="34" charset="-120"/>
                        </a:rPr>
                        <a:t>L’objet, les paragraphes, le ton et la signature sont-ils professionnels ?</a:t>
                      </a:r>
                      <a:endParaRPr lang="en-US" sz="20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708660">
                <a:tc>
                  <a:txBody>
                    <a:bodyPr/>
                    <a:lstStyle/>
                    <a:p>
                      <a:pPr indent="0" marL="0">
                        <a:buNone/>
                      </a:pPr>
                      <a:r>
                        <a:rPr lang="en-US" sz="2000" dirty="0">
                          <a:solidFill>
                            <a:srgbClr val="374151"/>
                          </a:solidFill>
                          <a:latin typeface="Arial" pitchFamily="34" charset="0"/>
                          <a:ea typeface="Arial" pitchFamily="34" charset="-122"/>
                          <a:cs typeface="Arial" pitchFamily="34" charset="-120"/>
                        </a:rPr>
                        <a:t>Confidentialité</a:t>
                      </a:r>
                      <a:endParaRPr lang="en-US" sz="20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2000" dirty="0">
                          <a:solidFill>
                            <a:srgbClr val="374151"/>
                          </a:solidFill>
                          <a:latin typeface="Arial" pitchFamily="34" charset="0"/>
                          <a:ea typeface="Arial" pitchFamily="34" charset="-122"/>
                          <a:cs typeface="Arial" pitchFamily="34" charset="-120"/>
                        </a:rPr>
                        <a:t>Les données partagées sont-elles nécessaires et autorisées ?</a:t>
                      </a:r>
                      <a:endParaRPr lang="en-US" sz="20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708660">
                <a:tc>
                  <a:txBody>
                    <a:bodyPr/>
                    <a:lstStyle/>
                    <a:p>
                      <a:pPr indent="0" marL="0">
                        <a:buNone/>
                      </a:pPr>
                      <a:r>
                        <a:rPr lang="en-US" sz="2000" dirty="0">
                          <a:solidFill>
                            <a:srgbClr val="374151"/>
                          </a:solidFill>
                          <a:latin typeface="Arial" pitchFamily="34" charset="0"/>
                          <a:ea typeface="Arial" pitchFamily="34" charset="-122"/>
                          <a:cs typeface="Arial" pitchFamily="34" charset="-120"/>
                        </a:rPr>
                        <a:t>PDCA</a:t>
                      </a:r>
                      <a:endParaRPr lang="en-US" sz="20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2000" dirty="0">
                          <a:solidFill>
                            <a:srgbClr val="374151"/>
                          </a:solidFill>
                          <a:latin typeface="Arial" pitchFamily="34" charset="0"/>
                          <a:ea typeface="Arial" pitchFamily="34" charset="-122"/>
                          <a:cs typeface="Arial" pitchFamily="34" charset="-120"/>
                        </a:rPr>
                        <a:t>Y a-t-il une proposition pour éviter que le problème se répète ?</a:t>
                      </a:r>
                      <a:endParaRPr lang="en-US" sz="2000" dirty="0">
                        <a:latin typeface="Arial" charset="0"/>
                        <a:ea typeface="Arial" charset="0"/>
                        <a:cs typeface="Arial" charset="0"/>
                      </a:endParaRPr>
                    </a:p>
                  </a:txBody>
                  <a:tcPr marL="54864" marR="54864" marT="54864" marB="54864" anchor="mid">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2F6DB7"/>
          </a:solidFill>
          <a:ln w="12700">
            <a:solidFill>
              <a:srgbClr val="2F6DB7"/>
            </a:solidFill>
            <a:prstDash val="solid"/>
          </a:ln>
        </p:spPr>
      </p:sp>
      <p:sp>
        <p:nvSpPr>
          <p:cNvPr id="3" name="Text 1"/>
          <p:cNvSpPr/>
          <p:nvPr/>
        </p:nvSpPr>
        <p:spPr>
          <a:xfrm>
            <a:off x="228600" y="109728"/>
            <a:ext cx="1234440" cy="23774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Séance 4</a:t>
            </a:r>
            <a:endParaRPr lang="en-US" sz="1400" dirty="0"/>
          </a:p>
        </p:txBody>
      </p:sp>
      <p:sp>
        <p:nvSpPr>
          <p:cNvPr id="4" name="Text 2"/>
          <p:cNvSpPr/>
          <p:nvPr/>
        </p:nvSpPr>
        <p:spPr>
          <a:xfrm>
            <a:off x="7315200" y="109728"/>
            <a:ext cx="4480560" cy="237744"/>
          </a:xfrm>
          <a:prstGeom prst="rect">
            <a:avLst/>
          </a:prstGeom>
          <a:noFill/>
          <a:ln/>
        </p:spPr>
        <p:txBody>
          <a:bodyPr wrap="square" lIns="0" tIns="0" rIns="0" bIns="0" rtlCol="0" anchor="ctr"/>
          <a:lstStyle/>
          <a:p>
            <a:pPr algn="r" indent="0" marL="0">
              <a:buNone/>
            </a:pPr>
            <a:r>
              <a:rPr lang="en-US" sz="1400" b="1" dirty="0">
                <a:solidFill>
                  <a:srgbClr val="FFFFFF"/>
                </a:solidFill>
                <a:latin typeface="Arial" pitchFamily="34" charset="0"/>
                <a:ea typeface="Arial" pitchFamily="34" charset="-122"/>
                <a:cs typeface="Arial" pitchFamily="34" charset="-120"/>
              </a:rPr>
              <a:t>Communication interne professionnelle</a:t>
            </a:r>
            <a:endParaRPr lang="en-US" sz="1400" dirty="0"/>
          </a:p>
        </p:txBody>
      </p:sp>
      <p:sp>
        <p:nvSpPr>
          <p:cNvPr id="5" name="Shape 3"/>
          <p:cNvSpPr/>
          <p:nvPr/>
        </p:nvSpPr>
        <p:spPr>
          <a:xfrm>
            <a:off x="0" y="6574536"/>
            <a:ext cx="12191695" cy="283464"/>
          </a:xfrm>
          <a:prstGeom prst="rect">
            <a:avLst/>
          </a:prstGeom>
          <a:solidFill>
            <a:srgbClr val="F5F7FA"/>
          </a:solidFill>
          <a:ln w="12700">
            <a:solidFill>
              <a:srgbClr val="F5F7FA"/>
            </a:solidFill>
            <a:prstDash val="solid"/>
          </a:ln>
        </p:spPr>
      </p:sp>
      <p:sp>
        <p:nvSpPr>
          <p:cNvPr id="6" name="Text 4"/>
          <p:cNvSpPr/>
          <p:nvPr/>
        </p:nvSpPr>
        <p:spPr>
          <a:xfrm>
            <a:off x="11567160" y="6629400"/>
            <a:ext cx="320040" cy="164592"/>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26</a:t>
            </a:r>
            <a:endParaRPr lang="en-US" sz="1000" dirty="0"/>
          </a:p>
        </p:txBody>
      </p:sp>
      <p:sp>
        <p:nvSpPr>
          <p:cNvPr id="7" name="Text 5"/>
          <p:cNvSpPr/>
          <p:nvPr/>
        </p:nvSpPr>
        <p:spPr>
          <a:xfrm>
            <a:off x="502920" y="749808"/>
            <a:ext cx="11201400" cy="347472"/>
          </a:xfrm>
          <a:prstGeom prst="rect">
            <a:avLst/>
          </a:prstGeom>
          <a:noFill/>
          <a:ln/>
        </p:spPr>
        <p:txBody>
          <a:bodyPr wrap="square" lIns="254" tIns="254" rIns="254" bIns="254" rtlCol="0" anchor="ctr">
            <a:normAutofit/>
          </a:bodyPr>
          <a:lstStyle/>
          <a:p>
            <a:pPr indent="0" marL="0">
              <a:buNone/>
            </a:pPr>
            <a:r>
              <a:rPr lang="en-US" sz="3000" b="1" dirty="0">
                <a:solidFill>
                  <a:srgbClr val="6B2C83"/>
                </a:solidFill>
                <a:latin typeface="Arial" pitchFamily="34" charset="0"/>
                <a:ea typeface="Arial" pitchFamily="34" charset="-122"/>
                <a:cs typeface="Arial" pitchFamily="34" charset="-120"/>
              </a:rPr>
              <a:t>Réponse possible : mini-rapport de synthèse</a:t>
            </a:r>
            <a:endParaRPr lang="en-US" sz="3000" dirty="0"/>
          </a:p>
        </p:txBody>
      </p:sp>
      <p:sp>
        <p:nvSpPr>
          <p:cNvPr id="8" name="Text 6"/>
          <p:cNvSpPr/>
          <p:nvPr/>
        </p:nvSpPr>
        <p:spPr>
          <a:xfrm>
            <a:off x="530352" y="1161288"/>
            <a:ext cx="10789920" cy="155448"/>
          </a:xfrm>
          <a:prstGeom prst="rect">
            <a:avLst/>
          </a:prstGeom>
          <a:noFill/>
          <a:ln/>
        </p:spPr>
        <p:txBody>
          <a:bodyPr wrap="square" lIns="0" tIns="0" rIns="0" bIns="0" rtlCol="0" anchor="ctr"/>
          <a:lstStyle/>
          <a:p>
            <a:pPr indent="0" marL="0">
              <a:buNone/>
            </a:pPr>
            <a:r>
              <a:rPr lang="en-US" sz="1500" dirty="0">
                <a:solidFill>
                  <a:srgbClr val="6B7280"/>
                </a:solidFill>
                <a:latin typeface="Arial" pitchFamily="34" charset="0"/>
                <a:ea typeface="Arial" pitchFamily="34" charset="-122"/>
                <a:cs typeface="Arial" pitchFamily="34" charset="-120"/>
              </a:rPr>
              <a:t>Exemple court et exploitable</a:t>
            </a:r>
            <a:endParaRPr lang="en-US" sz="1500" dirty="0"/>
          </a:p>
        </p:txBody>
      </p:sp>
      <p:sp>
        <p:nvSpPr>
          <p:cNvPr id="9" name="Shape 7"/>
          <p:cNvSpPr/>
          <p:nvPr/>
        </p:nvSpPr>
        <p:spPr>
          <a:xfrm>
            <a:off x="731520" y="1463040"/>
            <a:ext cx="10744200" cy="4709160"/>
          </a:xfrm>
          <a:prstGeom prst="roundRect">
            <a:avLst>
              <a:gd name="adj" fmla="val 971"/>
            </a:avLst>
          </a:prstGeom>
          <a:solidFill>
            <a:srgbClr val="FFFFFF"/>
          </a:solidFill>
          <a:ln w="12700">
            <a:solidFill>
              <a:srgbClr val="D1D5DB"/>
            </a:solidFill>
            <a:prstDash val="solid"/>
          </a:ln>
        </p:spPr>
      </p:sp>
      <p:sp>
        <p:nvSpPr>
          <p:cNvPr id="10" name="Text 8"/>
          <p:cNvSpPr/>
          <p:nvPr/>
        </p:nvSpPr>
        <p:spPr>
          <a:xfrm>
            <a:off x="960120" y="1600200"/>
            <a:ext cx="10241280" cy="320040"/>
          </a:xfrm>
          <a:prstGeom prst="rect">
            <a:avLst/>
          </a:prstGeom>
          <a:noFill/>
          <a:ln/>
        </p:spPr>
        <p:txBody>
          <a:bodyPr wrap="square" lIns="0" tIns="0" rIns="0" bIns="0" rtlCol="0" anchor="ctr"/>
          <a:lstStyle/>
          <a:p>
            <a:pPr indent="0" marL="0">
              <a:buNone/>
            </a:pPr>
            <a:r>
              <a:rPr lang="en-US" sz="2200" b="1" dirty="0">
                <a:solidFill>
                  <a:srgbClr val="1D3557"/>
                </a:solidFill>
              </a:rPr>
              <a:t>Rapport de suivi – lenteur outil interne</a:t>
            </a:r>
            <a:endParaRPr lang="en-US" sz="2200" dirty="0"/>
          </a:p>
        </p:txBody>
      </p:sp>
      <p:sp>
        <p:nvSpPr>
          <p:cNvPr id="11" name="Text 9"/>
          <p:cNvSpPr/>
          <p:nvPr/>
        </p:nvSpPr>
        <p:spPr>
          <a:xfrm>
            <a:off x="960120" y="2103120"/>
            <a:ext cx="10058400" cy="3657600"/>
          </a:xfrm>
          <a:prstGeom prst="rect">
            <a:avLst/>
          </a:prstGeom>
          <a:noFill/>
          <a:ln/>
        </p:spPr>
        <p:txBody>
          <a:bodyPr wrap="square" lIns="254" tIns="254" rIns="254" bIns="254" rtlCol="0" anchor="ctr">
            <a:normAutofit/>
          </a:bodyPr>
          <a:lstStyle/>
          <a:p>
            <a:pPr indent="0" marL="0">
              <a:buNone/>
            </a:pPr>
            <a:r>
              <a:rPr lang="en-US" sz="1900" dirty="0">
                <a:solidFill>
                  <a:srgbClr val="374151"/>
                </a:solidFill>
              </a:rPr>
              <a:t>Date / heure : [date], de 10h00 à 10h40</a:t>
            </a:r>
            <a:endParaRPr lang="en-US" sz="1900" dirty="0"/>
          </a:p>
          <a:p>
            <a:pPr indent="0" marL="0">
              <a:buNone/>
            </a:pPr>
            <a:endParaRPr lang="en-US" sz="1900" dirty="0"/>
          </a:p>
          <a:p>
            <a:pPr indent="0" marL="0">
              <a:buNone/>
            </a:pPr>
            <a:r>
              <a:rPr lang="en-US" sz="1900" dirty="0">
                <a:solidFill>
                  <a:srgbClr val="374151"/>
                </a:solidFill>
              </a:rPr>
              <a:t>Faits : lenteur importante de l’outil interne, avec 9 dossiers restés en attente. Deux clients ont rappelé pendant la période.</a:t>
            </a:r>
            <a:endParaRPr lang="en-US" sz="1900" dirty="0"/>
          </a:p>
          <a:p>
            <a:pPr indent="0" marL="0">
              <a:buNone/>
            </a:pPr>
            <a:endParaRPr lang="en-US" sz="1900" dirty="0"/>
          </a:p>
          <a:p>
            <a:pPr indent="0" marL="0">
              <a:buNone/>
            </a:pPr>
            <a:r>
              <a:rPr lang="en-US" sz="1900" dirty="0">
                <a:solidFill>
                  <a:srgbClr val="374151"/>
                </a:solidFill>
              </a:rPr>
              <a:t>Impact : retard de traitement et risque d’insatisfaction client.</a:t>
            </a:r>
            <a:endParaRPr lang="en-US" sz="1900" dirty="0"/>
          </a:p>
          <a:p>
            <a:pPr indent="0" marL="0">
              <a:buNone/>
            </a:pPr>
            <a:endParaRPr lang="en-US" sz="1900" dirty="0"/>
          </a:p>
          <a:p>
            <a:pPr indent="0" marL="0">
              <a:buNone/>
            </a:pPr>
            <a:r>
              <a:rPr lang="en-US" sz="1900" dirty="0">
                <a:solidFill>
                  <a:srgbClr val="374151"/>
                </a:solidFill>
              </a:rPr>
              <a:t>Actions déjà faites : vérification côté agent, création d’un ticket support et information du superviseur.</a:t>
            </a:r>
            <a:endParaRPr lang="en-US" sz="1900" dirty="0"/>
          </a:p>
          <a:p>
            <a:pPr indent="0" marL="0">
              <a:buNone/>
            </a:pPr>
            <a:endParaRPr lang="en-US" sz="1900" dirty="0"/>
          </a:p>
          <a:p>
            <a:pPr indent="0" marL="0">
              <a:buNone/>
            </a:pPr>
            <a:r>
              <a:rPr lang="en-US" sz="1900" dirty="0">
                <a:solidFill>
                  <a:srgbClr val="374151"/>
                </a:solidFill>
              </a:rPr>
              <a:t>Besoin attendu : confirmation du statut du ticket et consigne de traitement des dossiers en attente.</a:t>
            </a:r>
            <a:endParaRPr lang="en-US" sz="1900" dirty="0"/>
          </a:p>
          <a:p>
            <a:pPr indent="0" marL="0">
              <a:buNone/>
            </a:pPr>
            <a:endParaRPr lang="en-US" sz="1900" dirty="0"/>
          </a:p>
          <a:p>
            <a:pPr indent="0" marL="0">
              <a:buNone/>
            </a:pPr>
            <a:r>
              <a:rPr lang="en-US" sz="1900" dirty="0">
                <a:solidFill>
                  <a:srgbClr val="374151"/>
                </a:solidFill>
              </a:rPr>
              <a:t>Amélioration proposée : suivre ce type d’incident dans un tableau simple pour identifier les répétitions et adapter la procédure.</a:t>
            </a:r>
            <a:endParaRPr lang="en-US" sz="1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2F6DB7"/>
          </a:solidFill>
          <a:ln w="12700">
            <a:solidFill>
              <a:srgbClr val="2F6DB7"/>
            </a:solidFill>
            <a:prstDash val="solid"/>
          </a:ln>
        </p:spPr>
      </p:sp>
      <p:sp>
        <p:nvSpPr>
          <p:cNvPr id="3" name="Text 1"/>
          <p:cNvSpPr/>
          <p:nvPr/>
        </p:nvSpPr>
        <p:spPr>
          <a:xfrm>
            <a:off x="228600" y="109728"/>
            <a:ext cx="1234440" cy="23774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Séance 4</a:t>
            </a:r>
            <a:endParaRPr lang="en-US" sz="1400" dirty="0"/>
          </a:p>
        </p:txBody>
      </p:sp>
      <p:sp>
        <p:nvSpPr>
          <p:cNvPr id="4" name="Text 2"/>
          <p:cNvSpPr/>
          <p:nvPr/>
        </p:nvSpPr>
        <p:spPr>
          <a:xfrm>
            <a:off x="7315200" y="109728"/>
            <a:ext cx="4480560" cy="237744"/>
          </a:xfrm>
          <a:prstGeom prst="rect">
            <a:avLst/>
          </a:prstGeom>
          <a:noFill/>
          <a:ln/>
        </p:spPr>
        <p:txBody>
          <a:bodyPr wrap="square" lIns="0" tIns="0" rIns="0" bIns="0" rtlCol="0" anchor="ctr"/>
          <a:lstStyle/>
          <a:p>
            <a:pPr algn="r" indent="0" marL="0">
              <a:buNone/>
            </a:pPr>
            <a:r>
              <a:rPr lang="en-US" sz="1400" b="1" dirty="0">
                <a:solidFill>
                  <a:srgbClr val="FFFFFF"/>
                </a:solidFill>
                <a:latin typeface="Arial" pitchFamily="34" charset="0"/>
                <a:ea typeface="Arial" pitchFamily="34" charset="-122"/>
                <a:cs typeface="Arial" pitchFamily="34" charset="-120"/>
              </a:rPr>
              <a:t>Communication interne professionnelle</a:t>
            </a:r>
            <a:endParaRPr lang="en-US" sz="1400" dirty="0"/>
          </a:p>
        </p:txBody>
      </p:sp>
      <p:sp>
        <p:nvSpPr>
          <p:cNvPr id="5" name="Shape 3"/>
          <p:cNvSpPr/>
          <p:nvPr/>
        </p:nvSpPr>
        <p:spPr>
          <a:xfrm>
            <a:off x="0" y="6574536"/>
            <a:ext cx="12191695" cy="283464"/>
          </a:xfrm>
          <a:prstGeom prst="rect">
            <a:avLst/>
          </a:prstGeom>
          <a:solidFill>
            <a:srgbClr val="F5F7FA"/>
          </a:solidFill>
          <a:ln w="12700">
            <a:solidFill>
              <a:srgbClr val="F5F7FA"/>
            </a:solidFill>
            <a:prstDash val="solid"/>
          </a:ln>
        </p:spPr>
      </p:sp>
      <p:sp>
        <p:nvSpPr>
          <p:cNvPr id="6" name="Text 4"/>
          <p:cNvSpPr/>
          <p:nvPr/>
        </p:nvSpPr>
        <p:spPr>
          <a:xfrm>
            <a:off x="11567160" y="6629400"/>
            <a:ext cx="320040" cy="164592"/>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27</a:t>
            </a:r>
            <a:endParaRPr lang="en-US" sz="1000" dirty="0"/>
          </a:p>
        </p:txBody>
      </p:sp>
      <p:sp>
        <p:nvSpPr>
          <p:cNvPr id="7" name="Text 5"/>
          <p:cNvSpPr/>
          <p:nvPr/>
        </p:nvSpPr>
        <p:spPr>
          <a:xfrm>
            <a:off x="502920" y="749808"/>
            <a:ext cx="11201400" cy="347472"/>
          </a:xfrm>
          <a:prstGeom prst="rect">
            <a:avLst/>
          </a:prstGeom>
          <a:noFill/>
          <a:ln/>
        </p:spPr>
        <p:txBody>
          <a:bodyPr wrap="square" lIns="254" tIns="254" rIns="254" bIns="254" rtlCol="0" anchor="ctr">
            <a:normAutofit/>
          </a:bodyPr>
          <a:lstStyle/>
          <a:p>
            <a:pPr indent="0" marL="0">
              <a:buNone/>
            </a:pPr>
            <a:r>
              <a:rPr lang="en-US" sz="3000" b="1" dirty="0">
                <a:solidFill>
                  <a:srgbClr val="6B2C83"/>
                </a:solidFill>
                <a:latin typeface="Arial" pitchFamily="34" charset="0"/>
                <a:ea typeface="Arial" pitchFamily="34" charset="-122"/>
                <a:cs typeface="Arial" pitchFamily="34" charset="-120"/>
              </a:rPr>
              <a:t>Synthèse : le réflexe complet avec PDCA</a:t>
            </a:r>
            <a:endParaRPr lang="en-US" sz="3000" dirty="0"/>
          </a:p>
        </p:txBody>
      </p:sp>
      <p:sp>
        <p:nvSpPr>
          <p:cNvPr id="8" name="Text 6"/>
          <p:cNvSpPr/>
          <p:nvPr/>
        </p:nvSpPr>
        <p:spPr>
          <a:xfrm>
            <a:off x="530352" y="1161288"/>
            <a:ext cx="10789920" cy="155448"/>
          </a:xfrm>
          <a:prstGeom prst="rect">
            <a:avLst/>
          </a:prstGeom>
          <a:noFill/>
          <a:ln/>
        </p:spPr>
        <p:txBody>
          <a:bodyPr wrap="square" lIns="0" tIns="0" rIns="0" bIns="0" rtlCol="0" anchor="ctr"/>
          <a:lstStyle/>
          <a:p>
            <a:pPr indent="0" marL="0">
              <a:buNone/>
            </a:pPr>
            <a:r>
              <a:rPr lang="en-US" sz="1500" dirty="0">
                <a:solidFill>
                  <a:srgbClr val="6B7280"/>
                </a:solidFill>
                <a:latin typeface="Arial" pitchFamily="34" charset="0"/>
                <a:ea typeface="Arial" pitchFamily="34" charset="-122"/>
                <a:cs typeface="Arial" pitchFamily="34" charset="-120"/>
              </a:rPr>
              <a:t>Une méthode chapeau + des outils pratiques</a:t>
            </a:r>
            <a:endParaRPr lang="en-US" sz="1500" dirty="0"/>
          </a:p>
        </p:txBody>
      </p:sp>
      <p:sp>
        <p:nvSpPr>
          <p:cNvPr id="9" name="Shape 7"/>
          <p:cNvSpPr/>
          <p:nvPr/>
        </p:nvSpPr>
        <p:spPr>
          <a:xfrm>
            <a:off x="731520" y="1417320"/>
            <a:ext cx="5257800" cy="1234440"/>
          </a:xfrm>
          <a:prstGeom prst="roundRect">
            <a:avLst>
              <a:gd name="adj" fmla="val 5926"/>
            </a:avLst>
          </a:prstGeom>
          <a:solidFill>
            <a:srgbClr val="E8F1FB"/>
          </a:solidFill>
          <a:ln w="12700">
            <a:solidFill>
              <a:srgbClr val="B7D0EF"/>
            </a:solidFill>
            <a:prstDash val="solid"/>
          </a:ln>
        </p:spPr>
      </p:sp>
      <p:sp>
        <p:nvSpPr>
          <p:cNvPr id="10" name="Text 8"/>
          <p:cNvSpPr/>
          <p:nvPr/>
        </p:nvSpPr>
        <p:spPr>
          <a:xfrm>
            <a:off x="868680" y="1527048"/>
            <a:ext cx="4983480" cy="256032"/>
          </a:xfrm>
          <a:prstGeom prst="rect">
            <a:avLst/>
          </a:prstGeom>
          <a:noFill/>
          <a:ln/>
        </p:spPr>
        <p:txBody>
          <a:bodyPr wrap="square" lIns="254" tIns="254" rIns="254" bIns="254" rtlCol="0" anchor="ctr">
            <a:normAutofit/>
          </a:bodyPr>
          <a:lstStyle/>
          <a:p>
            <a:pPr indent="0" marL="0">
              <a:buNone/>
            </a:pPr>
            <a:r>
              <a:rPr lang="en-US" sz="2000" b="1" dirty="0">
                <a:solidFill>
                  <a:srgbClr val="2F6DB7"/>
                </a:solidFill>
              </a:rPr>
              <a:t>1. PLANIFIER</a:t>
            </a:r>
            <a:endParaRPr lang="en-US" sz="2000" dirty="0"/>
          </a:p>
        </p:txBody>
      </p:sp>
      <p:sp>
        <p:nvSpPr>
          <p:cNvPr id="11" name="Text 9"/>
          <p:cNvSpPr/>
          <p:nvPr/>
        </p:nvSpPr>
        <p:spPr>
          <a:xfrm>
            <a:off x="868680" y="1874520"/>
            <a:ext cx="4983480" cy="685800"/>
          </a:xfrm>
          <a:prstGeom prst="rect">
            <a:avLst/>
          </a:prstGeom>
          <a:noFill/>
          <a:ln/>
        </p:spPr>
        <p:txBody>
          <a:bodyPr wrap="square" lIns="254" tIns="254" rIns="254" bIns="254" rtlCol="0" anchor="t">
            <a:normAutofit/>
          </a:bodyPr>
          <a:lstStyle/>
          <a:p>
            <a:pPr indent="0" marL="0">
              <a:buNone/>
            </a:pPr>
            <a:r>
              <a:rPr lang="en-US" sz="2100" dirty="0">
                <a:solidFill>
                  <a:srgbClr val="374151"/>
                </a:solidFill>
              </a:rPr>
              <a:t>CLAIR + IDEA + RACI</a:t>
            </a:r>
            <a:endParaRPr lang="en-US" sz="2100" dirty="0"/>
          </a:p>
          <a:p>
            <a:pPr indent="0" marL="0">
              <a:buNone/>
            </a:pPr>
            <a:r>
              <a:rPr lang="en-US" sz="2100" dirty="0">
                <a:solidFill>
                  <a:srgbClr val="374151"/>
                </a:solidFill>
              </a:rPr>
              <a:t>Pourquoi ? À qui ? Qui agit ?</a:t>
            </a:r>
            <a:endParaRPr lang="en-US" sz="2100" dirty="0"/>
          </a:p>
        </p:txBody>
      </p:sp>
      <p:sp>
        <p:nvSpPr>
          <p:cNvPr id="12" name="Shape 10"/>
          <p:cNvSpPr/>
          <p:nvPr/>
        </p:nvSpPr>
        <p:spPr>
          <a:xfrm>
            <a:off x="6217920" y="1417320"/>
            <a:ext cx="5257800" cy="1234440"/>
          </a:xfrm>
          <a:prstGeom prst="roundRect">
            <a:avLst>
              <a:gd name="adj" fmla="val 5926"/>
            </a:avLst>
          </a:prstGeom>
          <a:solidFill>
            <a:srgbClr val="F2EAF6"/>
          </a:solidFill>
          <a:ln w="12700">
            <a:solidFill>
              <a:srgbClr val="DCC6E6"/>
            </a:solidFill>
            <a:prstDash val="solid"/>
          </a:ln>
        </p:spPr>
      </p:sp>
      <p:sp>
        <p:nvSpPr>
          <p:cNvPr id="13" name="Text 11"/>
          <p:cNvSpPr/>
          <p:nvPr/>
        </p:nvSpPr>
        <p:spPr>
          <a:xfrm>
            <a:off x="6355080" y="1527048"/>
            <a:ext cx="4983480" cy="256032"/>
          </a:xfrm>
          <a:prstGeom prst="rect">
            <a:avLst/>
          </a:prstGeom>
          <a:noFill/>
          <a:ln/>
        </p:spPr>
        <p:txBody>
          <a:bodyPr wrap="square" lIns="254" tIns="254" rIns="254" bIns="254" rtlCol="0" anchor="ctr">
            <a:normAutofit/>
          </a:bodyPr>
          <a:lstStyle/>
          <a:p>
            <a:pPr indent="0" marL="0">
              <a:buNone/>
            </a:pPr>
            <a:r>
              <a:rPr lang="en-US" sz="2000" b="1" dirty="0">
                <a:solidFill>
                  <a:srgbClr val="6B2C83"/>
                </a:solidFill>
              </a:rPr>
              <a:t>2. RÉALISER</a:t>
            </a:r>
            <a:endParaRPr lang="en-US" sz="2000" dirty="0"/>
          </a:p>
        </p:txBody>
      </p:sp>
      <p:sp>
        <p:nvSpPr>
          <p:cNvPr id="14" name="Text 12"/>
          <p:cNvSpPr/>
          <p:nvPr/>
        </p:nvSpPr>
        <p:spPr>
          <a:xfrm>
            <a:off x="6355080" y="1874520"/>
            <a:ext cx="4983480" cy="685800"/>
          </a:xfrm>
          <a:prstGeom prst="rect">
            <a:avLst/>
          </a:prstGeom>
          <a:noFill/>
          <a:ln/>
        </p:spPr>
        <p:txBody>
          <a:bodyPr wrap="square" lIns="254" tIns="254" rIns="254" bIns="254" rtlCol="0" anchor="t">
            <a:normAutofit/>
          </a:bodyPr>
          <a:lstStyle/>
          <a:p>
            <a:pPr indent="0" marL="0">
              <a:buNone/>
            </a:pPr>
            <a:r>
              <a:rPr lang="en-US" sz="2100" dirty="0">
                <a:solidFill>
                  <a:srgbClr val="374151"/>
                </a:solidFill>
              </a:rPr>
              <a:t>FIAB + PLACE</a:t>
            </a:r>
            <a:endParaRPr lang="en-US" sz="2100" dirty="0"/>
          </a:p>
          <a:p>
            <a:pPr indent="0" marL="0">
              <a:buNone/>
            </a:pPr>
            <a:r>
              <a:rPr lang="en-US" sz="2100" dirty="0">
                <a:solidFill>
                  <a:srgbClr val="374151"/>
                </a:solidFill>
              </a:rPr>
              <a:t>Écrire les faits et rendre le message lisible.</a:t>
            </a:r>
            <a:endParaRPr lang="en-US" sz="2100" dirty="0"/>
          </a:p>
        </p:txBody>
      </p:sp>
      <p:sp>
        <p:nvSpPr>
          <p:cNvPr id="15" name="Shape 13"/>
          <p:cNvSpPr/>
          <p:nvPr/>
        </p:nvSpPr>
        <p:spPr>
          <a:xfrm>
            <a:off x="731520" y="3017520"/>
            <a:ext cx="5257800" cy="1234440"/>
          </a:xfrm>
          <a:prstGeom prst="roundRect">
            <a:avLst>
              <a:gd name="adj" fmla="val 5926"/>
            </a:avLst>
          </a:prstGeom>
          <a:solidFill>
            <a:srgbClr val="F2EAF6"/>
          </a:solidFill>
          <a:ln w="12700">
            <a:solidFill>
              <a:srgbClr val="DCC6E6"/>
            </a:solidFill>
            <a:prstDash val="solid"/>
          </a:ln>
        </p:spPr>
      </p:sp>
      <p:sp>
        <p:nvSpPr>
          <p:cNvPr id="16" name="Text 14"/>
          <p:cNvSpPr/>
          <p:nvPr/>
        </p:nvSpPr>
        <p:spPr>
          <a:xfrm>
            <a:off x="868680" y="3127248"/>
            <a:ext cx="4983480" cy="256032"/>
          </a:xfrm>
          <a:prstGeom prst="rect">
            <a:avLst/>
          </a:prstGeom>
          <a:noFill/>
          <a:ln/>
        </p:spPr>
        <p:txBody>
          <a:bodyPr wrap="square" lIns="254" tIns="254" rIns="254" bIns="254" rtlCol="0" anchor="ctr">
            <a:normAutofit/>
          </a:bodyPr>
          <a:lstStyle/>
          <a:p>
            <a:pPr indent="0" marL="0">
              <a:buNone/>
            </a:pPr>
            <a:r>
              <a:rPr lang="en-US" sz="2000" b="1" dirty="0">
                <a:solidFill>
                  <a:srgbClr val="6B2C83"/>
                </a:solidFill>
              </a:rPr>
              <a:t>3. CONTRÔLER</a:t>
            </a:r>
            <a:endParaRPr lang="en-US" sz="2000" dirty="0"/>
          </a:p>
        </p:txBody>
      </p:sp>
      <p:sp>
        <p:nvSpPr>
          <p:cNvPr id="17" name="Text 15"/>
          <p:cNvSpPr/>
          <p:nvPr/>
        </p:nvSpPr>
        <p:spPr>
          <a:xfrm>
            <a:off x="868680" y="3474720"/>
            <a:ext cx="4983480" cy="685800"/>
          </a:xfrm>
          <a:prstGeom prst="rect">
            <a:avLst/>
          </a:prstGeom>
          <a:noFill/>
          <a:ln/>
        </p:spPr>
        <p:txBody>
          <a:bodyPr wrap="square" lIns="254" tIns="254" rIns="254" bIns="254" rtlCol="0" anchor="t">
            <a:normAutofit/>
          </a:bodyPr>
          <a:lstStyle/>
          <a:p>
            <a:pPr indent="0" marL="0">
              <a:buNone/>
            </a:pPr>
            <a:r>
              <a:rPr lang="en-US" sz="2100" dirty="0">
                <a:solidFill>
                  <a:srgbClr val="374151"/>
                </a:solidFill>
              </a:rPr>
              <a:t>VISA + grille de vérification</a:t>
            </a:r>
            <a:endParaRPr lang="en-US" sz="2100" dirty="0"/>
          </a:p>
          <a:p>
            <a:pPr indent="0" marL="0">
              <a:buNone/>
            </a:pPr>
            <a:r>
              <a:rPr lang="en-US" sz="2100" dirty="0">
                <a:solidFill>
                  <a:srgbClr val="374151"/>
                </a:solidFill>
              </a:rPr>
              <a:t>Destinataires, objet, PJ, ton, confidentialité.</a:t>
            </a:r>
            <a:endParaRPr lang="en-US" sz="2100" dirty="0"/>
          </a:p>
        </p:txBody>
      </p:sp>
      <p:sp>
        <p:nvSpPr>
          <p:cNvPr id="18" name="Shape 16"/>
          <p:cNvSpPr/>
          <p:nvPr/>
        </p:nvSpPr>
        <p:spPr>
          <a:xfrm>
            <a:off x="6217920" y="3017520"/>
            <a:ext cx="5257800" cy="1234440"/>
          </a:xfrm>
          <a:prstGeom prst="roundRect">
            <a:avLst>
              <a:gd name="adj" fmla="val 5926"/>
            </a:avLst>
          </a:prstGeom>
          <a:solidFill>
            <a:srgbClr val="E8F1FB"/>
          </a:solidFill>
          <a:ln w="12700">
            <a:solidFill>
              <a:srgbClr val="B7D0EF"/>
            </a:solidFill>
            <a:prstDash val="solid"/>
          </a:ln>
        </p:spPr>
      </p:sp>
      <p:sp>
        <p:nvSpPr>
          <p:cNvPr id="19" name="Text 17"/>
          <p:cNvSpPr/>
          <p:nvPr/>
        </p:nvSpPr>
        <p:spPr>
          <a:xfrm>
            <a:off x="6355080" y="3127248"/>
            <a:ext cx="4983480" cy="256032"/>
          </a:xfrm>
          <a:prstGeom prst="rect">
            <a:avLst/>
          </a:prstGeom>
          <a:noFill/>
          <a:ln/>
        </p:spPr>
        <p:txBody>
          <a:bodyPr wrap="square" lIns="254" tIns="254" rIns="254" bIns="254" rtlCol="0" anchor="ctr">
            <a:normAutofit/>
          </a:bodyPr>
          <a:lstStyle/>
          <a:p>
            <a:pPr indent="0" marL="0">
              <a:buNone/>
            </a:pPr>
            <a:r>
              <a:rPr lang="en-US" sz="2000" b="1" dirty="0">
                <a:solidFill>
                  <a:srgbClr val="2F6DB7"/>
                </a:solidFill>
              </a:rPr>
              <a:t>4. AMÉLIORER</a:t>
            </a:r>
            <a:endParaRPr lang="en-US" sz="2000" dirty="0"/>
          </a:p>
        </p:txBody>
      </p:sp>
      <p:sp>
        <p:nvSpPr>
          <p:cNvPr id="20" name="Text 18"/>
          <p:cNvSpPr/>
          <p:nvPr/>
        </p:nvSpPr>
        <p:spPr>
          <a:xfrm>
            <a:off x="6355080" y="3474720"/>
            <a:ext cx="4983480" cy="685800"/>
          </a:xfrm>
          <a:prstGeom prst="rect">
            <a:avLst/>
          </a:prstGeom>
          <a:noFill/>
          <a:ln/>
        </p:spPr>
        <p:txBody>
          <a:bodyPr wrap="square" lIns="254" tIns="254" rIns="254" bIns="254" rtlCol="0" anchor="t">
            <a:normAutofit/>
          </a:bodyPr>
          <a:lstStyle/>
          <a:p>
            <a:pPr indent="0" marL="0">
              <a:buNone/>
            </a:pPr>
            <a:r>
              <a:rPr lang="en-US" sz="2100" dirty="0">
                <a:solidFill>
                  <a:srgbClr val="374151"/>
                </a:solidFill>
              </a:rPr>
              <a:t>Retour d’expérience</a:t>
            </a:r>
            <a:endParaRPr lang="en-US" sz="2100" dirty="0"/>
          </a:p>
          <a:p>
            <a:pPr indent="0" marL="0">
              <a:buNone/>
            </a:pPr>
            <a:r>
              <a:rPr lang="en-US" sz="2100" dirty="0">
                <a:solidFill>
                  <a:srgbClr val="374151"/>
                </a:solidFill>
              </a:rPr>
              <a:t>Corriger les modèles, clarifier les consignes, éviter la répétition.</a:t>
            </a:r>
            <a:endParaRPr lang="en-US" sz="2100" dirty="0"/>
          </a:p>
        </p:txBody>
      </p:sp>
      <p:sp>
        <p:nvSpPr>
          <p:cNvPr id="21" name="Shape 19"/>
          <p:cNvSpPr/>
          <p:nvPr/>
        </p:nvSpPr>
        <p:spPr>
          <a:xfrm>
            <a:off x="731520" y="5074920"/>
            <a:ext cx="10744200" cy="777240"/>
          </a:xfrm>
          <a:prstGeom prst="roundRect">
            <a:avLst>
              <a:gd name="adj" fmla="val 9412"/>
            </a:avLst>
          </a:prstGeom>
          <a:solidFill>
            <a:srgbClr val="FFFFFF"/>
          </a:solidFill>
          <a:ln w="12700">
            <a:solidFill>
              <a:srgbClr val="D1D5DB"/>
            </a:solidFill>
            <a:prstDash val="solid"/>
          </a:ln>
        </p:spPr>
      </p:sp>
      <p:sp>
        <p:nvSpPr>
          <p:cNvPr id="22" name="Text 20"/>
          <p:cNvSpPr/>
          <p:nvPr/>
        </p:nvSpPr>
        <p:spPr>
          <a:xfrm>
            <a:off x="868680" y="5184648"/>
            <a:ext cx="10469880" cy="256032"/>
          </a:xfrm>
          <a:prstGeom prst="rect">
            <a:avLst/>
          </a:prstGeom>
          <a:noFill/>
          <a:ln/>
        </p:spPr>
        <p:txBody>
          <a:bodyPr wrap="square" lIns="254" tIns="254" rIns="254" bIns="254" rtlCol="0" anchor="ctr">
            <a:normAutofit/>
          </a:bodyPr>
          <a:lstStyle/>
          <a:p>
            <a:pPr indent="0" marL="0">
              <a:buNone/>
            </a:pPr>
            <a:r>
              <a:rPr lang="en-US" sz="2000" b="1" dirty="0">
                <a:solidFill>
                  <a:srgbClr val="1D3557"/>
                </a:solidFill>
              </a:rPr>
              <a:t>Phrase clé</a:t>
            </a:r>
            <a:endParaRPr lang="en-US" sz="2000" dirty="0"/>
          </a:p>
        </p:txBody>
      </p:sp>
      <p:sp>
        <p:nvSpPr>
          <p:cNvPr id="23" name="Text 21"/>
          <p:cNvSpPr/>
          <p:nvPr/>
        </p:nvSpPr>
        <p:spPr>
          <a:xfrm>
            <a:off x="868680" y="5532120"/>
            <a:ext cx="10469880" cy="228600"/>
          </a:xfrm>
          <a:prstGeom prst="rect">
            <a:avLst/>
          </a:prstGeom>
          <a:noFill/>
          <a:ln/>
        </p:spPr>
        <p:txBody>
          <a:bodyPr wrap="square" lIns="254" tIns="254" rIns="254" bIns="254" rtlCol="0" anchor="t">
            <a:normAutofit/>
          </a:bodyPr>
          <a:lstStyle/>
          <a:p>
            <a:pPr indent="0" marL="0">
              <a:buNone/>
            </a:pPr>
            <a:r>
              <a:rPr lang="en-US" sz="2000" dirty="0">
                <a:solidFill>
                  <a:srgbClr val="374151"/>
                </a:solidFill>
              </a:rPr>
              <a:t>Un écrit professionnel n’est pas seulement un message : c’est un outil de coordination, de traçabilité et d’amélioration continue.</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2F6DB7"/>
          </a:solidFill>
          <a:ln w="12700">
            <a:solidFill>
              <a:srgbClr val="2F6DB7"/>
            </a:solidFill>
            <a:prstDash val="solid"/>
          </a:ln>
        </p:spPr>
      </p:sp>
      <p:sp>
        <p:nvSpPr>
          <p:cNvPr id="3" name="Text 1"/>
          <p:cNvSpPr/>
          <p:nvPr/>
        </p:nvSpPr>
        <p:spPr>
          <a:xfrm>
            <a:off x="228600" y="109728"/>
            <a:ext cx="1234440" cy="23774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Séance 4</a:t>
            </a:r>
            <a:endParaRPr lang="en-US" sz="1400" dirty="0"/>
          </a:p>
        </p:txBody>
      </p:sp>
      <p:sp>
        <p:nvSpPr>
          <p:cNvPr id="4" name="Text 2"/>
          <p:cNvSpPr/>
          <p:nvPr/>
        </p:nvSpPr>
        <p:spPr>
          <a:xfrm>
            <a:off x="7315200" y="109728"/>
            <a:ext cx="4480560" cy="237744"/>
          </a:xfrm>
          <a:prstGeom prst="rect">
            <a:avLst/>
          </a:prstGeom>
          <a:noFill/>
          <a:ln/>
        </p:spPr>
        <p:txBody>
          <a:bodyPr wrap="square" lIns="0" tIns="0" rIns="0" bIns="0" rtlCol="0" anchor="ctr"/>
          <a:lstStyle/>
          <a:p>
            <a:pPr algn="r" indent="0" marL="0">
              <a:buNone/>
            </a:pPr>
            <a:r>
              <a:rPr lang="en-US" sz="1400" b="1" dirty="0">
                <a:solidFill>
                  <a:srgbClr val="FFFFFF"/>
                </a:solidFill>
                <a:latin typeface="Arial" pitchFamily="34" charset="0"/>
                <a:ea typeface="Arial" pitchFamily="34" charset="-122"/>
                <a:cs typeface="Arial" pitchFamily="34" charset="-120"/>
              </a:rPr>
              <a:t>Communication interne professionnelle</a:t>
            </a:r>
            <a:endParaRPr lang="en-US" sz="1400" dirty="0"/>
          </a:p>
        </p:txBody>
      </p:sp>
      <p:sp>
        <p:nvSpPr>
          <p:cNvPr id="5" name="Shape 3"/>
          <p:cNvSpPr/>
          <p:nvPr/>
        </p:nvSpPr>
        <p:spPr>
          <a:xfrm>
            <a:off x="0" y="6574536"/>
            <a:ext cx="12191695" cy="283464"/>
          </a:xfrm>
          <a:prstGeom prst="rect">
            <a:avLst/>
          </a:prstGeom>
          <a:solidFill>
            <a:srgbClr val="F5F7FA"/>
          </a:solidFill>
          <a:ln w="12700">
            <a:solidFill>
              <a:srgbClr val="F5F7FA"/>
            </a:solidFill>
            <a:prstDash val="solid"/>
          </a:ln>
        </p:spPr>
      </p:sp>
      <p:sp>
        <p:nvSpPr>
          <p:cNvPr id="6" name="Text 4"/>
          <p:cNvSpPr/>
          <p:nvPr/>
        </p:nvSpPr>
        <p:spPr>
          <a:xfrm>
            <a:off x="11567160" y="6629400"/>
            <a:ext cx="320040" cy="164592"/>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28</a:t>
            </a:r>
            <a:endParaRPr lang="en-US" sz="1000" dirty="0"/>
          </a:p>
        </p:txBody>
      </p:sp>
      <p:sp>
        <p:nvSpPr>
          <p:cNvPr id="7" name="Text 5"/>
          <p:cNvSpPr/>
          <p:nvPr/>
        </p:nvSpPr>
        <p:spPr>
          <a:xfrm>
            <a:off x="502920" y="749808"/>
            <a:ext cx="11201400" cy="347472"/>
          </a:xfrm>
          <a:prstGeom prst="rect">
            <a:avLst/>
          </a:prstGeom>
          <a:noFill/>
          <a:ln/>
        </p:spPr>
        <p:txBody>
          <a:bodyPr wrap="square" lIns="254" tIns="254" rIns="254" bIns="254" rtlCol="0" anchor="ctr">
            <a:normAutofit/>
          </a:bodyPr>
          <a:lstStyle/>
          <a:p>
            <a:pPr indent="0" marL="0">
              <a:buNone/>
            </a:pPr>
            <a:r>
              <a:rPr lang="en-US" sz="3000" b="1" dirty="0">
                <a:solidFill>
                  <a:srgbClr val="6B2C83"/>
                </a:solidFill>
                <a:latin typeface="Arial" pitchFamily="34" charset="0"/>
                <a:ea typeface="Arial" pitchFamily="34" charset="-122"/>
                <a:cs typeface="Arial" pitchFamily="34" charset="-120"/>
              </a:rPr>
              <a:t>Mini-plan d’action personnel</a:t>
            </a:r>
            <a:endParaRPr lang="en-US" sz="3000" dirty="0"/>
          </a:p>
        </p:txBody>
      </p:sp>
      <p:sp>
        <p:nvSpPr>
          <p:cNvPr id="8" name="Text 6"/>
          <p:cNvSpPr/>
          <p:nvPr/>
        </p:nvSpPr>
        <p:spPr>
          <a:xfrm>
            <a:off x="530352" y="1161288"/>
            <a:ext cx="10789920" cy="155448"/>
          </a:xfrm>
          <a:prstGeom prst="rect">
            <a:avLst/>
          </a:prstGeom>
          <a:noFill/>
          <a:ln/>
        </p:spPr>
        <p:txBody>
          <a:bodyPr wrap="square" lIns="0" tIns="0" rIns="0" bIns="0" rtlCol="0" anchor="ctr"/>
          <a:lstStyle/>
          <a:p>
            <a:pPr indent="0" marL="0">
              <a:buNone/>
            </a:pPr>
            <a:r>
              <a:rPr lang="en-US" sz="1500" dirty="0">
                <a:solidFill>
                  <a:srgbClr val="6B7280"/>
                </a:solidFill>
                <a:latin typeface="Arial" pitchFamily="34" charset="0"/>
                <a:ea typeface="Arial" pitchFamily="34" charset="-122"/>
                <a:cs typeface="Arial" pitchFamily="34" charset="-120"/>
              </a:rPr>
              <a:t>Chaque participant choisit un engagement simple</a:t>
            </a:r>
            <a:endParaRPr lang="en-US" sz="1500" dirty="0"/>
          </a:p>
        </p:txBody>
      </p:sp>
      <p:sp>
        <p:nvSpPr>
          <p:cNvPr id="9" name="Text 7"/>
          <p:cNvSpPr/>
          <p:nvPr/>
        </p:nvSpPr>
        <p:spPr>
          <a:xfrm>
            <a:off x="822960" y="1463040"/>
            <a:ext cx="10607040" cy="3474720"/>
          </a:xfrm>
          <a:prstGeom prst="rect">
            <a:avLst/>
          </a:prstGeom>
          <a:noFill/>
          <a:ln/>
        </p:spPr>
        <p:txBody>
          <a:bodyPr wrap="square" lIns="1016" tIns="1016" rIns="1016" bIns="1016" rtlCol="0" anchor="t">
            <a:normAutofit/>
          </a:bodyPr>
          <a:lstStyle/>
          <a:p>
            <a:r>
              <a:rPr lang="en-US" sz="2300" dirty="0">
                <a:solidFill>
                  <a:srgbClr val="374151"/>
                </a:solidFill>
                <a:latin typeface="Arial" pitchFamily="34" charset="0"/>
                <a:ea typeface="Arial" pitchFamily="34" charset="-122"/>
                <a:cs typeface="Arial" pitchFamily="34" charset="-120"/>
              </a:rPr>
              <a:t>Avant d’envoyer un email, je vais vérifier l’objectif avec IDEA.</a:t>
            </a:r>
            <a:endParaRPr lang="en-US" sz="2300" dirty="0"/>
          </a:p>
          <a:p>
            <a:r>
              <a:rPr lang="en-US" sz="2300" dirty="0">
                <a:solidFill>
                  <a:srgbClr val="374151"/>
                </a:solidFill>
                <a:latin typeface="Arial" pitchFamily="34" charset="0"/>
                <a:ea typeface="Arial" pitchFamily="34" charset="-122"/>
                <a:cs typeface="Arial" pitchFamily="34" charset="-120"/>
              </a:rPr>
              <a:t>Je vais limiter les CC aux personnes réellement concernées.</a:t>
            </a:r>
            <a:endParaRPr lang="en-US" sz="2300" dirty="0"/>
          </a:p>
          <a:p>
            <a:r>
              <a:rPr lang="en-US" sz="2300" dirty="0">
                <a:solidFill>
                  <a:srgbClr val="374151"/>
                </a:solidFill>
                <a:latin typeface="Arial" pitchFamily="34" charset="0"/>
                <a:ea typeface="Arial" pitchFamily="34" charset="-122"/>
                <a:cs typeface="Arial" pitchFamily="34" charset="-120"/>
              </a:rPr>
              <a:t>Je vais écrire les faits, l’impact, l’action déjà faite et le besoin attendu.</a:t>
            </a:r>
            <a:endParaRPr lang="en-US" sz="2300" dirty="0"/>
          </a:p>
          <a:p>
            <a:r>
              <a:rPr lang="en-US" sz="2300" dirty="0">
                <a:solidFill>
                  <a:srgbClr val="374151"/>
                </a:solidFill>
                <a:latin typeface="Arial" pitchFamily="34" charset="0"/>
                <a:ea typeface="Arial" pitchFamily="34" charset="-122"/>
                <a:cs typeface="Arial" pitchFamily="34" charset="-120"/>
              </a:rPr>
              <a:t>Je vais vérifier les pièces jointes et les informations confidentielles.</a:t>
            </a:r>
            <a:endParaRPr lang="en-US" sz="2300" dirty="0"/>
          </a:p>
          <a:p>
            <a:r>
              <a:rPr lang="en-US" sz="2300" dirty="0">
                <a:solidFill>
                  <a:srgbClr val="374151"/>
                </a:solidFill>
                <a:latin typeface="Arial" pitchFamily="34" charset="0"/>
                <a:ea typeface="Arial" pitchFamily="34" charset="-122"/>
                <a:cs typeface="Arial" pitchFamily="34" charset="-120"/>
              </a:rPr>
              <a:t>Je vais proposer une amélioration quand un problème se répète.</a:t>
            </a:r>
            <a:endParaRPr lang="en-US" sz="2300" dirty="0"/>
          </a:p>
          <a:p>
            <a:r>
              <a:rPr lang="en-US" sz="2300" dirty="0">
                <a:solidFill>
                  <a:srgbClr val="374151"/>
                </a:solidFill>
                <a:latin typeface="Arial" pitchFamily="34" charset="0"/>
                <a:ea typeface="Arial" pitchFamily="34" charset="-122"/>
                <a:cs typeface="Arial" pitchFamily="34" charset="-120"/>
              </a:rPr>
              <a:t>Je vais utiliser PDCA pour progresser dans mes écrits professionnels.</a:t>
            </a:r>
            <a:endParaRPr lang="en-US" sz="2300" dirty="0"/>
          </a:p>
        </p:txBody>
      </p:sp>
      <p:sp>
        <p:nvSpPr>
          <p:cNvPr id="10" name="Shape 8"/>
          <p:cNvSpPr/>
          <p:nvPr/>
        </p:nvSpPr>
        <p:spPr>
          <a:xfrm>
            <a:off x="731520" y="5349240"/>
            <a:ext cx="10744200" cy="685800"/>
          </a:xfrm>
          <a:prstGeom prst="roundRect">
            <a:avLst>
              <a:gd name="adj" fmla="val 10667"/>
            </a:avLst>
          </a:prstGeom>
          <a:solidFill>
            <a:srgbClr val="F7F4FB"/>
          </a:solidFill>
          <a:ln w="12700">
            <a:solidFill>
              <a:srgbClr val="D9C7E5"/>
            </a:solidFill>
            <a:prstDash val="solid"/>
          </a:ln>
        </p:spPr>
      </p:sp>
      <p:sp>
        <p:nvSpPr>
          <p:cNvPr id="11" name="Text 9"/>
          <p:cNvSpPr/>
          <p:nvPr/>
        </p:nvSpPr>
        <p:spPr>
          <a:xfrm>
            <a:off x="868680" y="5458968"/>
            <a:ext cx="10469880" cy="256032"/>
          </a:xfrm>
          <a:prstGeom prst="rect">
            <a:avLst/>
          </a:prstGeom>
          <a:noFill/>
          <a:ln/>
        </p:spPr>
        <p:txBody>
          <a:bodyPr wrap="square" lIns="254" tIns="254" rIns="254" bIns="254" rtlCol="0" anchor="ctr">
            <a:normAutofit/>
          </a:bodyPr>
          <a:lstStyle/>
          <a:p>
            <a:pPr indent="0" marL="0">
              <a:buNone/>
            </a:pPr>
            <a:r>
              <a:rPr lang="en-US" sz="2000" b="1" dirty="0">
                <a:solidFill>
                  <a:srgbClr val="6B2C83"/>
                </a:solidFill>
              </a:rPr>
              <a:t>À compléter</a:t>
            </a:r>
            <a:endParaRPr lang="en-US" sz="2000" dirty="0"/>
          </a:p>
        </p:txBody>
      </p:sp>
      <p:sp>
        <p:nvSpPr>
          <p:cNvPr id="12" name="Text 10"/>
          <p:cNvSpPr/>
          <p:nvPr/>
        </p:nvSpPr>
        <p:spPr>
          <a:xfrm>
            <a:off x="868680" y="5806440"/>
            <a:ext cx="10469880" cy="137160"/>
          </a:xfrm>
          <a:prstGeom prst="rect">
            <a:avLst/>
          </a:prstGeom>
          <a:noFill/>
          <a:ln/>
        </p:spPr>
        <p:txBody>
          <a:bodyPr wrap="square" lIns="254" tIns="254" rIns="254" bIns="254" rtlCol="0" anchor="t">
            <a:normAutofit/>
          </a:bodyPr>
          <a:lstStyle/>
          <a:p>
            <a:pPr indent="0" marL="0">
              <a:buNone/>
            </a:pPr>
            <a:r>
              <a:rPr lang="en-US" sz="2000" dirty="0">
                <a:solidFill>
                  <a:srgbClr val="374151"/>
                </a:solidFill>
              </a:rPr>
              <a:t>À partir de cette semaine, je vais améliorer : _______________________________</a:t>
            </a:r>
            <a:endParaRPr 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2F6DB7"/>
          </a:solidFill>
          <a:ln w="12700">
            <a:solidFill>
              <a:srgbClr val="2F6DB7"/>
            </a:solidFill>
            <a:prstDash val="solid"/>
          </a:ln>
        </p:spPr>
      </p:sp>
      <p:sp>
        <p:nvSpPr>
          <p:cNvPr id="3" name="Text 1"/>
          <p:cNvSpPr/>
          <p:nvPr/>
        </p:nvSpPr>
        <p:spPr>
          <a:xfrm>
            <a:off x="228600" y="109728"/>
            <a:ext cx="1234440" cy="23774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Séance 4</a:t>
            </a:r>
            <a:endParaRPr lang="en-US" sz="1400" dirty="0"/>
          </a:p>
        </p:txBody>
      </p:sp>
      <p:sp>
        <p:nvSpPr>
          <p:cNvPr id="4" name="Text 2"/>
          <p:cNvSpPr/>
          <p:nvPr/>
        </p:nvSpPr>
        <p:spPr>
          <a:xfrm>
            <a:off x="7315200" y="109728"/>
            <a:ext cx="4480560" cy="237744"/>
          </a:xfrm>
          <a:prstGeom prst="rect">
            <a:avLst/>
          </a:prstGeom>
          <a:noFill/>
          <a:ln/>
        </p:spPr>
        <p:txBody>
          <a:bodyPr wrap="square" lIns="0" tIns="0" rIns="0" bIns="0" rtlCol="0" anchor="ctr"/>
          <a:lstStyle/>
          <a:p>
            <a:pPr algn="r" indent="0" marL="0">
              <a:buNone/>
            </a:pPr>
            <a:r>
              <a:rPr lang="en-US" sz="1400" b="1" dirty="0">
                <a:solidFill>
                  <a:srgbClr val="FFFFFF"/>
                </a:solidFill>
                <a:latin typeface="Arial" pitchFamily="34" charset="0"/>
                <a:ea typeface="Arial" pitchFamily="34" charset="-122"/>
                <a:cs typeface="Arial" pitchFamily="34" charset="-120"/>
              </a:rPr>
              <a:t>Communication interne professionnelle</a:t>
            </a:r>
            <a:endParaRPr lang="en-US" sz="1400" dirty="0"/>
          </a:p>
        </p:txBody>
      </p:sp>
      <p:sp>
        <p:nvSpPr>
          <p:cNvPr id="5" name="Shape 3"/>
          <p:cNvSpPr/>
          <p:nvPr/>
        </p:nvSpPr>
        <p:spPr>
          <a:xfrm>
            <a:off x="0" y="6574536"/>
            <a:ext cx="12191695" cy="283464"/>
          </a:xfrm>
          <a:prstGeom prst="rect">
            <a:avLst/>
          </a:prstGeom>
          <a:solidFill>
            <a:srgbClr val="F5F7FA"/>
          </a:solidFill>
          <a:ln w="12700">
            <a:solidFill>
              <a:srgbClr val="F5F7FA"/>
            </a:solidFill>
            <a:prstDash val="solid"/>
          </a:ln>
        </p:spPr>
      </p:sp>
      <p:sp>
        <p:nvSpPr>
          <p:cNvPr id="6" name="Text 4"/>
          <p:cNvSpPr/>
          <p:nvPr/>
        </p:nvSpPr>
        <p:spPr>
          <a:xfrm>
            <a:off x="11567160" y="6629400"/>
            <a:ext cx="320040" cy="164592"/>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29</a:t>
            </a:r>
            <a:endParaRPr lang="en-US" sz="1000" dirty="0"/>
          </a:p>
        </p:txBody>
      </p:sp>
      <p:sp>
        <p:nvSpPr>
          <p:cNvPr id="7" name="Text 5"/>
          <p:cNvSpPr/>
          <p:nvPr/>
        </p:nvSpPr>
        <p:spPr>
          <a:xfrm>
            <a:off x="502920" y="749808"/>
            <a:ext cx="11201400" cy="347472"/>
          </a:xfrm>
          <a:prstGeom prst="rect">
            <a:avLst/>
          </a:prstGeom>
          <a:noFill/>
          <a:ln/>
        </p:spPr>
        <p:txBody>
          <a:bodyPr wrap="square" lIns="254" tIns="254" rIns="254" bIns="254" rtlCol="0" anchor="ctr">
            <a:normAutofit/>
          </a:bodyPr>
          <a:lstStyle/>
          <a:p>
            <a:pPr indent="0" marL="0">
              <a:buNone/>
            </a:pPr>
            <a:r>
              <a:rPr lang="en-US" sz="3000" b="1" dirty="0">
                <a:solidFill>
                  <a:srgbClr val="6B2C83"/>
                </a:solidFill>
                <a:latin typeface="Arial" pitchFamily="34" charset="0"/>
                <a:ea typeface="Arial" pitchFamily="34" charset="-122"/>
                <a:cs typeface="Arial" pitchFamily="34" charset="-120"/>
              </a:rPr>
              <a:t>Transition vers la séance suivante</a:t>
            </a:r>
            <a:endParaRPr lang="en-US" sz="3000" dirty="0"/>
          </a:p>
        </p:txBody>
      </p:sp>
      <p:sp>
        <p:nvSpPr>
          <p:cNvPr id="8" name="Text 6"/>
          <p:cNvSpPr/>
          <p:nvPr/>
        </p:nvSpPr>
        <p:spPr>
          <a:xfrm>
            <a:off x="530352" y="1161288"/>
            <a:ext cx="10789920" cy="155448"/>
          </a:xfrm>
          <a:prstGeom prst="rect">
            <a:avLst/>
          </a:prstGeom>
          <a:noFill/>
          <a:ln/>
        </p:spPr>
        <p:txBody>
          <a:bodyPr wrap="square" lIns="0" tIns="0" rIns="0" bIns="0" rtlCol="0" anchor="ctr"/>
          <a:lstStyle/>
          <a:p>
            <a:pPr indent="0" marL="0">
              <a:buNone/>
            </a:pPr>
            <a:r>
              <a:rPr lang="en-US" sz="1500" dirty="0">
                <a:solidFill>
                  <a:srgbClr val="6B7280"/>
                </a:solidFill>
                <a:latin typeface="Arial" pitchFamily="34" charset="0"/>
                <a:ea typeface="Arial" pitchFamily="34" charset="-122"/>
                <a:cs typeface="Arial" pitchFamily="34" charset="-120"/>
              </a:rPr>
              <a:t>Ce que nous avons construit aujourd’hui</a:t>
            </a:r>
            <a:endParaRPr lang="en-US" sz="1500" dirty="0"/>
          </a:p>
        </p:txBody>
      </p:sp>
      <p:sp>
        <p:nvSpPr>
          <p:cNvPr id="9" name="Shape 7"/>
          <p:cNvSpPr/>
          <p:nvPr/>
        </p:nvSpPr>
        <p:spPr>
          <a:xfrm>
            <a:off x="731520" y="1600200"/>
            <a:ext cx="10744200" cy="822960"/>
          </a:xfrm>
          <a:prstGeom prst="roundRect">
            <a:avLst>
              <a:gd name="adj" fmla="val 8889"/>
            </a:avLst>
          </a:prstGeom>
          <a:solidFill>
            <a:srgbClr val="E8F1FB"/>
          </a:solidFill>
          <a:ln w="12700">
            <a:solidFill>
              <a:srgbClr val="B7D0EF"/>
            </a:solidFill>
            <a:prstDash val="solid"/>
          </a:ln>
        </p:spPr>
      </p:sp>
      <p:sp>
        <p:nvSpPr>
          <p:cNvPr id="10" name="Text 8"/>
          <p:cNvSpPr/>
          <p:nvPr/>
        </p:nvSpPr>
        <p:spPr>
          <a:xfrm>
            <a:off x="868680" y="1709928"/>
            <a:ext cx="10469880" cy="256032"/>
          </a:xfrm>
          <a:prstGeom prst="rect">
            <a:avLst/>
          </a:prstGeom>
          <a:noFill/>
          <a:ln/>
        </p:spPr>
        <p:txBody>
          <a:bodyPr wrap="square" lIns="254" tIns="254" rIns="254" bIns="254" rtlCol="0" anchor="ctr">
            <a:normAutofit/>
          </a:bodyPr>
          <a:lstStyle/>
          <a:p>
            <a:pPr indent="0" marL="0">
              <a:buNone/>
            </a:pPr>
            <a:r>
              <a:rPr lang="en-US" sz="2000" b="1" dirty="0">
                <a:solidFill>
                  <a:srgbClr val="2F6DB7"/>
                </a:solidFill>
              </a:rPr>
              <a:t>Ce que nous avons pratiqué</a:t>
            </a:r>
            <a:endParaRPr lang="en-US" sz="2000" dirty="0"/>
          </a:p>
        </p:txBody>
      </p:sp>
      <p:sp>
        <p:nvSpPr>
          <p:cNvPr id="11" name="Text 9"/>
          <p:cNvSpPr/>
          <p:nvPr/>
        </p:nvSpPr>
        <p:spPr>
          <a:xfrm>
            <a:off x="868680" y="2057400"/>
            <a:ext cx="10469880" cy="274320"/>
          </a:xfrm>
          <a:prstGeom prst="rect">
            <a:avLst/>
          </a:prstGeom>
          <a:noFill/>
          <a:ln/>
        </p:spPr>
        <p:txBody>
          <a:bodyPr wrap="square" lIns="254" tIns="254" rIns="254" bIns="254" rtlCol="0" anchor="t">
            <a:normAutofit/>
          </a:bodyPr>
          <a:lstStyle/>
          <a:p>
            <a:pPr indent="0" marL="0">
              <a:buNone/>
            </a:pPr>
            <a:r>
              <a:rPr lang="en-US" sz="2000" dirty="0">
                <a:solidFill>
                  <a:srgbClr val="374151"/>
                </a:solidFill>
              </a:rPr>
              <a:t>Emails professionnels complets, rapports internes, suivis, incidents, escalades et confidentialité.</a:t>
            </a:r>
            <a:endParaRPr lang="en-US" sz="2000" dirty="0"/>
          </a:p>
        </p:txBody>
      </p:sp>
      <p:sp>
        <p:nvSpPr>
          <p:cNvPr id="12" name="Shape 10"/>
          <p:cNvSpPr/>
          <p:nvPr/>
        </p:nvSpPr>
        <p:spPr>
          <a:xfrm>
            <a:off x="731520" y="2743200"/>
            <a:ext cx="10744200" cy="822960"/>
          </a:xfrm>
          <a:prstGeom prst="roundRect">
            <a:avLst>
              <a:gd name="adj" fmla="val 8889"/>
            </a:avLst>
          </a:prstGeom>
          <a:solidFill>
            <a:srgbClr val="F2EAF6"/>
          </a:solidFill>
          <a:ln w="12700">
            <a:solidFill>
              <a:srgbClr val="DCC6E6"/>
            </a:solidFill>
            <a:prstDash val="solid"/>
          </a:ln>
        </p:spPr>
      </p:sp>
      <p:sp>
        <p:nvSpPr>
          <p:cNvPr id="13" name="Text 11"/>
          <p:cNvSpPr/>
          <p:nvPr/>
        </p:nvSpPr>
        <p:spPr>
          <a:xfrm>
            <a:off x="868680" y="2852928"/>
            <a:ext cx="10469880" cy="256032"/>
          </a:xfrm>
          <a:prstGeom prst="rect">
            <a:avLst/>
          </a:prstGeom>
          <a:noFill/>
          <a:ln/>
        </p:spPr>
        <p:txBody>
          <a:bodyPr wrap="square" lIns="254" tIns="254" rIns="254" bIns="254" rtlCol="0" anchor="ctr">
            <a:normAutofit/>
          </a:bodyPr>
          <a:lstStyle/>
          <a:p>
            <a:pPr indent="0" marL="0">
              <a:buNone/>
            </a:pPr>
            <a:r>
              <a:rPr lang="en-US" sz="2000" b="1" dirty="0">
                <a:solidFill>
                  <a:srgbClr val="6B2C83"/>
                </a:solidFill>
              </a:rPr>
              <a:t>Ce que PDCA ajoute</a:t>
            </a:r>
            <a:endParaRPr lang="en-US" sz="2000" dirty="0"/>
          </a:p>
        </p:txBody>
      </p:sp>
      <p:sp>
        <p:nvSpPr>
          <p:cNvPr id="14" name="Text 12"/>
          <p:cNvSpPr/>
          <p:nvPr/>
        </p:nvSpPr>
        <p:spPr>
          <a:xfrm>
            <a:off x="868680" y="3200400"/>
            <a:ext cx="10469880" cy="274320"/>
          </a:xfrm>
          <a:prstGeom prst="rect">
            <a:avLst/>
          </a:prstGeom>
          <a:noFill/>
          <a:ln/>
        </p:spPr>
        <p:txBody>
          <a:bodyPr wrap="square" lIns="254" tIns="254" rIns="254" bIns="254" rtlCol="0" anchor="t">
            <a:normAutofit/>
          </a:bodyPr>
          <a:lstStyle/>
          <a:p>
            <a:pPr indent="0" marL="0">
              <a:buNone/>
            </a:pPr>
            <a:r>
              <a:rPr lang="en-US" sz="2000" dirty="0">
                <a:solidFill>
                  <a:srgbClr val="374151"/>
                </a:solidFill>
              </a:rPr>
              <a:t>Une logique d’amélioration continue : préparer, faire, vérifier et améliorer les écrits professionnels.</a:t>
            </a:r>
            <a:endParaRPr lang="en-US" sz="2000" dirty="0"/>
          </a:p>
        </p:txBody>
      </p:sp>
      <p:sp>
        <p:nvSpPr>
          <p:cNvPr id="15" name="Shape 13"/>
          <p:cNvSpPr/>
          <p:nvPr/>
        </p:nvSpPr>
        <p:spPr>
          <a:xfrm>
            <a:off x="731520" y="3886200"/>
            <a:ext cx="10744200" cy="822960"/>
          </a:xfrm>
          <a:prstGeom prst="roundRect">
            <a:avLst>
              <a:gd name="adj" fmla="val 8889"/>
            </a:avLst>
          </a:prstGeom>
          <a:solidFill>
            <a:srgbClr val="FFFFFF"/>
          </a:solidFill>
          <a:ln w="12700">
            <a:solidFill>
              <a:srgbClr val="D1D5DB"/>
            </a:solidFill>
            <a:prstDash val="solid"/>
          </a:ln>
        </p:spPr>
      </p:sp>
      <p:sp>
        <p:nvSpPr>
          <p:cNvPr id="16" name="Text 14"/>
          <p:cNvSpPr/>
          <p:nvPr/>
        </p:nvSpPr>
        <p:spPr>
          <a:xfrm>
            <a:off x="868680" y="3995928"/>
            <a:ext cx="10469880" cy="256032"/>
          </a:xfrm>
          <a:prstGeom prst="rect">
            <a:avLst/>
          </a:prstGeom>
          <a:noFill/>
          <a:ln/>
        </p:spPr>
        <p:txBody>
          <a:bodyPr wrap="square" lIns="254" tIns="254" rIns="254" bIns="254" rtlCol="0" anchor="ctr">
            <a:normAutofit/>
          </a:bodyPr>
          <a:lstStyle/>
          <a:p>
            <a:pPr indent="0" marL="0">
              <a:buNone/>
            </a:pPr>
            <a:r>
              <a:rPr lang="en-US" sz="2000" b="1" dirty="0">
                <a:solidFill>
                  <a:srgbClr val="1D3557"/>
                </a:solidFill>
              </a:rPr>
              <a:t>Prochaine étape</a:t>
            </a:r>
            <a:endParaRPr lang="en-US" sz="2000" dirty="0"/>
          </a:p>
        </p:txBody>
      </p:sp>
      <p:sp>
        <p:nvSpPr>
          <p:cNvPr id="17" name="Text 15"/>
          <p:cNvSpPr/>
          <p:nvPr/>
        </p:nvSpPr>
        <p:spPr>
          <a:xfrm>
            <a:off x="868680" y="4343400"/>
            <a:ext cx="10469880" cy="274320"/>
          </a:xfrm>
          <a:prstGeom prst="rect">
            <a:avLst/>
          </a:prstGeom>
          <a:noFill/>
          <a:ln/>
        </p:spPr>
        <p:txBody>
          <a:bodyPr wrap="square" lIns="254" tIns="254" rIns="254" bIns="254" rtlCol="0" anchor="t">
            <a:normAutofit/>
          </a:bodyPr>
          <a:lstStyle/>
          <a:p>
            <a:pPr indent="0" marL="0">
              <a:buNone/>
            </a:pPr>
            <a:r>
              <a:rPr lang="en-US" sz="2000" dirty="0">
                <a:solidFill>
                  <a:srgbClr val="374151"/>
                </a:solidFill>
              </a:rPr>
              <a:t>Approfondir l’email professionnel, l’organisation numérique des emails et les bonnes pratiques de classement et de suivi.</a:t>
            </a:r>
            <a:endParaRPr lang="en-US" sz="2000" dirty="0"/>
          </a:p>
        </p:txBody>
      </p:sp>
      <p:sp>
        <p:nvSpPr>
          <p:cNvPr id="18" name="Text 16"/>
          <p:cNvSpPr/>
          <p:nvPr/>
        </p:nvSpPr>
        <p:spPr>
          <a:xfrm>
            <a:off x="731520" y="5669280"/>
            <a:ext cx="10744200" cy="320040"/>
          </a:xfrm>
          <a:prstGeom prst="rect">
            <a:avLst/>
          </a:prstGeom>
          <a:noFill/>
          <a:ln/>
        </p:spPr>
        <p:txBody>
          <a:bodyPr wrap="square" lIns="0" tIns="0" rIns="0" bIns="0" rtlCol="0" anchor="ctr"/>
          <a:lstStyle/>
          <a:p>
            <a:pPr algn="ctr" indent="0" marL="0">
              <a:buNone/>
            </a:pPr>
            <a:r>
              <a:rPr lang="en-US" sz="2200" b="1" dirty="0">
                <a:solidFill>
                  <a:srgbClr val="6B2C83"/>
                </a:solidFill>
              </a:rPr>
              <a:t>Question de clôture : quel écrit professionnel vais-je améliorer en premier ?</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Formation interne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Séance 4 - Rédiger des emails, rapports internes et suivis professionnels</dc:title>
  <dc:subject>Communication interne professionnelle - Séance 4</dc:subject>
  <dc:creator>Youssef Joul</dc:creator>
  <cp:lastModifiedBy>Youssef Joul</cp:lastModifiedBy>
  <cp:revision>1</cp:revision>
  <dcterms:created xsi:type="dcterms:W3CDTF">2026-06-06T18:38:40Z</dcterms:created>
  <dcterms:modified xsi:type="dcterms:W3CDTF">2026-06-06T18:38:40Z</dcterms:modified>
</cp:coreProperties>
</file>