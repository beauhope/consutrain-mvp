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6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4" r:id="rId29"/>
    <p:sldId id="285" r:id="rId30"/>
    <p:sldId id="281" r:id="rId31"/>
    <p:sldId id="282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716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séance comme un atelier de formulation : on ne répète pas les séances 1 et 2, on transforme les méthodes en réflexes de rédaction professionnelle.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un rappel très court. Les méthodes sont gardées comme mémoire de travail, sans refaire les explications des séances précédentes.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objectifs et préciser que la séance est volontairement très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cette slide comme carte globale. Ne pas détailler encore chaque partie : les slides suivantes vont expliquer les composants.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À n’est pas une formalité. C’est la personne qui doit lire et agir principalement.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 CC sert à la transparence utile, pas à se protéger ou à remplir le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CCI avec prudence. Dans une organisation, il peut être utile pour un envoi massif, mais il peut créer de la méfiance si mal utilisé.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comprendre que l’objet doit permettre de prioriser sans ouvrir le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ces indications sont utiles si l’organisation les accepte. Ne pas en abuser.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vérification avant envoi : fichier correct, version, droits d’accès, données confidentielles.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trois boutons comme des décisions de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travailler individuellement 4 minutes puis correction rapide.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des corrections possibles, en rappelant que la procédure interne prime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qu’un message sans espace paraît agressif, confus et fatigant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Préciser que dans un message professionnel en français, l’alignement à gauche est la norme.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simplement la différence entre paragraphe, liste à puces et retrait.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4E565-B255-F375-4661-F6D7167A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69C9A-6DAB-7B72-1BEC-B2360B457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4A27A-D09B-50C6-2933-B47FAC0DF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simplement la différence entre paragraphe, liste à puces et retrait.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9A705-95D5-149C-B5FC-2723DBC51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43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Introduire un nouvel acronyme spécifique à la mise en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à FIAB, sans refaire toute la séance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Demander aux participants de reformater le message, pas seulement de le réécrire.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le message amélioré est plus long mais beaucoup plus exploitable.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lire les erreurs et demander au groupe celles qu’il a déjà vues.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Atelier en groupes. Demander aux participants de détecter les défauts, puis de proposer une correction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chercher une correction unique. Montrer les points de vigilance.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Atelier final pour consolider tous les éléments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cette grille comme un outil mental à utiliser avant chaque envoi.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143F-96A2-BA33-AF73-675C5171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FEB7D-8A74-96C3-1AD2-A69858850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EA0B6-F38B-C269-3156-085C681C3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cette grille comme un outil mental à utiliser avant chaque envoi.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458BB-0BF1-3AEF-CC89-C72D01AE32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63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33582-8E6C-4C9D-EF21-2BBCBB5F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CADBC-E260-2C5B-9A19-70303E885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AE894-3FB8-D344-A6AD-728B9959B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cette grille comme un outil mental à utiliser avant chaque envoi.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AC6B2-C329-D911-0BED-48FFC9653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572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E8E6-12A5-6C1B-5763-E1BD1D3B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EB049-DD5F-74D9-73D7-2A23B58AB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B13B3-B694-F245-9007-4854DB6B2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cette grille comme un outil mental à utiliser avant chaque envoi.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1B3A1-C432-2193-99BE-36139E26C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080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répéter les cinq étapes. C’est la clôture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que la suite utilisera les messages bien structurés pour produire des emails, rapports, suivis et escalades plus professionnels.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8813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Formuler un message interne clair : symboles, structure, espaces et mise en forme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Durée : 3 h avec pause · Approche pratique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955280" y="393192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30 % explication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70 % pratique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Formateur en Entreprise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départ : ce qui reste en mémoire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85800" y="150876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63677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C.L.A.I.R.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50392" y="1993392"/>
            <a:ext cx="50657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· Lien organisationnel · Action attendue · Information utile · Retour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309360" y="150876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1636776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I.D.E.A.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73952" y="1993392"/>
            <a:ext cx="488289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Informer · Demander · Escalader · Alerter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85800" y="269748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" y="282549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RACI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0392" y="3182112"/>
            <a:ext cx="50657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· Accountable · Consulted · Informed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309360" y="269748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2825496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F.I.A.B.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73952" y="3182112"/>
            <a:ext cx="488289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Faits · Impact · Action faite · Besoin attendu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2880360" y="3886200"/>
            <a:ext cx="6400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44952" y="4014216"/>
            <a:ext cx="6071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044952" y="4370832"/>
            <a:ext cx="60716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Spécifique · Mesurable · Acceptable · Réaliste · Temporel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005840" y="5257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de la séance : transformer ces méthodes en messages bien présentés, lisibles et directement exploitables.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Objectifs pratiques de la séance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1508760"/>
            <a:ext cx="1078992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 les symboles et champs utilisés dans un message professionnel.</a:t>
            </a:r>
            <a:endParaRPr lang="en-US" sz="2400" dirty="0"/>
          </a:p>
          <a:p>
            <a:r>
              <a:rPr lang="en-US" sz="2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Savoir placer À, CC, CCI, Objet, PJ, signature et mentions de suivi.</a:t>
            </a:r>
            <a:endParaRPr lang="en-US" sz="2400" dirty="0"/>
          </a:p>
          <a:p>
            <a:r>
              <a:rPr lang="en-US" sz="2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Maîtriser l’espace entre les composants du message : lignes vides, paragraphes et blocs.</a:t>
            </a:r>
            <a:endParaRPr lang="en-US" sz="2400" dirty="0"/>
          </a:p>
          <a:p>
            <a:r>
              <a:rPr lang="en-US" sz="2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les erreurs de positionnement : gauche/droite, alignement, retrait et indentation.</a:t>
            </a:r>
            <a:endParaRPr lang="en-US" sz="2400" dirty="0"/>
          </a:p>
          <a:p>
            <a:r>
              <a:rPr lang="en-US" sz="2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Rédiger un message lisible, court, respectueux et orienté action.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280160" y="4828031"/>
            <a:ext cx="9692640" cy="978409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54480" y="53218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attendu : chaque participant sait construire un message complet avant de cliquer sur “Envoyer”.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structure complète d’un message professionnel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14400" y="1417320"/>
            <a:ext cx="50292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508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14538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Destinataires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800600" y="145389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/ CC / CCI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14400" y="2075688"/>
            <a:ext cx="50292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" y="2167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00200" y="21122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800600" y="21122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Sujet précis + action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14400" y="2734056"/>
            <a:ext cx="50292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33272" y="28254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600200" y="27706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Salutation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4800600" y="277063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Bonjour / Bonsoir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914400" y="3392424"/>
            <a:ext cx="50292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33272" y="34838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600200" y="34290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Corps du message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4800600" y="34290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Contexte, faits, impact, besoin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914400" y="4050792"/>
            <a:ext cx="50292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3272" y="41422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600200" y="40873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Pièces jointes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4800600" y="40873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PJ annoncées et vérifiées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914400" y="4709160"/>
            <a:ext cx="50292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33272" y="48006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600200" y="47457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Clôture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4800600" y="474573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Remerciement + formule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914400" y="5367528"/>
            <a:ext cx="50292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33272" y="5458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600200" y="5404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4800600" y="540410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Nom, fonction, équipe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914400" y="61081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simple : chaque composant doit aider le destinataire à comprendre, agir ou suivre.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symboles et champs : À / 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1463040"/>
            <a:ext cx="548640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591056"/>
            <a:ext cx="5157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/ To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41832" y="1947672"/>
            <a:ext cx="51572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Destinataire principal du message. C’est la personne ou l’équipe qui doit comprendre, répondre, valider ou agir.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92240" y="1463040"/>
            <a:ext cx="489204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56832" y="159105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contrôle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56832" y="1947672"/>
            <a:ext cx="45628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doit faire quelque chose après ce message ? Si la réponse est claire, cette personne est probablement dans “À”.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14400" y="3154680"/>
            <a:ext cx="104241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Mettre une seule personne principale quand c’est possible.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de mettre tout le monde en destinataire principal.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confondre “À” avec “je veux que tout le monde voie”.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l’action dépend du superviseur, le superviseur doit être dans “À”.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097280" y="58064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Mini-règle : À = responsabilité de lecture et d’action.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symboles et champs : CC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39496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54533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96112" y="1901952"/>
            <a:ext cx="506577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 visible. Les personnes en CC reçoivent le message pour information, suivi ou transparence.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355080" y="1417320"/>
            <a:ext cx="512064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1545336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éviter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19672" y="1901952"/>
            <a:ext cx="479145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Mettre un collègue en CC pour pression, justification ou diffusion excessive.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3063240"/>
            <a:ext cx="106984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CC pour les personnes concernées mais non responsables de l’action principale.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Informer la qualité, le support ou le manager seulement si le sujet le justifie.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CC inutile augmente le bruit et ralentit la lecture.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 d’ajouter un CC : “Cette personne a-t-elle besoin de cette information maintenant ?”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1828800" y="5715000"/>
            <a:ext cx="8503920" cy="411480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57400" y="5742431"/>
            <a:ext cx="804672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 = information utile, pas action principale.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symboles et champs : CCI / BCC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39496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54533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CCI / BCC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96112" y="1901952"/>
            <a:ext cx="50657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 cachée. Les autres destinataires ne voient pas la personne ajoutée en CCI.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355080" y="1417320"/>
            <a:ext cx="512064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1545336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Utilisation prudente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19672" y="1901952"/>
            <a:ext cx="47914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Envoi large, liste de contacts à protéger, confidentialité des adresses. À éviter dans les échanges opérationnels sensibles.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3063240"/>
            <a:ext cx="105156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utiliser CCI pour contourner la hiérarchie.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cacher un responsable dans un conflit ou une tension interne.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un message opérationnel, préférer la transparence : À ou CC selon le rôle.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CCI surtout quand il faut protéger les adresses de plusieurs destinataires.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188720" y="574243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03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professionnelle : la CCI doit protéger, pas piéger.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L’objet du message : le premier filtre de lecture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1417320"/>
            <a:ext cx="539496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54533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bon objet contient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41832" y="1901952"/>
            <a:ext cx="50657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sujet + l’action attendue + éventuellement l’urgence ou la référence.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355080" y="1417320"/>
            <a:ext cx="502920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154533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 utiles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19672" y="1901952"/>
            <a:ext cx="470001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 requise] Validation réponse client – dossier 4582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[Suivi] Statut demande RH – équipe matin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[Alerte] Outil X indisponible depuis 10h20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Objets faibles à éviter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051560" y="3886200"/>
            <a:ext cx="38404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Problème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Besoin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3212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Objets améliorés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5715000" y="3886200"/>
            <a:ext cx="58521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Blocage outil X – 6 dossiers impactés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attendue avant 16h – réponse client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Escalade procédure non couverte – dossier 4582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Symboles pratiques dans l’objet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1417320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154533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[Info]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87552" y="1901952"/>
            <a:ext cx="4562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simple, pas d’action immédiate.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309360" y="1417320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154533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[Action requise]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73952" y="1901952"/>
            <a:ext cx="4562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action ou réponse est attendue.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22960" y="2743200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87121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[Validation]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87552" y="3227832"/>
            <a:ext cx="4562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ou accord nécessaire.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309360" y="2743200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287121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[Alerte]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73952" y="3227832"/>
            <a:ext cx="4562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Risque, blocage ou urgence à signaler.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22960" y="4069080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419709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[Suivi]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987552" y="4553712"/>
            <a:ext cx="4562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d’avancement ou relance.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309360" y="4069080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4197096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[Confidentiel]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473952" y="4553712"/>
            <a:ext cx="4562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sensible à limiter aux personnes autorisées.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60120" y="571500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: le symbole ne remplace pas un objet clair. Il l’aide seulement.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Pièce jointe / PJ : annoncer et vérifier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371600"/>
            <a:ext cx="53035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49961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PJ / Attachment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96112" y="1856232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ajouté au message : fichier, capture autorisée, formulaire, tableau, rapport ou preuve.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309360" y="1371600"/>
            <a:ext cx="516636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1499616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utile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73952" y="1856232"/>
            <a:ext cx="48371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Veuillez trouver ci-joint le formulaire complété.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joins également la capture autorisée et le tableau de suivi.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2926080"/>
            <a:ext cx="105156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569913" indent="-569913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 le fichier clairement : Rapport_incident_2026-06-01.pdf.</a:t>
            </a:r>
            <a:endParaRPr lang="en-US" sz="2300" dirty="0"/>
          </a:p>
          <a:p>
            <a:pPr marL="569913" indent="-569913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que la bonne version est jointe.</a:t>
            </a:r>
            <a:endParaRPr lang="en-US" sz="2300" dirty="0"/>
          </a:p>
          <a:p>
            <a:pPr marL="569913" indent="-569913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d’envoyer des données clients inutiles ou sensibles.</a:t>
            </a:r>
            <a:endParaRPr lang="en-US" sz="2300" dirty="0"/>
          </a:p>
          <a:p>
            <a:pPr marL="569913" indent="-569913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Annoncer la PJ dans le corps du message.</a:t>
            </a:r>
            <a:endParaRPr lang="en-US" sz="2300" dirty="0"/>
          </a:p>
          <a:p>
            <a:pPr marL="569913" indent="-569913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le fichier manque : corriger rapidement avec un message bref.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Répondre, répondre à tous, transférer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85800" y="1463040"/>
            <a:ext cx="34747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59105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Répondre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50392" y="1947672"/>
            <a:ext cx="31455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au dernier expéditeur. À utiliser quand les autres n’ont pas besoin de la réponse.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343400" y="1463040"/>
            <a:ext cx="34747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159105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Répondre à tous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07992" y="1947672"/>
            <a:ext cx="31455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visible par tous les destinataires. À utiliser seulement si tout le monde doit suivre.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01000" y="1463040"/>
            <a:ext cx="34747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65592" y="159105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Transférer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165592" y="1947672"/>
            <a:ext cx="31455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Envoi du message à une nouvelle personne. Ajouter le contexte avant de transférer.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14400" y="3383279"/>
            <a:ext cx="10424160" cy="25947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répondre à tous par habitude.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transférer un fil long sans expliquer ce qui est attendu.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 transfert : supprimer les parties non nécessaires si la confidentialité l’exige.</a:t>
            </a:r>
            <a:endParaRPr lang="en-US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une phrase d’introduction : “Pour traitement”, “Pour avis”, “Pour validation”.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Mini-atelier 1 : choisir À, CC ou CCI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14173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 : pour chaque situation, indiquez qui mettre en À, en CC et si la CCI est utile.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68680" y="1920240"/>
            <a:ext cx="548640" cy="420624"/>
          </a:xfrm>
          <a:prstGeom prst="roundRect">
            <a:avLst>
              <a:gd name="adj" fmla="val 1087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9848" y="2011680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00200" y="195681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outil est bloqué et 8 dossiers sont en attente.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68680" y="2697480"/>
            <a:ext cx="548640" cy="420624"/>
          </a:xfrm>
          <a:prstGeom prst="roundRect">
            <a:avLst>
              <a:gd name="adj" fmla="val 1087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2788920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600200" y="273405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Vous envoyez une note générale à tout le groupe.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68680" y="3474720"/>
            <a:ext cx="548640" cy="420624"/>
          </a:xfrm>
          <a:prstGeom prst="roundRect">
            <a:avLst>
              <a:gd name="adj" fmla="val 1087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9848" y="3566160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600200" y="351129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Vous demandez au superviseur de valider une réponse client.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868680" y="4251960"/>
            <a:ext cx="548640" cy="420624"/>
          </a:xfrm>
          <a:prstGeom prst="roundRect">
            <a:avLst>
              <a:gd name="adj" fmla="val 1087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9848" y="4343400"/>
            <a:ext cx="146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600200" y="4288536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Vous transmettez un rapport qualité au manager, avec suivi par l’équipe qualité.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965960" y="54864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A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48840" y="564184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Temps : 5 minutes · Correction collective avec justification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possible : À, CC ou CCI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1417320"/>
            <a:ext cx="3383280" cy="640080"/>
          </a:xfrm>
          <a:prstGeom prst="rect">
            <a:avLst/>
          </a:prstGeom>
          <a:solidFill>
            <a:srgbClr val="4472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490472"/>
            <a:ext cx="32369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77640" y="1417320"/>
            <a:ext cx="2834640" cy="640080"/>
          </a:xfrm>
          <a:prstGeom prst="rect">
            <a:avLst/>
          </a:prstGeom>
          <a:solidFill>
            <a:srgbClr val="4472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0792" y="1490472"/>
            <a:ext cx="26883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12280" y="1417320"/>
            <a:ext cx="3017520" cy="640080"/>
          </a:xfrm>
          <a:prstGeom prst="rect">
            <a:avLst/>
          </a:prstGeom>
          <a:solidFill>
            <a:srgbClr val="4472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1490472"/>
            <a:ext cx="28712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829800" y="1417320"/>
            <a:ext cx="1828800" cy="640080"/>
          </a:xfrm>
          <a:prstGeom prst="rect">
            <a:avLst/>
          </a:prstGeom>
          <a:solidFill>
            <a:srgbClr val="4472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02952" y="1490472"/>
            <a:ext cx="1682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CCI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4360" y="205740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" y="2130552"/>
            <a:ext cx="32369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Outil bloqué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977640" y="2057400"/>
            <a:ext cx="2834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50792" y="2130552"/>
            <a:ext cx="26883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Superviseur / support officiel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12280" y="205740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5432" y="2130552"/>
            <a:ext cx="28712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 impactée si nécessaire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829800" y="205740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02952" y="2130552"/>
            <a:ext cx="1682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94360" y="2697480"/>
            <a:ext cx="338328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" y="2770632"/>
            <a:ext cx="32369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générale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977640" y="2697480"/>
            <a:ext cx="283464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50792" y="2770632"/>
            <a:ext cx="26883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 concerné ou liste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812280" y="2697480"/>
            <a:ext cx="301752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85432" y="2770632"/>
            <a:ext cx="28712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si utile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9829800" y="2697480"/>
            <a:ext cx="182880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902952" y="2770632"/>
            <a:ext cx="1682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 si liste large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94360" y="333756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7512" y="3410712"/>
            <a:ext cx="32369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réponse client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3977640" y="3337560"/>
            <a:ext cx="2834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50792" y="3410712"/>
            <a:ext cx="26883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Superviseur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6812280" y="3337560"/>
            <a:ext cx="3017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85432" y="3410712"/>
            <a:ext cx="28712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 si procédure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9829800" y="333756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902952" y="3410712"/>
            <a:ext cx="1682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594360" y="3977640"/>
            <a:ext cx="338328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7512" y="4050792"/>
            <a:ext cx="32369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 qualité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3977640" y="3977640"/>
            <a:ext cx="283464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050792" y="4050792"/>
            <a:ext cx="268833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6812280" y="3977640"/>
            <a:ext cx="301752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85432" y="4050792"/>
            <a:ext cx="28712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 qualité / superviseur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9829800" y="3977640"/>
            <a:ext cx="1828800" cy="640080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902952" y="4050792"/>
            <a:ext cx="1682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777240" y="5212080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Remarque : la réponse exacte dépend de l’organigramme et des procédures internes.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Espaces entre les composants : la lisibilité avant tout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1417320"/>
            <a:ext cx="33832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54533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41832" y="1901952"/>
            <a:ext cx="30540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ligne vide après la salutation.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434840" y="1417320"/>
            <a:ext cx="33832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9432" y="154533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99432" y="1901952"/>
            <a:ext cx="30540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paragraphe = une idée ou une action.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92440" y="1417320"/>
            <a:ext cx="338328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57032" y="154533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257032" y="1901952"/>
            <a:ext cx="30540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ligne vide avant la formule de clôture.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296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Modèle conseillé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822960" y="3154679"/>
            <a:ext cx="10561320" cy="3128133"/>
          </a:xfrm>
          <a:prstGeom prst="roundRect">
            <a:avLst>
              <a:gd name="adj" fmla="val 1633"/>
            </a:avLst>
          </a:prstGeom>
          <a:solidFill>
            <a:srgbClr val="F5F8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3337560"/>
            <a:ext cx="10012680" cy="29452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Bonjour,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/ fait principal en 1 ou 2 lignes.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ou risque observé.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déjà faite + besoin attendu.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 cordialement,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gauche / droite : garder une lecture naturelle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2120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545336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français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96112" y="1901952"/>
            <a:ext cx="4882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Alignement à gauche pour l’objet, le corps, la formule et la signature.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63640" y="1417320"/>
            <a:ext cx="52120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8232" y="1545336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éviter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28232" y="1901952"/>
            <a:ext cx="4882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Centrer tout le message, aligner à droite sans raison ou mélanger plusieurs alignements.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92327" y="2798015"/>
            <a:ext cx="10607040" cy="3593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texte principal se lit de gauche à droite : garder l’alignement à gauche.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centrage peut être réservé à un titre dans une note officielle, pas à un email courant.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tableaux peuvent être utilisés pour structurer des informations, mais avec sobriété.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coller la signature à droite : elle doit rester dans le flux de lecture.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Retraits et indentation : quand les utiliser 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2578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545336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Sans retrait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96112" y="1901952"/>
            <a:ext cx="49286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les paragraphes courts et directs. C’est le format le plus lisible pour un email.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63640" y="1417320"/>
            <a:ext cx="52120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8232" y="1545336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Avec retrait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28232" y="1901952"/>
            <a:ext cx="48828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les listes, sous-points ou informations à distinguer visuellement.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14400" y="2788920"/>
            <a:ext cx="4937760" cy="2286000"/>
          </a:xfrm>
          <a:prstGeom prst="roundRect">
            <a:avLst>
              <a:gd name="adj" fmla="val 1600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297180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 sans retrait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a rappelé pour le même dossier. Le statut n’est pas clair dans l’outil. Merci de confirmer la réponse à communiquer.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355080" y="2788920"/>
            <a:ext cx="4937760" cy="2286000"/>
          </a:xfrm>
          <a:prstGeom prst="roundRect">
            <a:avLst>
              <a:gd name="adj" fmla="val 1600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297180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avec retrait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déjà faites :</a:t>
            </a:r>
            <a:endParaRPr lang="en-US" sz="2000" dirty="0"/>
          </a:p>
          <a:p>
            <a:pPr marL="285750" lvl="1" indent="171450"/>
            <a:r>
              <a:rPr lang="en-US" sz="20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vérification de l’historique ;</a:t>
            </a:r>
            <a:endParaRPr lang="en-US" sz="2000" dirty="0"/>
          </a:p>
          <a:p>
            <a:pPr marL="285750" lvl="1" indent="171450"/>
            <a:r>
              <a:rPr lang="en-US" sz="20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consultation des notes ;</a:t>
            </a:r>
            <a:endParaRPr lang="en-US" sz="2000" dirty="0"/>
          </a:p>
          <a:p>
            <a:pPr marL="285750" lvl="1" indent="171450"/>
            <a:r>
              <a:rPr lang="en-US" sz="20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tentative de mise à jour.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51560" y="56692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: pas de retrait décoratif. Le retrait doit aider la lecture.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AFDF4-44A8-E70F-CFFA-A81318AF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541252-0359-6158-7A55-1E338F8403E0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5EEE1D-D852-0F7A-978A-97FEB19DAED7}"/>
              </a:ext>
            </a:extLst>
          </p:cNvPr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D53484-BACC-6A89-D63D-D6125ACA45E9}"/>
              </a:ext>
            </a:extLst>
          </p:cNvPr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A8ABC3-F1EE-1C05-4BBE-AD77DBEE131F}"/>
              </a:ext>
            </a:extLst>
          </p:cNvPr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5E06B5-6EC7-AA41-9E7A-D3D1F1C9F65E}"/>
              </a:ext>
            </a:extLst>
          </p:cNvPr>
          <p:cNvSpPr/>
          <p:nvPr/>
        </p:nvSpPr>
        <p:spPr>
          <a:xfrm>
            <a:off x="495147" y="494267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fr-MA" sz="2800" b="1" dirty="0"/>
              <a:t>Phrases professionnelles à mémoriser</a:t>
            </a:r>
            <a:endParaRPr lang="en-US" sz="2800" b="1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E0D8713-D4CC-1047-DA5C-A9EEC1910B1E}"/>
              </a:ext>
            </a:extLst>
          </p:cNvPr>
          <p:cNvSpPr/>
          <p:nvPr/>
        </p:nvSpPr>
        <p:spPr>
          <a:xfrm>
            <a:off x="525780" y="969755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F273B4-B8BF-35F1-5BCF-0CCDC9AC42D5}"/>
              </a:ext>
            </a:extLst>
          </p:cNvPr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AD0BB2-741D-EAAD-368F-A409FF956358}"/>
              </a:ext>
            </a:extLst>
          </p:cNvPr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F29A9F5-77F7-8FAE-BF94-2188A492531F}"/>
              </a:ext>
            </a:extLst>
          </p:cNvPr>
          <p:cNvSpPr/>
          <p:nvPr/>
        </p:nvSpPr>
        <p:spPr>
          <a:xfrm>
            <a:off x="10284542" y="1265370"/>
            <a:ext cx="1700981" cy="3453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: </a:t>
            </a:r>
            <a:r>
              <a:rPr lang="fr-MA" sz="1600" b="1" dirty="0">
                <a:solidFill>
                  <a:srgbClr val="2F5597"/>
                </a:solidFill>
                <a:latin typeface="Aptos" pitchFamily="34" charset="0"/>
              </a:rPr>
              <a:t>Une bonne phrase professionnelle est simple, claire, respectueuse et orientée action</a:t>
            </a:r>
            <a:r>
              <a:rPr lang="fr-MA" sz="1600" dirty="0"/>
              <a:t>.</a:t>
            </a:r>
            <a:r>
              <a:rPr lang="en-US" sz="16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82A749-E555-C7C6-3014-50D99E8BF2FF}"/>
              </a:ext>
            </a:extLst>
          </p:cNvPr>
          <p:cNvSpPr txBox="1"/>
          <p:nvPr/>
        </p:nvSpPr>
        <p:spPr>
          <a:xfrm>
            <a:off x="424261" y="926816"/>
            <a:ext cx="83067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/>
              <a:t>Pour commencer, introduire et formuler clairement un message interne.</a:t>
            </a:r>
            <a:endParaRPr lang="fr-FR" sz="16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313A5EF-948F-ED8B-C546-9E25712FE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74115"/>
              </p:ext>
            </p:extLst>
          </p:nvPr>
        </p:nvGraphicFramePr>
        <p:xfrm>
          <a:off x="424260" y="1308309"/>
          <a:ext cx="10165081" cy="506974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165342">
                  <a:extLst>
                    <a:ext uri="{9D8B030D-6E8A-4147-A177-3AD203B41FA5}">
                      <a16:colId xmlns:a16="http://schemas.microsoft.com/office/drawing/2014/main" val="2954886392"/>
                    </a:ext>
                  </a:extLst>
                </a:gridCol>
                <a:gridCol w="6999739">
                  <a:extLst>
                    <a:ext uri="{9D8B030D-6E8A-4147-A177-3AD203B41FA5}">
                      <a16:colId xmlns:a16="http://schemas.microsoft.com/office/drawing/2014/main" val="1420003482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sz="1600" b="1" dirty="0"/>
                        <a:t>Situation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sz="1600" b="1" dirty="0"/>
                        <a:t>Formulation possible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33619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Salutation simple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Bonjour,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242747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Salutation plus personnalisée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Bonjour [Prénom],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047246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Introduire une information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Je vous informe que…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06319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/>
                        <a:t>Introduire une demande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Je me permets de vous solliciter concernant…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567962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/>
                        <a:t>Demander une validation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Merci de bien vouloir confirmer / valider…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7454563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/>
                        <a:t>Signaler un problème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Je souhaite vous signaler une difficulté concernant…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5082481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/>
                        <a:t>Donner le contexte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Suite à [situation / échange / demande], je vous transmets…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65261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/>
                        <a:t>Faire un suivi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Je reviens vers vous concernant…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8839255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/>
                        <a:t>Relancer poliment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Sauf erreur de ma part, je n’ai pas encore reçu de retour concernant…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808515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/>
                        <a:t>Demander une orientation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Merci de m’indiquer la marche à suivre.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673169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/>
                        <a:t>Clôture simple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Bien cordialement,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5562046"/>
                  </a:ext>
                </a:extLst>
              </a:tr>
              <a:tr h="59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Clôture avec attente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MA" sz="1800" dirty="0"/>
                        <a:t>Dans l’attente de votre retour, je vous remercie par avance.</a:t>
                      </a:r>
                    </a:p>
                  </a:txBody>
                  <a:tcPr marL="67990" marR="67990" marT="33995" marB="339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477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92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méthode P.L.A.C.E. pour mettre en forme un message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68680" y="145389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156362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08760" y="14356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657600" y="1435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composant est à sa place : À, CC, Objet, Corps, PJ, Signature.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68680" y="232257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243230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508760" y="23042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Lisibilité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3657600" y="23042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Paragraphes courts, lignes vides et phrases simples.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868680" y="319125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30098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08760" y="31729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Alignement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3657600" y="31729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Alignement à gauche, même logique de lecture du début à la fin.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868680" y="405993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416966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50876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Clarté visuelle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3657600" y="40416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Puces ou tableau si cela facilite la compréhension.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868680" y="492861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03834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508760" y="49103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Espacement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3657600" y="4910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entre les blocs, sans exagération ni grand vide.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960120" y="589788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complète CLAIR : CLAIR structure le fond, PLACE structure la forme.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Formuler le corps du message : du vague au professionnel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3035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5453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vague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96112" y="1901952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Bonjour, il y a encore un souci avec un dossier. Merci de voir rapidement.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309360" y="1417320"/>
            <a:ext cx="521208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1545336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professionnel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73952" y="1901952"/>
            <a:ext cx="4882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Faits + Impact + Action déjà faite + Besoin attendu.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6868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recommandée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960120" y="3246120"/>
            <a:ext cx="102412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Contexte : de quoi parle le message ?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Faits : que s’est-il passé, quand, sur quel dossier ?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Impact : retard, risque, insatisfaction, blocage.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Action déjà faite : vérification, appel, recherche, relance.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Besoin attendu : validation, réponse, traitement, arbitrage.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Mini-atelier 2 : corriger la mise en forme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à améliorer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777240" y="1783080"/>
            <a:ext cx="10652760" cy="1874520"/>
          </a:xfrm>
          <a:prstGeom prst="roundRect">
            <a:avLst>
              <a:gd name="adj" fmla="val 1951"/>
            </a:avLst>
          </a:prstGeom>
          <a:solidFill>
            <a:srgbClr val="FFF2F2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2103120"/>
            <a:ext cx="10104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bonjour le client a rappelé encore pour sa demande il dit qu’on lui a déjà promis un retour mais je ne trouve rien de clair dans l’outil merci de voir avec le service concerné c urgent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7724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Travail demandé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960120" y="4343400"/>
            <a:ext cx="102412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Proposer un objet clair.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 À et CC.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les espaces, paragraphes et une formule correcte.</a:t>
            </a:r>
            <a:endParaRPr lang="en-US" sz="2200" dirty="0"/>
          </a:p>
          <a:p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Structurer avec FIAB et préciser le besoin attendu.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54480" y="59893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Temps : 8 minutes · Travail individuel puis correction collective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possible : message reformulé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1371600"/>
            <a:ext cx="10652760" cy="4343400"/>
          </a:xfrm>
          <a:prstGeom prst="roundRect">
            <a:avLst>
              <a:gd name="adj" fmla="val 842"/>
            </a:avLst>
          </a:prstGeom>
          <a:solidFill>
            <a:srgbClr val="F5F8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1600200"/>
            <a:ext cx="10195560" cy="3886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: Superviseur direct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 : Back-office ou qualité, selon procédure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: [Action requise] Suivi demande client – statut non clair dans l’outil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Bonjour,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[référence] a rappelé aujourd’hui concernant sa demande [objet]. Il indique qu’un retour lui avait déjà été promis, mais je ne trouve pas de statut clair dans l’outil.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: le client reste sans réponse et le dossier risque de générer une nouvelle réclamation.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déjà faite : vérification de l’historique et des notes disponibles.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Besoin : merci de confirmer le statut réel du dossier et la réponse à communiquer au client.</a:t>
            </a:r>
            <a:endParaRPr lang="en-US" sz="1650" dirty="0"/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 cordialement,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[Nom]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14400" y="598932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forts : objet clair · destinataire précis · espaces · impact · action faite · besoin attendu.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erreurs fréquentes de formulation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" y="1417320"/>
            <a:ext cx="1078992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trop vague : “urgent”, “problème”, “suivi”.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sans contexte : le destinataire doit deviner le dossier ou l’impact.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 de destinataires en À ou en CC.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 paragraphe : un bloc difficile à lire.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 émotionnel : “vous n’avez pas répondu”, “toujours le même problème”.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attendue absente : personne ne sait quoi faire après lecture.</a:t>
            </a:r>
            <a:endParaRPr lang="en-US" sz="23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Pièce jointe annoncée mais oubliée.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05840" y="5989320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Réflexe : avant d’envoyer, relire comme si le destinataire découvrait totalement le sujet.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Mini-atelier 3 : diagnostic d’un message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14173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 : repérez au moins 6 défauts dans ce message.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777240" y="1874520"/>
            <a:ext cx="10652760" cy="2057400"/>
          </a:xfrm>
          <a:prstGeom prst="roundRect">
            <a:avLst>
              <a:gd name="adj" fmla="val 1778"/>
            </a:avLst>
          </a:prstGeom>
          <a:solidFill>
            <a:srgbClr val="FFF7E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2148840"/>
            <a:ext cx="10058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: Urgent</a:t>
            </a: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Svp le dossier ne marche pas et le client est fâché. Je pense que le back-office doit faire quelque chose. J’ai déjà envoyé hier mais pas de réponse. Merci de faire le nécessaire.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960120" y="4114800"/>
            <a:ext cx="10149840" cy="1664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Quels champs manquent ?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L’objet est-il exploitable ?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doit agir ?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Quelles informations sont absentes ?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ton doit être corrigé ?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286000" y="6080761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Temps : 7 minutes en groupes de 3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possible : diagnostic rapide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85800" y="1417320"/>
            <a:ext cx="4754880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1499616"/>
            <a:ext cx="45354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Défaut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40680" y="1417320"/>
            <a:ext cx="6217920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0408" y="1499616"/>
            <a:ext cx="59984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attendue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5800" y="2039112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528" y="2121408"/>
            <a:ext cx="45354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vague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40680" y="2039112"/>
            <a:ext cx="6217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0408" y="2121408"/>
            <a:ext cx="59984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précis avec dossier, action, urgence réelle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5800" y="2660904"/>
            <a:ext cx="475488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2743200"/>
            <a:ext cx="45354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Destinataire absent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440680" y="2660904"/>
            <a:ext cx="621792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0408" y="2743200"/>
            <a:ext cx="59984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: personne responsable ; CC : personnes utiles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85800" y="3282696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5528" y="3364992"/>
            <a:ext cx="45354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Faits incomplets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440680" y="3282696"/>
            <a:ext cx="6217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50408" y="3364992"/>
            <a:ext cx="59984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Référence, heure, demande, statut observé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85800" y="3904488"/>
            <a:ext cx="475488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5528" y="3986784"/>
            <a:ext cx="45354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flou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440680" y="3904488"/>
            <a:ext cx="621792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50408" y="3986784"/>
            <a:ext cx="59984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Retard, réclamation, dossier bloqué, risque qualité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85800" y="452628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5528" y="4608576"/>
            <a:ext cx="45354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 émotionnel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5440680" y="4526280"/>
            <a:ext cx="6217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50408" y="4608576"/>
            <a:ext cx="59984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Formulation factuelle et professionnelle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685800" y="5148072"/>
            <a:ext cx="475488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" y="5230368"/>
            <a:ext cx="453542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attendue vague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440680" y="5148072"/>
            <a:ext cx="621792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50408" y="5230368"/>
            <a:ext cx="5998464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Demander une validation, un statut ou une action précise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822960" y="59436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diagnostic précède la réécriture : on corrige d’abord le fond, puis la forme.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Mini-atelier 4 : écrire un message complet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777240" y="1737360"/>
            <a:ext cx="10652760" cy="1280160"/>
          </a:xfrm>
          <a:prstGeom prst="roundRect">
            <a:avLst>
              <a:gd name="adj" fmla="val 2857"/>
            </a:avLst>
          </a:prstGeom>
          <a:solidFill>
            <a:srgbClr val="EA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1993392"/>
            <a:ext cx="10104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 constate qu’une même erreur apparaît dans plusieurs dossiers traités par différentes personnes. Le client n’est pas encore informé. Il faut demander une vérification interne avant toute réponse externe.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produire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960120" y="3794760"/>
            <a:ext cx="10058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du message.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À, CC, éventuellement CCI.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Corps du message en 4 à 7 lignes avec espaces.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mention claire de l’action attendue.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signature correcte.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17320" y="58978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Méthodes à mobiliser : IDEA + RACI + FIAB + PLACE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Grille de vérification avant envoi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" y="13898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98448" y="137160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L’intention du message est claire : I.D.E.A.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14400" y="1956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98448" y="193852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bon destinataire est dans À.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14400" y="25237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98448" y="250545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CC sont justifiés et limités.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14400" y="3090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298448" y="3072384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L’objet annonce le sujet et l’action attendue.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14400" y="3657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298448" y="363931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message contient faits, impact, action faite et besoin.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914400" y="42245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298448" y="4206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paragraphes sont courts et espacés.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14400" y="47914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298448" y="47731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PJ sont annoncées, vérifiées et autorisées.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14400" y="53583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298448" y="53400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ton est professionnel et respectueux.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005840" y="60807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une case importante n’est pas cochée, je corrige avant d’envoyer.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5B0D7-B3AB-767D-7C7C-5D9238AD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6D62FF-9A0E-7636-CA35-0D14E574D14C}"/>
              </a:ext>
            </a:extLst>
          </p:cNvPr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C13CC8-151F-DBE6-7BAF-2DA695021CF7}"/>
              </a:ext>
            </a:extLst>
          </p:cNvPr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143697-4174-A7CD-B0AD-3975ECC71293}"/>
              </a:ext>
            </a:extLst>
          </p:cNvPr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13A32CB-530D-9DD4-D0C2-7C0DF527B33A}"/>
              </a:ext>
            </a:extLst>
          </p:cNvPr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3731D1-5251-15F7-06D7-BF3B72CC5327}"/>
              </a:ext>
            </a:extLst>
          </p:cNvPr>
          <p:cNvSpPr txBox="1"/>
          <p:nvPr/>
        </p:nvSpPr>
        <p:spPr>
          <a:xfrm>
            <a:off x="600259" y="267013"/>
            <a:ext cx="9349986" cy="9541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indent="0">
              <a:buNone/>
              <a:defRPr sz="2800" b="1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r>
              <a:rPr lang="fr-MA" dirty="0"/>
              <a:t>Méthode V.I.S.A. : dernière vérification avant l’envoi</a:t>
            </a:r>
            <a:endParaRPr lang="fr-FR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AFB06F91-B422-F51F-3131-CB1C4EAF4EFE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45D97226-3B80-DC37-D888-CD91B7D82BE2}"/>
              </a:ext>
            </a:extLst>
          </p:cNvPr>
          <p:cNvSpPr/>
          <p:nvPr/>
        </p:nvSpPr>
        <p:spPr>
          <a:xfrm>
            <a:off x="472440" y="73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57B237AC-E96F-026F-D032-F800568E7A1C}"/>
              </a:ext>
            </a:extLst>
          </p:cNvPr>
          <p:cNvSpPr/>
          <p:nvPr/>
        </p:nvSpPr>
        <p:spPr>
          <a:xfrm>
            <a:off x="1981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DFE90084-54A3-9249-C400-93CCA69E81F6}"/>
              </a:ext>
            </a:extLst>
          </p:cNvPr>
          <p:cNvSpPr/>
          <p:nvPr/>
        </p:nvSpPr>
        <p:spPr>
          <a:xfrm>
            <a:off x="11719560" y="640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68281343-E50E-3D9D-1781-FC412E38BFCD}"/>
              </a:ext>
            </a:extLst>
          </p:cNvPr>
          <p:cNvSpPr/>
          <p:nvPr/>
        </p:nvSpPr>
        <p:spPr>
          <a:xfrm>
            <a:off x="472440" y="120464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D32821-240F-A2DB-8C6A-AF17C80C2CF5}"/>
              </a:ext>
            </a:extLst>
          </p:cNvPr>
          <p:cNvSpPr txBox="1"/>
          <p:nvPr/>
        </p:nvSpPr>
        <p:spPr>
          <a:xfrm>
            <a:off x="320040" y="1414981"/>
            <a:ext cx="8764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Avant d’envoyer un message professionnel, je fais un dernier contrôle avec </a:t>
            </a:r>
            <a:r>
              <a:rPr lang="fr-MA" b="1" dirty="0">
                <a:solidFill>
                  <a:srgbClr val="C00000"/>
                </a:solidFill>
              </a:rPr>
              <a:t>VISA</a:t>
            </a:r>
            <a:r>
              <a:rPr lang="fr-MA" dirty="0"/>
              <a:t> :</a:t>
            </a:r>
            <a:endParaRPr lang="fr-FR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97F51B5-DE5A-C15C-9D81-395AF3378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006717"/>
              </p:ext>
            </p:extLst>
          </p:nvPr>
        </p:nvGraphicFramePr>
        <p:xfrm>
          <a:off x="815340" y="2129319"/>
          <a:ext cx="10515600" cy="2926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61043">
                  <a:extLst>
                    <a:ext uri="{9D8B030D-6E8A-4147-A177-3AD203B41FA5}">
                      <a16:colId xmlns:a16="http://schemas.microsoft.com/office/drawing/2014/main" val="1478765039"/>
                    </a:ext>
                  </a:extLst>
                </a:gridCol>
                <a:gridCol w="4100052">
                  <a:extLst>
                    <a:ext uri="{9D8B030D-6E8A-4147-A177-3AD203B41FA5}">
                      <a16:colId xmlns:a16="http://schemas.microsoft.com/office/drawing/2014/main" val="228241484"/>
                    </a:ext>
                  </a:extLst>
                </a:gridCol>
                <a:gridCol w="4454505">
                  <a:extLst>
                    <a:ext uri="{9D8B030D-6E8A-4147-A177-3AD203B41FA5}">
                      <a16:colId xmlns:a16="http://schemas.microsoft.com/office/drawing/2014/main" val="3107693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/>
                        <a:t>Lettre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/>
                        <a:t>Signification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dirty="0"/>
                        <a:t>Question à se poser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b="1" dirty="0">
                          <a:solidFill>
                            <a:srgbClr val="C00000"/>
                          </a:solidFill>
                        </a:rPr>
                        <a:t>V</a:t>
                      </a:r>
                      <a:endParaRPr lang="fr-MA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dirty="0"/>
                        <a:t>Vérifier les destinataires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dirty="0"/>
                        <a:t>Ai-je mis la bonne personne dans À, CC ou CCI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972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b="1" dirty="0">
                          <a:solidFill>
                            <a:srgbClr val="C00000"/>
                          </a:solidFill>
                        </a:rPr>
                        <a:t>I</a:t>
                      </a:r>
                      <a:endParaRPr lang="fr-MA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/>
                        <a:t>Inspecter l’objet et les pièces jointes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/>
                        <a:t>L’objet est-il clair ? La pièce jointe est-elle bien ajoutée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761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b="1" dirty="0">
                          <a:solidFill>
                            <a:srgbClr val="C00000"/>
                          </a:solidFill>
                        </a:rPr>
                        <a:t>S</a:t>
                      </a:r>
                      <a:endParaRPr lang="fr-MA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/>
                        <a:t>Soigner la forme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/>
                        <a:t>Le message est-il lisible : espaces, paragraphes, alignement, indentation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55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b="1" dirty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fr-MA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/>
                        <a:t>Adapter le 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MA" dirty="0"/>
                        <a:t>Le ton est-il professionnel, respectueux et orienté action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58928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08A0E63C-6758-32D0-3A67-03307BA1D9F5}"/>
              </a:ext>
            </a:extLst>
          </p:cNvPr>
          <p:cNvSpPr txBox="1"/>
          <p:nvPr/>
        </p:nvSpPr>
        <p:spPr>
          <a:xfrm>
            <a:off x="1005840" y="5237853"/>
            <a:ext cx="1051560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indent="0" algn="ctr">
              <a:buNone/>
              <a:defRPr sz="2400" b="1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r>
              <a:rPr lang="fr-MA" dirty="0"/>
              <a:t>VISA est le contrôle final : il évite les erreurs simples avant de cliquer sur “Envoyer”.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7389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78180-C155-F414-4146-60938D9C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8F573CC-86A9-1581-763E-7D7510624AE5}"/>
              </a:ext>
            </a:extLst>
          </p:cNvPr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A3E3CF-C2B1-AE80-03DF-D3F83D65B619}"/>
              </a:ext>
            </a:extLst>
          </p:cNvPr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E8733C-D3E3-52A8-BD31-C5036A22F298}"/>
              </a:ext>
            </a:extLst>
          </p:cNvPr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22E1B4-3511-1DFD-8AFD-A4C5AEF202D2}"/>
              </a:ext>
            </a:extLst>
          </p:cNvPr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DF9851-AA33-62C4-BEEA-1E5E8A152B83}"/>
              </a:ext>
            </a:extLst>
          </p:cNvPr>
          <p:cNvSpPr txBox="1"/>
          <p:nvPr/>
        </p:nvSpPr>
        <p:spPr>
          <a:xfrm>
            <a:off x="600259" y="267013"/>
            <a:ext cx="9349986" cy="9541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indent="0">
              <a:buNone/>
              <a:defRPr sz="2800" b="1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r>
              <a:rPr lang="fr-MA" dirty="0"/>
              <a:t>Mini-atelier</a:t>
            </a:r>
            <a:endParaRPr lang="fr-FR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038604BF-1F1F-7AF7-7397-4666F2C53F5C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AC03D548-F1E5-CEB6-B1FA-5633BF923561}"/>
              </a:ext>
            </a:extLst>
          </p:cNvPr>
          <p:cNvSpPr/>
          <p:nvPr/>
        </p:nvSpPr>
        <p:spPr>
          <a:xfrm>
            <a:off x="472440" y="73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4C6CCD3D-24B3-2075-7F28-54F6EA6FBF6A}"/>
              </a:ext>
            </a:extLst>
          </p:cNvPr>
          <p:cNvSpPr/>
          <p:nvPr/>
        </p:nvSpPr>
        <p:spPr>
          <a:xfrm>
            <a:off x="1981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4C1AC7B2-B009-3E6C-0BEF-20C308EC81B8}"/>
              </a:ext>
            </a:extLst>
          </p:cNvPr>
          <p:cNvSpPr/>
          <p:nvPr/>
        </p:nvSpPr>
        <p:spPr>
          <a:xfrm>
            <a:off x="11719560" y="640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408947C6-A77A-2855-79D6-E5383295B5D4}"/>
              </a:ext>
            </a:extLst>
          </p:cNvPr>
          <p:cNvSpPr/>
          <p:nvPr/>
        </p:nvSpPr>
        <p:spPr>
          <a:xfrm>
            <a:off x="472440" y="120464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EFFC6-97EE-B370-4104-4BA5C561AB7E}"/>
              </a:ext>
            </a:extLst>
          </p:cNvPr>
          <p:cNvSpPr txBox="1"/>
          <p:nvPr/>
        </p:nvSpPr>
        <p:spPr>
          <a:xfrm>
            <a:off x="600259" y="1377024"/>
            <a:ext cx="7216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Consigne : </a:t>
            </a:r>
            <a:r>
              <a:rPr lang="fr-MA" dirty="0"/>
              <a:t>Avant d’envoyer le message suivant, appliquez </a:t>
            </a:r>
            <a:r>
              <a:rPr lang="fr-MA" b="1" dirty="0"/>
              <a:t>VISA</a:t>
            </a:r>
            <a:r>
              <a:rPr lang="fr-MA" dirty="0"/>
              <a:t>.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F5B84-242E-887F-6A23-645B2B33BC2B}"/>
              </a:ext>
            </a:extLst>
          </p:cNvPr>
          <p:cNvSpPr txBox="1"/>
          <p:nvPr/>
        </p:nvSpPr>
        <p:spPr>
          <a:xfrm>
            <a:off x="690716" y="2231129"/>
            <a:ext cx="610091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MA" b="1" dirty="0"/>
              <a:t>Message :</a:t>
            </a:r>
            <a:br>
              <a:rPr lang="fr-MA" dirty="0"/>
            </a:br>
            <a:r>
              <a:rPr lang="fr-MA" dirty="0"/>
              <a:t>Bonjour,</a:t>
            </a:r>
            <a:br>
              <a:rPr lang="fr-MA" dirty="0"/>
            </a:br>
            <a:r>
              <a:rPr lang="fr-MA" dirty="0"/>
              <a:t>Veuillez trouver ci-joint le document demandé.</a:t>
            </a:r>
            <a:br>
              <a:rPr lang="fr-MA" dirty="0"/>
            </a:br>
            <a:r>
              <a:rPr lang="fr-MA" dirty="0"/>
              <a:t>Merci.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4508D-CBF9-8AFA-B600-AAB9A2C6FFB5}"/>
              </a:ext>
            </a:extLst>
          </p:cNvPr>
          <p:cNvSpPr txBox="1"/>
          <p:nvPr/>
        </p:nvSpPr>
        <p:spPr>
          <a:xfrm>
            <a:off x="1114240" y="3864266"/>
            <a:ext cx="61009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Questions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dirty="0"/>
              <a:t>À qui faut-il l’envoyer 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dirty="0"/>
              <a:t>Faut-il mettre quelqu’un en CC 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dirty="0"/>
              <a:t>L’objet est-il assez clair 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dirty="0"/>
              <a:t>La pièce jointe est-elle bien mentionnée 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MA" dirty="0"/>
              <a:t>Le message est-il assez précis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7094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ED959-D02C-7C45-B99B-F8FE5841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F0FD55E-2EB0-DA9E-EA16-4FE5F7AE97FC}"/>
              </a:ext>
            </a:extLst>
          </p:cNvPr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87EBD1-31D0-E053-D8E3-6B039291CE83}"/>
              </a:ext>
            </a:extLst>
          </p:cNvPr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91F169-B882-CE1E-8EE6-F3AD259815EC}"/>
              </a:ext>
            </a:extLst>
          </p:cNvPr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5275FE-A418-47F7-2915-B8FF83AA1E5D}"/>
              </a:ext>
            </a:extLst>
          </p:cNvPr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87AAED-20C7-49A1-3F36-7BDE92C6359A}"/>
              </a:ext>
            </a:extLst>
          </p:cNvPr>
          <p:cNvSpPr txBox="1"/>
          <p:nvPr/>
        </p:nvSpPr>
        <p:spPr>
          <a:xfrm>
            <a:off x="600259" y="267013"/>
            <a:ext cx="9349986" cy="9541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indent="0">
              <a:buNone/>
              <a:defRPr sz="2800" b="1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r>
              <a:rPr lang="fr-MA" dirty="0"/>
              <a:t>Réponse possible :</a:t>
            </a:r>
            <a:endParaRPr lang="fr-FR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73A66E4B-FC9D-B7FF-B6F5-00F9FE018319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A4154673-581F-39D3-894E-DCEF90056884}"/>
              </a:ext>
            </a:extLst>
          </p:cNvPr>
          <p:cNvSpPr/>
          <p:nvPr/>
        </p:nvSpPr>
        <p:spPr>
          <a:xfrm>
            <a:off x="472440" y="73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3FA83122-8D60-EC21-AD97-AFFE7D6F12AD}"/>
              </a:ext>
            </a:extLst>
          </p:cNvPr>
          <p:cNvSpPr/>
          <p:nvPr/>
        </p:nvSpPr>
        <p:spPr>
          <a:xfrm>
            <a:off x="1981200" y="731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B02D041B-D07D-A1CF-025C-8F8041BBFA76}"/>
              </a:ext>
            </a:extLst>
          </p:cNvPr>
          <p:cNvSpPr/>
          <p:nvPr/>
        </p:nvSpPr>
        <p:spPr>
          <a:xfrm>
            <a:off x="11719560" y="640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1B37BC07-DBB0-DAA4-1B1B-7AED850C750D}"/>
              </a:ext>
            </a:extLst>
          </p:cNvPr>
          <p:cNvSpPr/>
          <p:nvPr/>
        </p:nvSpPr>
        <p:spPr>
          <a:xfrm>
            <a:off x="472440" y="120464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0D226-A25D-EF4E-4020-5EC250109927}"/>
              </a:ext>
            </a:extLst>
          </p:cNvPr>
          <p:cNvSpPr txBox="1"/>
          <p:nvPr/>
        </p:nvSpPr>
        <p:spPr>
          <a:xfrm>
            <a:off x="1158238" y="1691148"/>
            <a:ext cx="9067309" cy="42473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fr-MA" dirty="0"/>
              <a:t>Objet : Transmission du rapport de suivi – dossier [référence]</a:t>
            </a:r>
            <a:br>
              <a:rPr lang="fr-MA" dirty="0"/>
            </a:br>
            <a:r>
              <a:rPr lang="fr-MA" dirty="0"/>
              <a:t>À : Superviseur direct</a:t>
            </a:r>
            <a:br>
              <a:rPr lang="fr-MA" dirty="0"/>
            </a:br>
            <a:r>
              <a:rPr lang="fr-MA" dirty="0"/>
              <a:t>CC : Qualité, si concernée par le suivi</a:t>
            </a:r>
          </a:p>
          <a:p>
            <a:pPr>
              <a:buNone/>
            </a:pPr>
            <a:endParaRPr lang="fr-MA" dirty="0"/>
          </a:p>
          <a:p>
            <a:pPr>
              <a:buNone/>
            </a:pPr>
            <a:r>
              <a:rPr lang="fr-MA" dirty="0"/>
              <a:t>Bonjour,</a:t>
            </a:r>
            <a:br>
              <a:rPr lang="fr-MA" dirty="0"/>
            </a:br>
            <a:r>
              <a:rPr lang="fr-MA" dirty="0"/>
              <a:t>Veuillez trouver ci-joint le rapport de suivi relatif au dossier [référence].</a:t>
            </a:r>
          </a:p>
          <a:p>
            <a:pPr>
              <a:buNone/>
            </a:pPr>
            <a:br>
              <a:rPr lang="fr-MA" dirty="0"/>
            </a:br>
            <a:r>
              <a:rPr lang="fr-MA" dirty="0"/>
              <a:t>Le document présente les éléments vérifiés, les actions réalisées et les points restant à confirmer.</a:t>
            </a:r>
          </a:p>
          <a:p>
            <a:pPr>
              <a:buNone/>
            </a:pPr>
            <a:br>
              <a:rPr lang="fr-MA" dirty="0"/>
            </a:br>
            <a:r>
              <a:rPr lang="fr-MA" dirty="0"/>
              <a:t>Merci de me confirmer la bonne réception et de m’indiquer si une action complémentaire est nécessaire.</a:t>
            </a:r>
          </a:p>
          <a:p>
            <a:pPr>
              <a:buNone/>
            </a:pPr>
            <a:endParaRPr lang="fr-MA" dirty="0"/>
          </a:p>
          <a:p>
            <a:pPr>
              <a:buNone/>
            </a:pPr>
            <a:r>
              <a:rPr lang="fr-MA" dirty="0"/>
              <a:t>Bien cordialement,</a:t>
            </a:r>
            <a:br>
              <a:rPr lang="fr-MA" dirty="0"/>
            </a:br>
            <a:r>
              <a:rPr lang="fr-MA" dirty="0"/>
              <a:t>[Nom]</a:t>
            </a:r>
          </a:p>
        </p:txBody>
      </p:sp>
    </p:spTree>
    <p:extLst>
      <p:ext uri="{BB962C8B-B14F-4D97-AF65-F5344CB8AC3E}">
        <p14:creationId xmlns:p14="http://schemas.microsoft.com/office/powerpoint/2010/main" val="411185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: le réflexe complet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77240" y="182880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5F8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17320" y="2057400"/>
            <a:ext cx="640080" cy="6400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36776" y="224028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1440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je communique 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017520" y="182880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EA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0" y="2057400"/>
            <a:ext cx="640080" cy="6400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224028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15468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RACI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15468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agit, valide, consulte, est informé 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257800" y="182880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5F8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97880" y="2057400"/>
            <a:ext cx="640080" cy="6400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17336" y="224028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9496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39496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Quels faits, impact, action faite et besoin ?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498080" y="182880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EA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38160" y="2057400"/>
            <a:ext cx="640080" cy="6400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57616" y="224028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63524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63524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message est-il lisible et bien positionné ?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738360" y="182880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5F8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378440" y="2057400"/>
            <a:ext cx="640080" cy="6400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597896" y="224028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87552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9875520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clair, PJ vérifiée, ton professionnel.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14400" y="4800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bon message interne est clair dans son intention, juste dans ses destinataires et lisible dans sa forme.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1005840" y="5760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D7D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clôture : quel composant de mes messages dois-je améliorer en premier ?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Séance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2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731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201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vers la séance suivante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201400" cy="0"/>
          </a:xfrm>
          <a:prstGeom prst="line">
            <a:avLst/>
          </a:prstGeom>
          <a:noFill/>
          <a:ln w="12700">
            <a:solidFill>
              <a:srgbClr val="4472C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56539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6565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Youssef Joul – Formateur en Entreprise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1508760"/>
            <a:ext cx="1051560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1636776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47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nous avons pratiqué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87552" y="1993392"/>
            <a:ext cx="101864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Symboles du message, destinataires, objet, PJ, espaces, alignement, retraits, formulation et relecture avant envoi.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2960" y="2971800"/>
            <a:ext cx="1051560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099816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AD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Prochaine étape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87552" y="3456432"/>
            <a:ext cx="101864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Appliquer cette écriture aux emails professionnels, rapports internes, suivis et messages d’escalade.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144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914400" y="5074920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message n’est pas seulement un texte : c’est un outil de coordination, de traçabilité et de qualité de service.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4075</Words>
  <Application>Microsoft Office PowerPoint</Application>
  <PresentationFormat>Widescreen</PresentationFormat>
  <Paragraphs>634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Formation interne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3 - Formulation d’un message professionnel interne</dc:title>
  <dc:subject>Séance 3 - Communication interne professionnelle</dc:subject>
  <dc:creator>Youssef Joul</dc:creator>
  <cp:lastModifiedBy>Youssef Joul</cp:lastModifiedBy>
  <cp:revision>4</cp:revision>
  <dcterms:created xsi:type="dcterms:W3CDTF">2026-06-01T21:50:33Z</dcterms:created>
  <dcterms:modified xsi:type="dcterms:W3CDTF">2026-06-06T19:59:24Z</dcterms:modified>
</cp:coreProperties>
</file>